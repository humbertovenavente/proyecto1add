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slides/charts/chart3.xml" ContentType="application/vnd.openxmlformats-officedocument.drawingml.chart+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slides/charts/chart4.xml" ContentType="application/vnd.openxmlformats-officedocument.drawingml.chart+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slides/charts/chart5.xml" ContentType="application/vnd.openxmlformats-officedocument.drawingml.chart+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slides/charts/chart6.xml" ContentType="application/vnd.openxmlformats-officedocument.drawingml.chart+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slides/charts/chart7.xml" ContentType="application/vnd.openxmlformats-officedocument.drawingml.chart+xml"/>
  <Override PartName="/ppt/notesSlides/notesSlide70.xml" ContentType="application/vnd.openxmlformats-officedocument.presentationml.notesSlide+xml"/>
  <Override PartName="/ppt/slides/slide71.xml" ContentType="application/vnd.openxmlformats-officedocument.presentationml.slide+xml"/>
  <Override PartName="/ppt/slides/charts/chart8.xml" ContentType="application/vnd.openxmlformats-officedocument.drawingml.chart+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slides/charts/chart9.xml" ContentType="application/vnd.openxmlformats-officedocument.drawingml.chart+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Default Extension="xlsx" ContentType="application/vnd.openxmlformats-officedocument.spreadsheetml.sheet"/>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584b88a1784117" /><Relationship Type="http://schemas.openxmlformats.org/officeDocument/2006/relationships/extended-properties" Target="/docProps/app.xml" Id="Rf0354bf9ee454c7e" /><Relationship Type="http://schemas.openxmlformats.org/officeDocument/2006/relationships/officeDocument" Target="/ppt/presentation.xml" Id="Rbbe2cee61cbd4fc2" /></Relationships>
</file>

<file path=ppt/presentation.xml><?xml version="1.0" encoding="utf-8"?>
<p:presentation xmlns:p="http://schemas.openxmlformats.org/presentationml/2006/main">
  <p:sldMasterIdLst>
    <p:sldMasterId xmlns:r="http://schemas.openxmlformats.org/officeDocument/2006/relationships" id="2147483648" r:id="R0ed09a2c37ec4e9e"/>
  </p:sldMasterIdLst>
  <p:notesMasterIdLst>
    <p:notesMasterId xmlns:r="http://schemas.openxmlformats.org/officeDocument/2006/relationships" r:id="Rc5df613deefd42bc"/>
  </p:notesMasterIdLst>
  <p:sldIdLst>
    <p:sldId xmlns:r="http://schemas.openxmlformats.org/officeDocument/2006/relationships" id="256" r:id="Rce6d278ba46d4fd1"/>
    <p:sldId xmlns:r="http://schemas.openxmlformats.org/officeDocument/2006/relationships" id="257" r:id="R3731af0e3be94810"/>
    <p:sldId xmlns:r="http://schemas.openxmlformats.org/officeDocument/2006/relationships" id="258" r:id="Rd879561cae4f48bb"/>
    <p:sldId xmlns:r="http://schemas.openxmlformats.org/officeDocument/2006/relationships" id="259" r:id="Rd98f89c70edd468f"/>
    <p:sldId xmlns:r="http://schemas.openxmlformats.org/officeDocument/2006/relationships" id="260" r:id="R53ba800ce87d41ed"/>
    <p:sldId xmlns:r="http://schemas.openxmlformats.org/officeDocument/2006/relationships" id="400" r:id="Rchart00pre"/>
    <p:sldId xmlns:r="http://schemas.openxmlformats.org/officeDocument/2006/relationships" id="401" r:id="Rchart01pre"/>
    <p:sldId xmlns:r="http://schemas.openxmlformats.org/officeDocument/2006/relationships" id="261" r:id="Rc70b4452faae43fd"/>
    <p:sldId xmlns:r="http://schemas.openxmlformats.org/officeDocument/2006/relationships" id="262" r:id="R04095eddd9664b28"/>
    <p:sldId xmlns:r="http://schemas.openxmlformats.org/officeDocument/2006/relationships" id="263" r:id="Rbb0e5cb13cb641fe"/>
    <p:sldId xmlns:r="http://schemas.openxmlformats.org/officeDocument/2006/relationships" id="264" r:id="R04ae940d08334ffa"/>
    <p:sldId xmlns:r="http://schemas.openxmlformats.org/officeDocument/2006/relationships" id="265" r:id="R9b2b819230cb4e06"/>
    <p:sldId xmlns:r="http://schemas.openxmlformats.org/officeDocument/2006/relationships" id="266" r:id="Raacc7955ecd64d00"/>
    <p:sldId xmlns:r="http://schemas.openxmlformats.org/officeDocument/2006/relationships" id="267" r:id="R25882275f072402c"/>
    <p:sldId xmlns:r="http://schemas.openxmlformats.org/officeDocument/2006/relationships" id="268" r:id="Rfea28a977f52422c"/>
    <p:sldId xmlns:r="http://schemas.openxmlformats.org/officeDocument/2006/relationships" id="269" r:id="R57ece062cf16403d"/>
    <p:sldId xmlns:r="http://schemas.openxmlformats.org/officeDocument/2006/relationships" id="270" r:id="Rb172316d9f504e36"/>
    <p:sldId xmlns:r="http://schemas.openxmlformats.org/officeDocument/2006/relationships" id="271" r:id="R8dfc93f956fe47cc"/>
    <p:sldId xmlns:r="http://schemas.openxmlformats.org/officeDocument/2006/relationships" id="272" r:id="R08cc575506524571"/>
    <p:sldId xmlns:r="http://schemas.openxmlformats.org/officeDocument/2006/relationships" id="273" r:id="R42493af9c92342b7"/>
    <p:sldId xmlns:r="http://schemas.openxmlformats.org/officeDocument/2006/relationships" id="274" r:id="R6b865825f46241aa"/>
    <p:sldId xmlns:r="http://schemas.openxmlformats.org/officeDocument/2006/relationships" id="275" r:id="R44ab4d0f8f684821"/>
    <p:sldId xmlns:r="http://schemas.openxmlformats.org/officeDocument/2006/relationships" id="276" r:id="R0def78ef7595415e"/>
    <p:sldId xmlns:r="http://schemas.openxmlformats.org/officeDocument/2006/relationships" id="277" r:id="R55ee908aa7314e06"/>
    <p:sldId xmlns:r="http://schemas.openxmlformats.org/officeDocument/2006/relationships" id="278" r:id="R0b7ccd9e6f76475d"/>
    <p:sldId xmlns:r="http://schemas.openxmlformats.org/officeDocument/2006/relationships" id="279" r:id="Rb5336fa2a8fd4f6e"/>
    <p:sldId xmlns:r="http://schemas.openxmlformats.org/officeDocument/2006/relationships" id="280" r:id="R47c8136adfd44152"/>
    <p:sldId xmlns:r="http://schemas.openxmlformats.org/officeDocument/2006/relationships" id="281" r:id="R2b3ec45cdfd94528"/>
    <p:sldId xmlns:r="http://schemas.openxmlformats.org/officeDocument/2006/relationships" id="282" r:id="Rab80b8c1eeb443e8"/>
    <p:sldId xmlns:r="http://schemas.openxmlformats.org/officeDocument/2006/relationships" id="283" r:id="R62d3e4644d314e1f"/>
    <p:sldId xmlns:r="http://schemas.openxmlformats.org/officeDocument/2006/relationships" id="284" r:id="R4843339562a14619"/>
    <p:sldId xmlns:r="http://schemas.openxmlformats.org/officeDocument/2006/relationships" id="285" r:id="Rb7c571045e734d41"/>
    <p:sldId xmlns:r="http://schemas.openxmlformats.org/officeDocument/2006/relationships" id="286" r:id="R19b8dc8163fa4ff9"/>
    <p:sldId xmlns:r="http://schemas.openxmlformats.org/officeDocument/2006/relationships" id="287" r:id="Rc499fb20ef394d1e"/>
    <p:sldId xmlns:r="http://schemas.openxmlformats.org/officeDocument/2006/relationships" id="288" r:id="R2887f02683e142fc"/>
    <p:sldId xmlns:r="http://schemas.openxmlformats.org/officeDocument/2006/relationships" id="289" r:id="Rc295a0dd64c44b03"/>
    <p:sldId xmlns:r="http://schemas.openxmlformats.org/officeDocument/2006/relationships" id="290" r:id="Rcdf8de99d1664697"/>
    <p:sldId xmlns:r="http://schemas.openxmlformats.org/officeDocument/2006/relationships" id="291" r:id="Ra834a213448b4e50"/>
    <p:sldId xmlns:r="http://schemas.openxmlformats.org/officeDocument/2006/relationships" id="292" r:id="R986fafe1f978481f"/>
    <p:sldId xmlns:r="http://schemas.openxmlformats.org/officeDocument/2006/relationships" id="293" r:id="R2ca098fc920c4bae"/>
    <p:sldId xmlns:r="http://schemas.openxmlformats.org/officeDocument/2006/relationships" id="294" r:id="R19718a7cc15f4e4e"/>
    <p:sldId xmlns:r="http://schemas.openxmlformats.org/officeDocument/2006/relationships" id="295" r:id="R9c44c93cee6f4831"/>
    <p:sldId xmlns:r="http://schemas.openxmlformats.org/officeDocument/2006/relationships" id="296" r:id="Re90c7e6bdc8e445b"/>
    <p:sldId xmlns:r="http://schemas.openxmlformats.org/officeDocument/2006/relationships" id="297" r:id="Rdd3c0a7dabd0433f"/>
    <p:sldId xmlns:r="http://schemas.openxmlformats.org/officeDocument/2006/relationships" id="298" r:id="R9048e906e9dc41ed"/>
    <p:sldId xmlns:r="http://schemas.openxmlformats.org/officeDocument/2006/relationships" id="299" r:id="Rb299e8a32edd4d62"/>
    <p:sldId xmlns:r="http://schemas.openxmlformats.org/officeDocument/2006/relationships" id="300" r:id="R00864a7c68aa4522"/>
    <p:sldId xmlns:r="http://schemas.openxmlformats.org/officeDocument/2006/relationships" id="301" r:id="R3b08fafd410a4b4a"/>
    <p:sldId xmlns:r="http://schemas.openxmlformats.org/officeDocument/2006/relationships" id="302" r:id="Rf42b17a4e0d84671"/>
    <p:sldId xmlns:r="http://schemas.openxmlformats.org/officeDocument/2006/relationships" id="303" r:id="R0d66ec4b43984266"/>
    <p:sldId xmlns:r="http://schemas.openxmlformats.org/officeDocument/2006/relationships" id="304" r:id="R19d5820c30164e8f"/>
    <p:sldId xmlns:r="http://schemas.openxmlformats.org/officeDocument/2006/relationships" id="305" r:id="R38449469181c4335"/>
    <p:sldId xmlns:r="http://schemas.openxmlformats.org/officeDocument/2006/relationships" id="306" r:id="R2dc383185f284320"/>
    <p:sldId xmlns:r="http://schemas.openxmlformats.org/officeDocument/2006/relationships" id="307" r:id="R6fd0366a565544e0"/>
    <p:sldId xmlns:r="http://schemas.openxmlformats.org/officeDocument/2006/relationships" id="308" r:id="R4447770b00294dc6"/>
    <p:sldId xmlns:r="http://schemas.openxmlformats.org/officeDocument/2006/relationships" id="309" r:id="R7285e32355a64dc9"/>
    <p:sldId xmlns:r="http://schemas.openxmlformats.org/officeDocument/2006/relationships" id="310" r:id="R6fd8e5c7f4dd4c78"/>
    <p:sldId xmlns:r="http://schemas.openxmlformats.org/officeDocument/2006/relationships" id="311" r:id="R91bc6d7425af4214"/>
    <p:sldId xmlns:r="http://schemas.openxmlformats.org/officeDocument/2006/relationships" id="312" r:id="R0e483be2cfea454c"/>
    <p:sldId xmlns:r="http://schemas.openxmlformats.org/officeDocument/2006/relationships" id="313" r:id="R4d15adb8092641ff"/>
    <p:sldId xmlns:r="http://schemas.openxmlformats.org/officeDocument/2006/relationships" id="314" r:id="R622b0e2da24541ec"/>
    <p:sldId xmlns:r="http://schemas.openxmlformats.org/officeDocument/2006/relationships" id="315" r:id="Rab894fa462ad4d9b"/>
    <p:sldId xmlns:r="http://schemas.openxmlformats.org/officeDocument/2006/relationships" id="316" r:id="R04fc5afa0b3a4501"/>
    <p:sldId xmlns:r="http://schemas.openxmlformats.org/officeDocument/2006/relationships" id="317" r:id="R3e53170c29164562"/>
    <p:sldId xmlns:r="http://schemas.openxmlformats.org/officeDocument/2006/relationships" id="318" r:id="Rd160f1bf53094c08"/>
    <p:sldId xmlns:r="http://schemas.openxmlformats.org/officeDocument/2006/relationships" id="319" r:id="R29d466bcc034468e"/>
    <p:sldId xmlns:r="http://schemas.openxmlformats.org/officeDocument/2006/relationships" id="320" r:id="R9ad5a0fe174b4bde"/>
    <p:sldId xmlns:r="http://schemas.openxmlformats.org/officeDocument/2006/relationships" id="321" r:id="R6774976476514ab6"/>
    <p:sldId xmlns:r="http://schemas.openxmlformats.org/officeDocument/2006/relationships" id="322" r:id="R0ee868faec794257"/>
    <p:sldId xmlns:r="http://schemas.openxmlformats.org/officeDocument/2006/relationships" id="323" r:id="Rb6dc813c42c24ecc"/>
    <p:sldId xmlns:r="http://schemas.openxmlformats.org/officeDocument/2006/relationships" id="324" r:id="R3e327f577c4c48ab"/>
    <p:sldId xmlns:r="http://schemas.openxmlformats.org/officeDocument/2006/relationships" id="325" r:id="Rcb9f90b1940c4e5e"/>
    <p:sldId xmlns:r="http://schemas.openxmlformats.org/officeDocument/2006/relationships" id="326" r:id="R0e27b1e81808439a"/>
    <p:sldId xmlns:r="http://schemas.openxmlformats.org/officeDocument/2006/relationships" id="327" r:id="R23597fdf6f8442d1"/>
    <p:sldId xmlns:r="http://schemas.openxmlformats.org/officeDocument/2006/relationships" id="328" r:id="R5dae5b8aa2d04c50"/>
    <p:sldId xmlns:r="http://schemas.openxmlformats.org/officeDocument/2006/relationships" id="329" r:id="Raaf4592be27c4001"/>
    <p:sldId xmlns:r="http://schemas.openxmlformats.org/officeDocument/2006/relationships" id="330" r:id="R7587b9ef4b2248a6"/>
    <p:sldId xmlns:r="http://schemas.openxmlformats.org/officeDocument/2006/relationships" id="331" r:id="Rcb25b23a753f456f"/>
    <p:sldId xmlns:r="http://schemas.openxmlformats.org/officeDocument/2006/relationships" id="332" r:id="R55282f2eab0e412a"/>
    <p:sldId xmlns:r="http://schemas.openxmlformats.org/officeDocument/2006/relationships" id="333" r:id="Rbfdb616b08d743d1"/>
    <p:sldId xmlns:r="http://schemas.openxmlformats.org/officeDocument/2006/relationships" id="334" r:id="Rd4b678c93c6f4a79"/>
    <p:sldId xmlns:r="http://schemas.openxmlformats.org/officeDocument/2006/relationships" id="335" r:id="R7ef1966bb61c4ac7"/>
    <p:sldId xmlns:r="http://schemas.openxmlformats.org/officeDocument/2006/relationships" id="336" r:id="Rc9b12c25c79242e7"/>
    <p:sldId xmlns:r="http://schemas.openxmlformats.org/officeDocument/2006/relationships" id="337" r:id="Rfd6ba4d77f164bca"/>
    <p:sldId xmlns:r="http://schemas.openxmlformats.org/officeDocument/2006/relationships" id="338" r:id="R45c4d21a7bbc469e"/>
    <p:sldId xmlns:r="http://schemas.openxmlformats.org/officeDocument/2006/relationships" id="339" r:id="Rf19ac0f03ea84bb8"/>
    <p:sldId xmlns:r="http://schemas.openxmlformats.org/officeDocument/2006/relationships" id="340" r:id="R2d346924b7d14cd0"/>
    <p:sldId xmlns:r="http://schemas.openxmlformats.org/officeDocument/2006/relationships" id="341" r:id="Rae12171e5fd545ee"/>
    <p:sldId xmlns:r="http://schemas.openxmlformats.org/officeDocument/2006/relationships" id="342" r:id="Rfae63418715e4642"/>
    <p:sldId xmlns:r="http://schemas.openxmlformats.org/officeDocument/2006/relationships" id="343" r:id="Rf5f32ace0a9e46e3"/>
    <p:sldId xmlns:r="http://schemas.openxmlformats.org/officeDocument/2006/relationships" id="344" r:id="Rb0dbd97670584bf3"/>
    <p:sldId xmlns:r="http://schemas.openxmlformats.org/officeDocument/2006/relationships" id="345" r:id="R3422464283ee447d"/>
    <p:sldId xmlns:r="http://schemas.openxmlformats.org/officeDocument/2006/relationships" id="346" r:id="R15315d4c9775464d"/>
    <p:sldId xmlns:r="http://schemas.openxmlformats.org/officeDocument/2006/relationships" id="347" r:id="R239105faadd74a3a"/>
    <p:sldId xmlns:r="http://schemas.openxmlformats.org/officeDocument/2006/relationships" id="348" r:id="R19519037676443ba"/>
    <p:sldId xmlns:r="http://schemas.openxmlformats.org/officeDocument/2006/relationships" id="349" r:id="Rad386f301fdb47c8"/>
    <p:sldId xmlns:r="http://schemas.openxmlformats.org/officeDocument/2006/relationships" id="350" r:id="R1723a5291ead4d84"/>
    <p:sldId xmlns:r="http://schemas.openxmlformats.org/officeDocument/2006/relationships" id="351" r:id="Rebe2bee8d6a84c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2b142e217b44af" /><Relationship Type="http://schemas.openxmlformats.org/officeDocument/2006/relationships/slideMaster" Target="/ppt/slideMasters/slideMaster1.xml" Id="R0ed09a2c37ec4e9e" /><Relationship Type="http://schemas.openxmlformats.org/officeDocument/2006/relationships/notesMaster" Target="/ppt/notesMasters/notesMaster1.xml" Id="Rc5df613deefd42bc" /><Relationship Type="http://schemas.openxmlformats.org/officeDocument/2006/relationships/presProps" Target="/ppt/presProps.xml" Id="R21f23d273fea4e63" /><Relationship Type="http://schemas.openxmlformats.org/officeDocument/2006/relationships/tableStyles" Target="/ppt/tableStyles.xml" Id="R127a1f9117954c3c" /><Relationship Type="http://schemas.openxmlformats.org/officeDocument/2006/relationships/slide" Target="/ppt/slides/slide1.xml" Id="Rce6d278ba46d4fd1" /><Relationship Type="http://schemas.openxmlformats.org/officeDocument/2006/relationships/slide" Target="/ppt/slides/slide2.xml" Id="R3731af0e3be94810" /><Relationship Type="http://schemas.openxmlformats.org/officeDocument/2006/relationships/slide" Target="/ppt/slides/slide3.xml" Id="Rd879561cae4f48bb" /><Relationship Type="http://schemas.openxmlformats.org/officeDocument/2006/relationships/slide" Target="/ppt/slides/slide4.xml" Id="Rd98f89c70edd468f" /><Relationship Type="http://schemas.openxmlformats.org/officeDocument/2006/relationships/slide" Target="/ppt/slides/slide5.xml" Id="R53ba800ce87d41ed" /><Relationship Type="http://schemas.openxmlformats.org/officeDocument/2006/relationships/slide" Target="/ppt/slides/slide6.xml" Id="Rc70b4452faae43fd" /><Relationship Type="http://schemas.openxmlformats.org/officeDocument/2006/relationships/slide" Target="/ppt/slides/slide7.xml" Id="R04095eddd9664b28" /><Relationship Type="http://schemas.openxmlformats.org/officeDocument/2006/relationships/slide" Target="/ppt/slides/slide8.xml" Id="Rbb0e5cb13cb641fe" /><Relationship Type="http://schemas.openxmlformats.org/officeDocument/2006/relationships/slide" Target="/ppt/slides/slide9.xml" Id="R04ae940d08334ffa" /><Relationship Type="http://schemas.openxmlformats.org/officeDocument/2006/relationships/slide" Target="/ppt/slides/slide10.xml" Id="R9b2b819230cb4e06" /><Relationship Type="http://schemas.openxmlformats.org/officeDocument/2006/relationships/slide" Target="/ppt/slides/slide11.xml" Id="Raacc7955ecd64d00" /><Relationship Type="http://schemas.openxmlformats.org/officeDocument/2006/relationships/slide" Target="/ppt/slides/slide12.xml" Id="R25882275f072402c" /><Relationship Type="http://schemas.openxmlformats.org/officeDocument/2006/relationships/slide" Target="/ppt/slides/slide13.xml" Id="Rfea28a977f52422c" /><Relationship Type="http://schemas.openxmlformats.org/officeDocument/2006/relationships/slide" Target="/ppt/slides/slide14.xml" Id="R57ece062cf16403d" /><Relationship Type="http://schemas.openxmlformats.org/officeDocument/2006/relationships/slide" Target="/ppt/slides/slide15.xml" Id="Rb172316d9f504e36" /><Relationship Type="http://schemas.openxmlformats.org/officeDocument/2006/relationships/slide" Target="/ppt/slides/slide16.xml" Id="R8dfc93f956fe47cc" /><Relationship Type="http://schemas.openxmlformats.org/officeDocument/2006/relationships/slide" Target="/ppt/slides/slide17.xml" Id="R08cc575506524571" /><Relationship Type="http://schemas.openxmlformats.org/officeDocument/2006/relationships/slide" Target="/ppt/slides/slide18.xml" Id="R42493af9c92342b7" /><Relationship Type="http://schemas.openxmlformats.org/officeDocument/2006/relationships/slide" Target="/ppt/slides/slide19.xml" Id="R6b865825f46241aa" /><Relationship Type="http://schemas.openxmlformats.org/officeDocument/2006/relationships/slide" Target="/ppt/slides/slide20.xml" Id="R44ab4d0f8f684821" /><Relationship Type="http://schemas.openxmlformats.org/officeDocument/2006/relationships/slide" Target="/ppt/slides/slide21.xml" Id="R0def78ef7595415e" /><Relationship Type="http://schemas.openxmlformats.org/officeDocument/2006/relationships/slide" Target="/ppt/slides/slide22.xml" Id="R55ee908aa7314e06" /><Relationship Type="http://schemas.openxmlformats.org/officeDocument/2006/relationships/slide" Target="/ppt/slides/slide23.xml" Id="R0b7ccd9e6f76475d" /><Relationship Type="http://schemas.openxmlformats.org/officeDocument/2006/relationships/slide" Target="/ppt/slides/slide24.xml" Id="Rb5336fa2a8fd4f6e" /><Relationship Type="http://schemas.openxmlformats.org/officeDocument/2006/relationships/slide" Target="/ppt/slides/slide25.xml" Id="R47c8136adfd44152" /><Relationship Type="http://schemas.openxmlformats.org/officeDocument/2006/relationships/slide" Target="/ppt/slides/slide26.xml" Id="R2b3ec45cdfd94528" /><Relationship Type="http://schemas.openxmlformats.org/officeDocument/2006/relationships/slide" Target="/ppt/slides/slide27.xml" Id="Rab80b8c1eeb443e8" /><Relationship Type="http://schemas.openxmlformats.org/officeDocument/2006/relationships/slide" Target="/ppt/slides/slide28.xml" Id="R62d3e4644d314e1f" /><Relationship Type="http://schemas.openxmlformats.org/officeDocument/2006/relationships/slide" Target="/ppt/slides/slide29.xml" Id="R4843339562a14619" /><Relationship Type="http://schemas.openxmlformats.org/officeDocument/2006/relationships/slide" Target="/ppt/slides/slide30.xml" Id="Rb7c571045e734d41" /><Relationship Type="http://schemas.openxmlformats.org/officeDocument/2006/relationships/slide" Target="/ppt/slides/slide31.xml" Id="R19b8dc8163fa4ff9" /><Relationship Type="http://schemas.openxmlformats.org/officeDocument/2006/relationships/slide" Target="/ppt/slides/slide32.xml" Id="Rc499fb20ef394d1e" /><Relationship Type="http://schemas.openxmlformats.org/officeDocument/2006/relationships/slide" Target="/ppt/slides/slide33.xml" Id="R2887f02683e142fc" /><Relationship Type="http://schemas.openxmlformats.org/officeDocument/2006/relationships/slide" Target="/ppt/slides/slide34.xml" Id="Rc295a0dd64c44b03" /><Relationship Type="http://schemas.openxmlformats.org/officeDocument/2006/relationships/slide" Target="/ppt/slides/slide35.xml" Id="Rcdf8de99d1664697" /><Relationship Type="http://schemas.openxmlformats.org/officeDocument/2006/relationships/slide" Target="/ppt/slides/slide36.xml" Id="Ra834a213448b4e50" /><Relationship Type="http://schemas.openxmlformats.org/officeDocument/2006/relationships/slide" Target="/ppt/slides/slide37.xml" Id="R986fafe1f978481f" /><Relationship Type="http://schemas.openxmlformats.org/officeDocument/2006/relationships/slide" Target="/ppt/slides/slide38.xml" Id="R2ca098fc920c4bae" /><Relationship Type="http://schemas.openxmlformats.org/officeDocument/2006/relationships/slide" Target="/ppt/slides/slide39.xml" Id="R19718a7cc15f4e4e" /><Relationship Type="http://schemas.openxmlformats.org/officeDocument/2006/relationships/slide" Target="/ppt/slides/slide40.xml" Id="R9c44c93cee6f4831" /><Relationship Type="http://schemas.openxmlformats.org/officeDocument/2006/relationships/slide" Target="/ppt/slides/slide41.xml" Id="Re90c7e6bdc8e445b" /><Relationship Type="http://schemas.openxmlformats.org/officeDocument/2006/relationships/slide" Target="/ppt/slides/slide42.xml" Id="Rdd3c0a7dabd0433f" /><Relationship Type="http://schemas.openxmlformats.org/officeDocument/2006/relationships/slide" Target="/ppt/slides/slide43.xml" Id="R9048e906e9dc41ed" /><Relationship Type="http://schemas.openxmlformats.org/officeDocument/2006/relationships/slide" Target="/ppt/slides/slide44.xml" Id="Rb299e8a32edd4d62" /><Relationship Type="http://schemas.openxmlformats.org/officeDocument/2006/relationships/slide" Target="/ppt/slides/slide45.xml" Id="R00864a7c68aa4522" /><Relationship Type="http://schemas.openxmlformats.org/officeDocument/2006/relationships/slide" Target="/ppt/slides/slide46.xml" Id="R3b08fafd410a4b4a" /><Relationship Type="http://schemas.openxmlformats.org/officeDocument/2006/relationships/slide" Target="/ppt/slides/slide47.xml" Id="Rf42b17a4e0d84671" /><Relationship Type="http://schemas.openxmlformats.org/officeDocument/2006/relationships/slide" Target="/ppt/slides/slide48.xml" Id="R0d66ec4b43984266" /><Relationship Type="http://schemas.openxmlformats.org/officeDocument/2006/relationships/slide" Target="/ppt/slides/slide49.xml" Id="R19d5820c30164e8f" /><Relationship Type="http://schemas.openxmlformats.org/officeDocument/2006/relationships/slide" Target="/ppt/slides/slide50.xml" Id="R38449469181c4335" /><Relationship Type="http://schemas.openxmlformats.org/officeDocument/2006/relationships/slide" Target="/ppt/slides/slide51.xml" Id="R2dc383185f284320" /><Relationship Type="http://schemas.openxmlformats.org/officeDocument/2006/relationships/slide" Target="/ppt/slides/slide52.xml" Id="R6fd0366a565544e0" /><Relationship Type="http://schemas.openxmlformats.org/officeDocument/2006/relationships/slide" Target="/ppt/slides/slide53.xml" Id="R4447770b00294dc6" /><Relationship Type="http://schemas.openxmlformats.org/officeDocument/2006/relationships/slide" Target="/ppt/slides/slide54.xml" Id="R7285e32355a64dc9" /><Relationship Type="http://schemas.openxmlformats.org/officeDocument/2006/relationships/slide" Target="/ppt/slides/slide55.xml" Id="R6fd8e5c7f4dd4c78" /><Relationship Type="http://schemas.openxmlformats.org/officeDocument/2006/relationships/slide" Target="/ppt/slides/slide56.xml" Id="R91bc6d7425af4214" /><Relationship Type="http://schemas.openxmlformats.org/officeDocument/2006/relationships/slide" Target="/ppt/slides/slide57.xml" Id="R0e483be2cfea454c" /><Relationship Type="http://schemas.openxmlformats.org/officeDocument/2006/relationships/slide" Target="/ppt/slides/slide58.xml" Id="R4d15adb8092641ff" /><Relationship Type="http://schemas.openxmlformats.org/officeDocument/2006/relationships/slide" Target="/ppt/slides/slide59.xml" Id="R622b0e2da24541ec" /><Relationship Type="http://schemas.openxmlformats.org/officeDocument/2006/relationships/slide" Target="/ppt/slides/slide60.xml" Id="Rab894fa462ad4d9b" /><Relationship Type="http://schemas.openxmlformats.org/officeDocument/2006/relationships/slide" Target="/ppt/slides/slide61.xml" Id="R04fc5afa0b3a4501" /><Relationship Type="http://schemas.openxmlformats.org/officeDocument/2006/relationships/slide" Target="/ppt/slides/slide62.xml" Id="R3e53170c29164562" /><Relationship Type="http://schemas.openxmlformats.org/officeDocument/2006/relationships/slide" Target="/ppt/slides/slide63.xml" Id="Rd160f1bf53094c08" /><Relationship Type="http://schemas.openxmlformats.org/officeDocument/2006/relationships/slide" Target="/ppt/slides/slide64.xml" Id="R29d466bcc034468e" /><Relationship Type="http://schemas.openxmlformats.org/officeDocument/2006/relationships/slide" Target="/ppt/slides/slide65.xml" Id="R9ad5a0fe174b4bde" /><Relationship Type="http://schemas.openxmlformats.org/officeDocument/2006/relationships/slide" Target="/ppt/slides/slide66.xml" Id="R6774976476514ab6" /><Relationship Type="http://schemas.openxmlformats.org/officeDocument/2006/relationships/slide" Target="/ppt/slides/slide67.xml" Id="R0ee868faec794257" /><Relationship Type="http://schemas.openxmlformats.org/officeDocument/2006/relationships/slide" Target="/ppt/slides/slide68.xml" Id="Rb6dc813c42c24ecc" /><Relationship Type="http://schemas.openxmlformats.org/officeDocument/2006/relationships/slide" Target="/ppt/slides/slide69.xml" Id="R3e327f577c4c48ab" /><Relationship Type="http://schemas.openxmlformats.org/officeDocument/2006/relationships/slide" Target="/ppt/slides/slide70.xml" Id="Rcb9f90b1940c4e5e" /><Relationship Type="http://schemas.openxmlformats.org/officeDocument/2006/relationships/slide" Target="/ppt/slides/slide71.xml" Id="R0e27b1e81808439a" /><Relationship Type="http://schemas.openxmlformats.org/officeDocument/2006/relationships/slide" Target="/ppt/slides/slide72.xml" Id="R23597fdf6f8442d1" /><Relationship Type="http://schemas.openxmlformats.org/officeDocument/2006/relationships/slide" Target="/ppt/slides/slide73.xml" Id="R5dae5b8aa2d04c50" /><Relationship Type="http://schemas.openxmlformats.org/officeDocument/2006/relationships/slide" Target="/ppt/slides/slide74.xml" Id="Raaf4592be27c4001" /><Relationship Type="http://schemas.openxmlformats.org/officeDocument/2006/relationships/slide" Target="/ppt/slides/slide75.xml" Id="R7587b9ef4b2248a6" /><Relationship Type="http://schemas.openxmlformats.org/officeDocument/2006/relationships/slide" Target="/ppt/slides/slide76.xml" Id="Rcb25b23a753f456f" /><Relationship Type="http://schemas.openxmlformats.org/officeDocument/2006/relationships/slide" Target="/ppt/slides/slide77.xml" Id="R55282f2eab0e412a" /><Relationship Type="http://schemas.openxmlformats.org/officeDocument/2006/relationships/slide" Target="/ppt/slides/slide78.xml" Id="Rbfdb616b08d743d1" /><Relationship Type="http://schemas.openxmlformats.org/officeDocument/2006/relationships/slide" Target="/ppt/slides/slide79.xml" Id="Rd4b678c93c6f4a79" /><Relationship Type="http://schemas.openxmlformats.org/officeDocument/2006/relationships/slide" Target="/ppt/slides/slide80.xml" Id="R7ef1966bb61c4ac7" /><Relationship Type="http://schemas.openxmlformats.org/officeDocument/2006/relationships/slide" Target="/ppt/slides/slide81.xml" Id="Rc9b12c25c79242e7" /><Relationship Type="http://schemas.openxmlformats.org/officeDocument/2006/relationships/slide" Target="/ppt/slides/slide82.xml" Id="Rfd6ba4d77f164bca" /><Relationship Type="http://schemas.openxmlformats.org/officeDocument/2006/relationships/slide" Target="/ppt/slides/slide83.xml" Id="R45c4d21a7bbc469e" /><Relationship Type="http://schemas.openxmlformats.org/officeDocument/2006/relationships/slide" Target="/ppt/slides/slide84.xml" Id="Rf19ac0f03ea84bb8" /><Relationship Type="http://schemas.openxmlformats.org/officeDocument/2006/relationships/slide" Target="/ppt/slides/slide85.xml" Id="R2d346924b7d14cd0" /><Relationship Type="http://schemas.openxmlformats.org/officeDocument/2006/relationships/slide" Target="/ppt/slides/slide86.xml" Id="Rae12171e5fd545ee" /><Relationship Type="http://schemas.openxmlformats.org/officeDocument/2006/relationships/slide" Target="/ppt/slides/slide87.xml" Id="Rfae63418715e4642" /><Relationship Type="http://schemas.openxmlformats.org/officeDocument/2006/relationships/slide" Target="/ppt/slides/slide88.xml" Id="Rf5f32ace0a9e46e3" /><Relationship Type="http://schemas.openxmlformats.org/officeDocument/2006/relationships/slide" Target="/ppt/slides/slide89.xml" Id="Rb0dbd97670584bf3" /><Relationship Type="http://schemas.openxmlformats.org/officeDocument/2006/relationships/slide" Target="/ppt/slides/slide90.xml" Id="R3422464283ee447d" /><Relationship Type="http://schemas.openxmlformats.org/officeDocument/2006/relationships/slide" Target="/ppt/slides/slide91.xml" Id="R15315d4c9775464d" /><Relationship Type="http://schemas.openxmlformats.org/officeDocument/2006/relationships/slide" Target="/ppt/slides/slide92.xml" Id="R239105faadd74a3a" /><Relationship Type="http://schemas.openxmlformats.org/officeDocument/2006/relationships/slide" Target="/ppt/slides/slide93.xml" Id="R19519037676443ba" /><Relationship Type="http://schemas.openxmlformats.org/officeDocument/2006/relationships/slide" Target="/ppt/slides/slide94.xml" Id="Rad386f301fdb47c8" /><Relationship Type="http://schemas.openxmlformats.org/officeDocument/2006/relationships/slide" Target="/ppt/slides/slide95.xml" Id="R1723a5291ead4d84" /><Relationship Type="http://schemas.openxmlformats.org/officeDocument/2006/relationships/slide" Target="/ppt/slides/slide96.xml" Id="Rebe2bee8d6a84c48" /><Relationship Type="http://schemas.openxmlformats.org/officeDocument/2006/relationships/slide" Target="/ppt/slides/slide97.xml" Id="Rchart00pre"/><Relationship Type="http://schemas.openxmlformats.org/officeDocument/2006/relationships/slide" Target="/ppt/slides/slide98.xml" Id="Rchart01pre"/></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273bed269c49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f8c7326a6547f0" /><Relationship Type="http://schemas.openxmlformats.org/officeDocument/2006/relationships/notesMaster" Target="/ppt/notesMasters/notesMaster1.xml" Id="R249bf5dc7a8e40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582a5065c54f09" /><Relationship Type="http://schemas.openxmlformats.org/officeDocument/2006/relationships/notesMaster" Target="/ppt/notesMasters/notesMaster1.xml" Id="R4f17f8c2831443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de3755ed324c0c" /><Relationship Type="http://schemas.openxmlformats.org/officeDocument/2006/relationships/notesMaster" Target="/ppt/notesMasters/notesMaster1.xml" Id="R71705dd2ae9f4d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cb7442320a4b9b" /><Relationship Type="http://schemas.openxmlformats.org/officeDocument/2006/relationships/notesMaster" Target="/ppt/notesMasters/notesMaster1.xml" Id="Rfb6febd9625345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78b26d351946cf" /><Relationship Type="http://schemas.openxmlformats.org/officeDocument/2006/relationships/notesMaster" Target="/ppt/notesMasters/notesMaster1.xml" Id="R06b16de06f9440a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4dbffc5c7a4bc3" /><Relationship Type="http://schemas.openxmlformats.org/officeDocument/2006/relationships/notesMaster" Target="/ppt/notesMasters/notesMaster1.xml" Id="R9b0cbcaf3d8742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a808570fb754381" /><Relationship Type="http://schemas.openxmlformats.org/officeDocument/2006/relationships/notesMaster" Target="/ppt/notesMasters/notesMaster1.xml" Id="Rb3ec90d272984d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05f5a503414a54" /><Relationship Type="http://schemas.openxmlformats.org/officeDocument/2006/relationships/notesMaster" Target="/ppt/notesMasters/notesMaster1.xml" Id="Rdf2f5fd27b7b47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a1ba8d8efa7418d" /><Relationship Type="http://schemas.openxmlformats.org/officeDocument/2006/relationships/notesMaster" Target="/ppt/notesMasters/notesMaster1.xml" Id="R668ea67cc824404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32008266664b20" /><Relationship Type="http://schemas.openxmlformats.org/officeDocument/2006/relationships/notesMaster" Target="/ppt/notesMasters/notesMaster1.xml" Id="Rb27782ba9049476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d8b62f9f7147ee" /><Relationship Type="http://schemas.openxmlformats.org/officeDocument/2006/relationships/notesMaster" Target="/ppt/notesMasters/notesMaster1.xml" Id="R3ae30bd077534c8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b672e2d4e174e49" /><Relationship Type="http://schemas.openxmlformats.org/officeDocument/2006/relationships/notesMaster" Target="/ppt/notesMasters/notesMaster1.xml" Id="R5971cbf7d1294d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12eabf5c24143e0" /><Relationship Type="http://schemas.openxmlformats.org/officeDocument/2006/relationships/notesMaster" Target="/ppt/notesMasters/notesMaster1.xml" Id="Rff40357688284cd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20635e0fe5a40b7" /><Relationship Type="http://schemas.openxmlformats.org/officeDocument/2006/relationships/notesMaster" Target="/ppt/notesMasters/notesMaster1.xml" Id="R69f631248994428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fbf2851cf9344f0" /><Relationship Type="http://schemas.openxmlformats.org/officeDocument/2006/relationships/notesMaster" Target="/ppt/notesMasters/notesMaster1.xml" Id="Ra1f45308a524494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c30cd86677343c4" /><Relationship Type="http://schemas.openxmlformats.org/officeDocument/2006/relationships/notesMaster" Target="/ppt/notesMasters/notesMaster1.xml" Id="Ra7f70173d9634e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b01ba0b3c0540c9" /><Relationship Type="http://schemas.openxmlformats.org/officeDocument/2006/relationships/notesMaster" Target="/ppt/notesMasters/notesMaster1.xml" Id="R91c149cbc84d45b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07ae13eb0de476b" /><Relationship Type="http://schemas.openxmlformats.org/officeDocument/2006/relationships/notesMaster" Target="/ppt/notesMasters/notesMaster1.xml" Id="Reea540adc3b94fc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c079a5f7a914d19" /><Relationship Type="http://schemas.openxmlformats.org/officeDocument/2006/relationships/notesMaster" Target="/ppt/notesMasters/notesMaster1.xml" Id="R032c65ca0568452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d49a8406d8a4282" /><Relationship Type="http://schemas.openxmlformats.org/officeDocument/2006/relationships/notesMaster" Target="/ppt/notesMasters/notesMaster1.xml" Id="R2e9d22d198f6439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1f2eff0c2d54063" /><Relationship Type="http://schemas.openxmlformats.org/officeDocument/2006/relationships/notesMaster" Target="/ppt/notesMasters/notesMaster1.xml" Id="R3267d905668c4d7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7a3a0e70dc340a8" /><Relationship Type="http://schemas.openxmlformats.org/officeDocument/2006/relationships/notesMaster" Target="/ppt/notesMasters/notesMaster1.xml" Id="R1f5a90a00ea9416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14c16eed711409d" /><Relationship Type="http://schemas.openxmlformats.org/officeDocument/2006/relationships/notesMaster" Target="/ppt/notesMasters/notesMaster1.xml" Id="Rf7848b400bdd42b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2da39bed4e040cd" /><Relationship Type="http://schemas.openxmlformats.org/officeDocument/2006/relationships/notesMaster" Target="/ppt/notesMasters/notesMaster1.xml" Id="R77bf46cacfd9452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c45c833337149f2" /><Relationship Type="http://schemas.openxmlformats.org/officeDocument/2006/relationships/notesMaster" Target="/ppt/notesMasters/notesMaster1.xml" Id="R0cab15ccb7cd46f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2472d4e43744f54" /><Relationship Type="http://schemas.openxmlformats.org/officeDocument/2006/relationships/notesMaster" Target="/ppt/notesMasters/notesMaster1.xml" Id="Red8905cb8f164de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8625d5cc5f248b2" /><Relationship Type="http://schemas.openxmlformats.org/officeDocument/2006/relationships/notesMaster" Target="/ppt/notesMasters/notesMaster1.xml" Id="R48aafcc685dd444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d9449cc28bd4b6f" /><Relationship Type="http://schemas.openxmlformats.org/officeDocument/2006/relationships/notesMaster" Target="/ppt/notesMasters/notesMaster1.xml" Id="Rf941cfa375fc44b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cf6c0b73a3a4b4e" /><Relationship Type="http://schemas.openxmlformats.org/officeDocument/2006/relationships/notesMaster" Target="/ppt/notesMasters/notesMaster1.xml" Id="Rd34403c22c97401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aa6657791814f42" /><Relationship Type="http://schemas.openxmlformats.org/officeDocument/2006/relationships/notesMaster" Target="/ppt/notesMasters/notesMaster1.xml" Id="R1cc97e19283049c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ccfd2cf70144e7f" /><Relationship Type="http://schemas.openxmlformats.org/officeDocument/2006/relationships/notesMaster" Target="/ppt/notesMasters/notesMaster1.xml" Id="Rb6bb1cb0d98549c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875ef6922d8457f" /><Relationship Type="http://schemas.openxmlformats.org/officeDocument/2006/relationships/notesMaster" Target="/ppt/notesMasters/notesMaster1.xml" Id="Re3408459fea14fd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a10ddcbd311497d" /><Relationship Type="http://schemas.openxmlformats.org/officeDocument/2006/relationships/notesMaster" Target="/ppt/notesMasters/notesMaster1.xml" Id="R51040f9d0eb84dd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c3ea3a3dfdb422f" /><Relationship Type="http://schemas.openxmlformats.org/officeDocument/2006/relationships/notesMaster" Target="/ppt/notesMasters/notesMaster1.xml" Id="R47d9da03c86f4a9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3500372145a43f4" /><Relationship Type="http://schemas.openxmlformats.org/officeDocument/2006/relationships/notesMaster" Target="/ppt/notesMasters/notesMaster1.xml" Id="Rc9b58c29771047b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62ef7d776344e31" /><Relationship Type="http://schemas.openxmlformats.org/officeDocument/2006/relationships/notesMaster" Target="/ppt/notesMasters/notesMaster1.xml" Id="Rc66ae1435264430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29f25b618914368" /><Relationship Type="http://schemas.openxmlformats.org/officeDocument/2006/relationships/notesMaster" Target="/ppt/notesMasters/notesMaster1.xml" Id="Rdfeed2388dac4a8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8b2690cb1ff420a" /><Relationship Type="http://schemas.openxmlformats.org/officeDocument/2006/relationships/notesMaster" Target="/ppt/notesMasters/notesMaster1.xml" Id="Rfcc49d25073d4c5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ea4a69786b34709" /><Relationship Type="http://schemas.openxmlformats.org/officeDocument/2006/relationships/notesMaster" Target="/ppt/notesMasters/notesMaster1.xml" Id="Rf2be09073c26427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e694b5ca3c342bc" /><Relationship Type="http://schemas.openxmlformats.org/officeDocument/2006/relationships/notesMaster" Target="/ppt/notesMasters/notesMaster1.xml" Id="Rb7fd2aeaa5e5401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9a089bf6a3e4e09" /><Relationship Type="http://schemas.openxmlformats.org/officeDocument/2006/relationships/notesMaster" Target="/ppt/notesMasters/notesMaster1.xml" Id="R2806f868316a4c5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eab24ccadc44374" /><Relationship Type="http://schemas.openxmlformats.org/officeDocument/2006/relationships/notesMaster" Target="/ppt/notesMasters/notesMaster1.xml" Id="R4df7c3ed6cb14e9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4c20f7dc49247c2" /><Relationship Type="http://schemas.openxmlformats.org/officeDocument/2006/relationships/notesMaster" Target="/ppt/notesMasters/notesMaster1.xml" Id="Rbd702b5de5cf420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4594d37151e48fc" /><Relationship Type="http://schemas.openxmlformats.org/officeDocument/2006/relationships/notesMaster" Target="/ppt/notesMasters/notesMaster1.xml" Id="R1aea5eb3a328485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8c3fd7dadbd437c" /><Relationship Type="http://schemas.openxmlformats.org/officeDocument/2006/relationships/notesMaster" Target="/ppt/notesMasters/notesMaster1.xml" Id="R621c7c07ed21439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a406cc043a347aa" /><Relationship Type="http://schemas.openxmlformats.org/officeDocument/2006/relationships/notesMaster" Target="/ppt/notesMasters/notesMaster1.xml" Id="R3554c286309a44f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7ba973bfd05419b" /><Relationship Type="http://schemas.openxmlformats.org/officeDocument/2006/relationships/notesMaster" Target="/ppt/notesMasters/notesMaster1.xml" Id="R8d5c46c14a514ee5"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ad81161c4a647e5" /><Relationship Type="http://schemas.openxmlformats.org/officeDocument/2006/relationships/notesMaster" Target="/ppt/notesMasters/notesMaster1.xml" Id="Rd5952f9fc4834de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6d2cedefac54cd1" /><Relationship Type="http://schemas.openxmlformats.org/officeDocument/2006/relationships/notesMaster" Target="/ppt/notesMasters/notesMaster1.xml" Id="R441a3afea20041d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9662e8f32654557" /><Relationship Type="http://schemas.openxmlformats.org/officeDocument/2006/relationships/notesMaster" Target="/ppt/notesMasters/notesMaster1.xml" Id="R78c1b27343fd4f3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de0915924a0a4e9b" /><Relationship Type="http://schemas.openxmlformats.org/officeDocument/2006/relationships/notesMaster" Target="/ppt/notesMasters/notesMaster1.xml" Id="R0602816540b4477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2c2ddc5318c4bb8" /><Relationship Type="http://schemas.openxmlformats.org/officeDocument/2006/relationships/notesMaster" Target="/ppt/notesMasters/notesMaster1.xml" Id="Rcefa3d0f0220467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f04068662d1462b" /><Relationship Type="http://schemas.openxmlformats.org/officeDocument/2006/relationships/notesMaster" Target="/ppt/notesMasters/notesMaster1.xml" Id="Rc5d7a256c8cf46f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2db63907a8b5464f" /><Relationship Type="http://schemas.openxmlformats.org/officeDocument/2006/relationships/notesMaster" Target="/ppt/notesMasters/notesMaster1.xml" Id="R9bd8df6b8e05466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8381dfe15bd44ec" /><Relationship Type="http://schemas.openxmlformats.org/officeDocument/2006/relationships/notesMaster" Target="/ppt/notesMasters/notesMaster1.xml" Id="Rb871ce5060344c2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36c870868bc47a2" /><Relationship Type="http://schemas.openxmlformats.org/officeDocument/2006/relationships/notesMaster" Target="/ppt/notesMasters/notesMaster1.xml" Id="Rf0a73e273049419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3b6736f164740b4" /><Relationship Type="http://schemas.openxmlformats.org/officeDocument/2006/relationships/notesMaster" Target="/ppt/notesMasters/notesMaster1.xml" Id="R4a8a9e8f8bfd4ee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e4f49c770de94704" /><Relationship Type="http://schemas.openxmlformats.org/officeDocument/2006/relationships/notesMaster" Target="/ppt/notesMasters/notesMaster1.xml" Id="Rae9f31dbc75d4a7b"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38a1099f87c5410a" /><Relationship Type="http://schemas.openxmlformats.org/officeDocument/2006/relationships/notesMaster" Target="/ppt/notesMasters/notesMaster1.xml" Id="Rd6fc47c107764a4e"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4ed69aa9750483c" /><Relationship Type="http://schemas.openxmlformats.org/officeDocument/2006/relationships/notesMaster" Target="/ppt/notesMasters/notesMaster1.xml" Id="Rfee281ac56034da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67339c1e20541e7" /><Relationship Type="http://schemas.openxmlformats.org/officeDocument/2006/relationships/notesMaster" Target="/ppt/notesMasters/notesMaster1.xml" Id="Rc0a2f33445f04c5f"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ab61f6d5d36c4d80" /><Relationship Type="http://schemas.openxmlformats.org/officeDocument/2006/relationships/notesMaster" Target="/ppt/notesMasters/notesMaster1.xml" Id="Rbf6e2010f59b42a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b76b26f1ef90427d" /><Relationship Type="http://schemas.openxmlformats.org/officeDocument/2006/relationships/notesMaster" Target="/ppt/notesMasters/notesMaster1.xml" Id="R4b79a64e1ca5481e"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c38a631ab1e4bde" /><Relationship Type="http://schemas.openxmlformats.org/officeDocument/2006/relationships/notesMaster" Target="/ppt/notesMasters/notesMaster1.xml" Id="R18f6a0f89e674d1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e278aa755534333" /><Relationship Type="http://schemas.openxmlformats.org/officeDocument/2006/relationships/notesMaster" Target="/ppt/notesMasters/notesMaster1.xml" Id="R195db53006a04a69"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6379770dc96d4450" /><Relationship Type="http://schemas.openxmlformats.org/officeDocument/2006/relationships/notesMaster" Target="/ppt/notesMasters/notesMaster1.xml" Id="Rbf848c9ac83d4e9f"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ccea0074b02f4105" /><Relationship Type="http://schemas.openxmlformats.org/officeDocument/2006/relationships/notesMaster" Target="/ppt/notesMasters/notesMaster1.xml" Id="Rf8b6fc0458194186"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985fe34914e640f6" /><Relationship Type="http://schemas.openxmlformats.org/officeDocument/2006/relationships/notesMaster" Target="/ppt/notesMasters/notesMaster1.xml" Id="Ra33de3bcd96d4dad"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0a45e596c5fb43ae" /><Relationship Type="http://schemas.openxmlformats.org/officeDocument/2006/relationships/notesMaster" Target="/ppt/notesMasters/notesMaster1.xml" Id="Ree2524a725c74ad0"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83bca8f27454dc3" /><Relationship Type="http://schemas.openxmlformats.org/officeDocument/2006/relationships/notesMaster" Target="/ppt/notesMasters/notesMaster1.xml" Id="R87b2a8fe86694a98"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09e23f46e57c4333" /><Relationship Type="http://schemas.openxmlformats.org/officeDocument/2006/relationships/notesMaster" Target="/ppt/notesMasters/notesMaster1.xml" Id="Rd565293faa23402c"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0a99c609f2b94ebc" /><Relationship Type="http://schemas.openxmlformats.org/officeDocument/2006/relationships/notesMaster" Target="/ppt/notesMasters/notesMaster1.xml" Id="R49376ef83a654e65"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f4ebf99eedfb425c" /><Relationship Type="http://schemas.openxmlformats.org/officeDocument/2006/relationships/notesMaster" Target="/ppt/notesMasters/notesMaster1.xml" Id="R54786a8f082e4b56"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ab45cd78df0c4abe" /><Relationship Type="http://schemas.openxmlformats.org/officeDocument/2006/relationships/notesMaster" Target="/ppt/notesMasters/notesMaster1.xml" Id="R9df5bf1cc86c4e51"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0f5b2baa6b8a4f33" /><Relationship Type="http://schemas.openxmlformats.org/officeDocument/2006/relationships/notesMaster" Target="/ppt/notesMasters/notesMaster1.xml" Id="R367f3bbc33654681"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82c23f68068940f4" /><Relationship Type="http://schemas.openxmlformats.org/officeDocument/2006/relationships/notesMaster" Target="/ppt/notesMasters/notesMaster1.xml" Id="R7505b62f727c4315"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ad9270d9da2c462d" /><Relationship Type="http://schemas.openxmlformats.org/officeDocument/2006/relationships/notesMaster" Target="/ppt/notesMasters/notesMaster1.xml" Id="Rad3c6c25040940e0"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422bd8bdca1a44bf" /><Relationship Type="http://schemas.openxmlformats.org/officeDocument/2006/relationships/notesMaster" Target="/ppt/notesMasters/notesMaster1.xml" Id="Re04b777c3e8a49b5"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c2c33aba87c749a7" /><Relationship Type="http://schemas.openxmlformats.org/officeDocument/2006/relationships/notesMaster" Target="/ppt/notesMasters/notesMaster1.xml" Id="Rb54b5650de2e44e1"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553562dba8c648c8" /><Relationship Type="http://schemas.openxmlformats.org/officeDocument/2006/relationships/notesMaster" Target="/ppt/notesMasters/notesMaster1.xml" Id="Rb2c3efae6c174694"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b78b8f1add3b4b8c" /><Relationship Type="http://schemas.openxmlformats.org/officeDocument/2006/relationships/notesMaster" Target="/ppt/notesMasters/notesMaster1.xml" Id="R41c48f7d9ec142d9"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5e7440a73ce44218" /><Relationship Type="http://schemas.openxmlformats.org/officeDocument/2006/relationships/notesMaster" Target="/ppt/notesMasters/notesMaster1.xml" Id="R58064937fe86464f"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f599c6c0c4214dfa" /><Relationship Type="http://schemas.openxmlformats.org/officeDocument/2006/relationships/notesMaster" Target="/ppt/notesMasters/notesMaster1.xml" Id="R96cd9a885d554b2b"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706913b7fc164f5a" /><Relationship Type="http://schemas.openxmlformats.org/officeDocument/2006/relationships/notesMaster" Target="/ppt/notesMasters/notesMaster1.xml" Id="Re70a1f86611f4a4f"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e8264ee3247c4e88" /><Relationship Type="http://schemas.openxmlformats.org/officeDocument/2006/relationships/notesMaster" Target="/ppt/notesMasters/notesMaster1.xml" Id="R3b4ad5cd032c4919"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e50ed1e31f0c4ad9" /><Relationship Type="http://schemas.openxmlformats.org/officeDocument/2006/relationships/notesMaster" Target="/ppt/notesMasters/notesMaster1.xml" Id="R4f186a2cca6642bf"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3e1a01daa5d046fd" /><Relationship Type="http://schemas.openxmlformats.org/officeDocument/2006/relationships/notesMaster" Target="/ppt/notesMasters/notesMaster1.xml" Id="Rea190118b2ab4921"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01e074c088ea494a" /><Relationship Type="http://schemas.openxmlformats.org/officeDocument/2006/relationships/notesMaster" Target="/ppt/notesMasters/notesMaster1.xml" Id="Rc28b9415b49a4356"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e9ac5e0b0e694242" /><Relationship Type="http://schemas.openxmlformats.org/officeDocument/2006/relationships/notesMaster" Target="/ppt/notesMasters/notesMaster1.xml" Id="Rd542826358154b03"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146aca40bc304f5e" /><Relationship Type="http://schemas.openxmlformats.org/officeDocument/2006/relationships/notesMaster" Target="/ppt/notesMasters/notesMaster1.xml" Id="R921efecce3f84995"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275c3a17480348e6" /><Relationship Type="http://schemas.openxmlformats.org/officeDocument/2006/relationships/notesMaster" Target="/ppt/notesMasters/notesMaster1.xml" Id="R3c17f49987e544c2"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e710d87da8db4daa" /><Relationship Type="http://schemas.openxmlformats.org/officeDocument/2006/relationships/notesMaster" Target="/ppt/notesMasters/notesMaster1.xml" Id="R7f286e9a848b4725"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2cefd41203964262" /><Relationship Type="http://schemas.openxmlformats.org/officeDocument/2006/relationships/notesMaster" Target="/ppt/notesMasters/notesMaster1.xml" Id="Re9b1b53814754072"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23a6583985e44728" /><Relationship Type="http://schemas.openxmlformats.org/officeDocument/2006/relationships/notesMaster" Target="/ppt/notesMasters/notesMaster1.xml" Id="R886d6fffc2024df3"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b3250d64d80a425d" /><Relationship Type="http://schemas.openxmlformats.org/officeDocument/2006/relationships/notesMaster" Target="/ppt/notesMasters/notesMaster1.xml" Id="R0586026090d747e7"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8cd024b53e144e78" /><Relationship Type="http://schemas.openxmlformats.org/officeDocument/2006/relationships/notesMaster" Target="/ppt/notesMasters/notesMaster1.xml" Id="R1793db4c714d4a27" /></Relationships>
</file>

<file path=ppt/notesSlides/_rels/notesSlide97.xml.rels><?xml version="1.0" encoding="utf-8"?><Relationships xmlns="http://schemas.openxmlformats.org/package/2006/relationships"><Relationship Type="http://schemas.openxmlformats.org/officeDocument/2006/relationships/slide" Target="/ppt/slides/slide97.xml" Id="Rchart00sld"/><Relationship Type="http://schemas.openxmlformats.org/officeDocument/2006/relationships/notesMaster" Target="/ppt/notesMasters/notesMaster1.xml" Id="Rchart00mst"/></Relationships>
</file>

<file path=ppt/notesSlides/_rels/notesSlide98.xml.rels><?xml version="1.0" encoding="utf-8"?><Relationships xmlns="http://schemas.openxmlformats.org/package/2006/relationships"><Relationship Type="http://schemas.openxmlformats.org/officeDocument/2006/relationships/slide" Target="/ppt/slides/slide98.xml" Id="Rchart01sld"/><Relationship Type="http://schemas.openxmlformats.org/officeDocument/2006/relationships/notesMaster" Target="/ppt/notesMasters/notesMaster1.xml" Id="Rchart01mst"/></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Ilustración editorial. Integrantes del grupo y dos estudios probabilísticos.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https://clubelo.com/System · Goldsman, capítulos 1 y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https://clubelo.com/System · Goldsman, capítulos 1 y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James P. Curley, engsoccerdata. https://github.com/jalapic/engsoccerdata . Cálculos en data/processed/champions_1964_2023.csv.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James P. Curley, engsoccerdata. https://github.com/jalapic/engsoccerdata . Cálculos en data/processed/champions_1964_2023.csv. ClubElo mediante el archivo de Ádám Gábor. https://github.com/xgabora/Club-Football-Match-Data/blob/main/data/EloRatings.csv . Corte 2023-08-15. API original no disponible durante la consulta.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James P. Curley, engsoccerdata. https://github.com/jalapic/engsoccerdata . Cálculos en data/processed/champions_1964_2023.csv. https://www.bundesliga.com/en/bundesliga/news/bayer-leverkusen-record-unbeaten-run-xabi-alonso-26289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James P. Curley, engsoccerdata. https://github.com/jalapic/engsoccerdata . Cálculos en data/processed/champions_1964_2023.csv.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James P. Curley, engsoccerdata. https://github.com/jalapic/engsoccerdata . Cálculos en data/processed/champions_1964_2023.csv.</a:t>
            </a:r>
          </a:p>
          <a:p xmlns:a="http://schemas.openxmlformats.org/drawingml/2006/main">
            <a:r>
              <a:t>ClubElo mediante el archivo de Ádám Gábor. https://github.com/xgabora/Club-Football-Match-Data/blob/main/data/EloRatings.csv . Corte 2023-08-15. API original no disponible durante la consulta.</a:t>
            </a:r>
          </a:p>
          <a:p xmlns:a="http://schemas.openxmlformats.org/drawingml/2006/main">
            <a:r>
              <a:t>Hudl StatsBomb Open Data. https://github.com/statsbomb/open-data . Competición 9, temporada 281, 34 partidos. Relojes de eventos con segundos.</a:t>
            </a:r>
          </a:p>
          <a:p xmlns:a="http://schemas.openxmlformats.org/drawingml/2006/main">
            <a:r>
              <a:t>World Football Elo Ratings. https://www.eloratings.net/ . Historiales TSV anteriores a 2023-11-15 y 2026-06-11.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ClubElo mediante el archivo de Ádám Gábor. https://github.com/xgabora/Club-Football-Match-Data/blob/main/data/EloRatings.csv . Corte 2023-08-15. API original no disponible durante la consulta.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 Glosario de símbolos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 Glosario de símbolos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 Glosario de símbolos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 Glosario de símbolos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 Glosario de símbolos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 Glosario de símbolos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https://clubelo.com/System · Goldsman, capítulos 1 y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https://clubelo.com/System · Goldsman, capítulos 1 y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 Modelo propio de enlace Elo–Poisson.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La pregunta de partidos se formaliza mediante el evento A: Leverkusen termina sus 34 jornadas sin derrotas. Los dos conteos de goles representan sus goles y los del rival en el partido j. La información inicial I₀ reúne la valoración de pretemporada, el calendario, la localía y los parámetros del modelo. El estimando P(A) es condicional a esa información; no es una frecuencia observada del torneo 2023/24.</a:t>
            </a:r>
          </a:p>
          <a:p xmlns:a="http://schemas.openxmlformats.org/drawingml/2006/main">
            <a:r>
              <a:t/>
            </a:r>
          </a:p>
          <a:p xmlns:a="http://schemas.openxmlformats.org/drawingml/2006/main">
            <a:r>
              <a:t>Para el análisis histórico, Yₛ indica si el campeón de la temporada s no fue Bayern. Su promedio describe la proporción de títulos de esa categoría en una ventana específica. Para el modelo de derrotas, Dₛ corresponde exclusivamente al campeón de cada temporada. Por ello P(Dₛ=0 | campeón) y P(A | I₀) no son el mismo estimando.</a:t>
            </a:r>
          </a:p>
          <a:p xmlns:a="http://schemas.openxmlformats.org/drawingml/2006/main">
            <a:r>
              <a:t/>
            </a:r>
          </a:p>
          <a:p xmlns:a="http://schemas.openxmlformats.org/drawingml/2006/main">
            <a:r>
              <a:t>Esta distinción determina qué se calcula y evita una multiplicación injustificada: la frecuencia de campeones distintos de Bayern no puede combinarse directamente con P(A) para producir la probabilidad de que Leverkusen sea campeón invicto. Haría falta modelar conjuntamente la tabla completa de la liga.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La pregunta de partidos se formaliza mediante el evento A: Leverkusen termina sus 34 jornadas sin derrotas. Los dos conteos de goles representan sus goles y los del rival en el partido j. La información inicial I₀ reúne la valoración de pretemporada, el calendario, la localía y los parámetros del modelo. El estimando P(A) es condicional a esa información; no es una frecuencia observada del torneo 2023/24.</a:t>
            </a:r>
          </a:p>
          <a:p xmlns:a="http://schemas.openxmlformats.org/drawingml/2006/main">
            <a:r>
              <a:t/>
            </a:r>
          </a:p>
          <a:p xmlns:a="http://schemas.openxmlformats.org/drawingml/2006/main">
            <a:r>
              <a:t>Para el análisis histórico, Yₛ indica si el campeón de la temporada s no fue Bayern. Su promedio describe la proporción de títulos de esa categoría en una ventana específica. Para el modelo de derrotas, Dₛ corresponde exclusivamente al campeón de cada temporada. Por ello P(Dₛ=0 | campeón) y P(A | I₀) no son el mismo estimando.</a:t>
            </a:r>
          </a:p>
          <a:p xmlns:a="http://schemas.openxmlformats.org/drawingml/2006/main">
            <a:r>
              <a:t/>
            </a:r>
          </a:p>
          <a:p xmlns:a="http://schemas.openxmlformats.org/drawingml/2006/main">
            <a:r>
              <a:t>Esta distinción determina qué se calcula y evita una multiplicación injustificada: la frecuencia de campeones distintos de Bayern no puede combinarse directamente con P(A) para producir la probabilidad de que Leverkusen sea campeón invicto. Haría falta modelar conjuntamente la tabla completa de la liga.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La independencia dentro de cada partido permite obtener su distribución conjunta multiplicando las probabilidades marginales de goles. La independencia entre encuentros, condicionada a las fuerzas fijas, permite multiplicar las probabilidades de no perder. Son supuestos distintos y ambos son necesarios para la construcción elegida.</a:t>
            </a:r>
          </a:p>
          <a:p xmlns:a="http://schemas.openxmlformats.org/drawingml/2006/main">
            <a:r>
              <a:t/>
            </a:r>
          </a:p>
          <a:p xmlns:a="http://schemas.openxmlformats.org/drawingml/2006/main">
            <a:r>
              <a:t>Los goles Poisson tienen media igual a varianza. No se incorporan efectos de marcador, expulsiones, lesiones, alineaciones ni correlaciones de forma. La independencia y la estabilidad de fuerzas simplifican una temporada real, donde esos factores pueden generar dependencia y cambiar la probabilidad del invicto.</a:t>
            </a:r>
          </a:p>
          <a:p xmlns:a="http://schemas.openxmlformats.org/drawingml/2006/main">
            <a:r>
              <a:t/>
            </a:r>
          </a:p>
          <a:p xmlns:a="http://schemas.openxmlformats.org/drawingml/2006/main">
            <a:r>
              <a:t>El parámetro τ es 3.14248 para Bundesliga, estimado con goles de 2018/19–2022/23, y 2.7 para selecciones, adoptado como supuesto. La ventaja local es 60 puntos Elo en Bundesliga y 100 en la eliminatoria africana; en el Mundial es cero. τ representa el total esperado a igualdad de fuerzas, no un total constante para todos los enfrentamientos.</a:t>
            </a:r>
          </a:p>
          <a:p xmlns:a="http://schemas.openxmlformats.org/drawingml/2006/main">
            <a:r>
              <a:t/>
            </a:r>
          </a:p>
          <a:p xmlns:a="http://schemas.openxmlformats.org/drawingml/2006/main">
            <a:r>
              <a:t>Los datos del resultado que se pretende explicar se excluyen del corte inicial de Elo. En cambio, el análisis de rescates sí es retrospectivo y utiliza estados y duración observados. Sus probabilidades deben interpretarse con ese condicionamiento adicional.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La independencia dentro de cada partido permite obtener su distribución conjunta multiplicando las probabilidades marginales de goles. La independencia entre encuentros, condicionada a las fuerzas fijas, permite multiplicar las probabilidades de no perder. Son supuestos distintos y ambos son necesarios para la construcción elegida.</a:t>
            </a:r>
          </a:p>
          <a:p xmlns:a="http://schemas.openxmlformats.org/drawingml/2006/main">
            <a:r>
              <a:t/>
            </a:r>
          </a:p>
          <a:p xmlns:a="http://schemas.openxmlformats.org/drawingml/2006/main">
            <a:r>
              <a:t>Los goles Poisson tienen media igual a varianza. No se incorporan efectos de marcador, expulsiones, lesiones, alineaciones ni correlaciones de forma. La independencia y la estabilidad de fuerzas simplifican una temporada real, donde esos factores pueden generar dependencia y cambiar la probabilidad del invicto.</a:t>
            </a:r>
          </a:p>
          <a:p xmlns:a="http://schemas.openxmlformats.org/drawingml/2006/main">
            <a:r>
              <a:t/>
            </a:r>
          </a:p>
          <a:p xmlns:a="http://schemas.openxmlformats.org/drawingml/2006/main">
            <a:r>
              <a:t>El parámetro τ es 3.14248 para Bundesliga, estimado con goles de 2018/19–2022/23, y 2.7 para selecciones, adoptado como supuesto. La ventaja local es 60 puntos Elo en Bundesliga y 100 en la eliminatoria africana; en el Mundial es cero. τ representa el total esperado a igualdad de fuerzas, no un total constante para todos los enfrentamientos.</a:t>
            </a:r>
          </a:p>
          <a:p xmlns:a="http://schemas.openxmlformats.org/drawingml/2006/main">
            <a:r>
              <a:t/>
            </a:r>
          </a:p>
          <a:p xmlns:a="http://schemas.openxmlformats.org/drawingml/2006/main">
            <a:r>
              <a:t>Los datos del resultado que se pretende explicar se excluyen del corte inicial de Elo. En cambio, el análisis de rescates sí es retrospectivo y utiliza estados y duración observados. Sus probabilidades deben interpretarse con ese condicionamiento adicional.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Primero se calcula Δ y se transforma mediante E=1/(1+10 elevado a −Δ/400). Este valor corresponde a P(victoria)+½P(empate). Una única ecuación no identifica tres probabilidades de resultados, por lo que es necesario introducir un modelo adicional para los goles.</a:t>
            </a:r>
          </a:p>
          <a:p xmlns:a="http://schemas.openxmlformats.org/drawingml/2006/main">
            <a:r>
              <a:t/>
            </a:r>
          </a:p>
          <a:p xmlns:a="http://schemas.openxmlformats.org/drawingml/2006/main">
            <a:r>
              <a:t>La parametrización exponencial mantiene ambas tasas positivas y cumple λ₁λ₂=(τ/2)². Se define una función residual: la probabilidad Poisson de victoria más la mitad de la de empate, menos E. Se resuelve su raíz con el método de Brent. Las tasas resultantes generan probabilidades que suman uno y reproducen la expectativa Elo dentro de la tolerancia numérica.</a:t>
            </a:r>
          </a:p>
          <a:p xmlns:a="http://schemas.openxmlformats.org/drawingml/2006/main">
            <a:r>
              <a:t/>
            </a:r>
          </a:p>
          <a:p xmlns:a="http://schemas.openxmlformats.org/drawingml/2006/main">
            <a:r>
              <a:t>El uso de dos Poisson es una decisión de modelación: no se atribuye al sistema Elo una fórmula directa para la probabilidad de empate. Para calcular las probabilidades del signo de G₁−G₂ se emplea la distribución de Skellam, equivalente a sumar la distribución conjunta de los dos conteos.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Primero se calcula Δ y se transforma mediante E=1/(1+10 elevado a −Δ/400). Este valor corresponde a P(victoria)+½P(empate). Una única ecuación no identifica tres probabilidades de resultados, por lo que es necesario introducir un modelo adicional para los goles.</a:t>
            </a:r>
          </a:p>
          <a:p xmlns:a="http://schemas.openxmlformats.org/drawingml/2006/main">
            <a:r>
              <a:t/>
            </a:r>
          </a:p>
          <a:p xmlns:a="http://schemas.openxmlformats.org/drawingml/2006/main">
            <a:r>
              <a:t>La parametrización exponencial mantiene ambas tasas positivas y cumple λ₁λ₂=(τ/2)². Se define una función residual: la probabilidad Poisson de victoria más la mitad de la de empate, menos E. Se resuelve su raíz con el método de Brent. Las tasas resultantes generan probabilidades que suman uno y reproducen la expectativa Elo dentro de la tolerancia numérica.</a:t>
            </a:r>
          </a:p>
          <a:p xmlns:a="http://schemas.openxmlformats.org/drawingml/2006/main">
            <a:r>
              <a:t/>
            </a:r>
          </a:p>
          <a:p xmlns:a="http://schemas.openxmlformats.org/drawingml/2006/main">
            <a:r>
              <a:t>El uso de dos Poisson es una decisión de modelación: no se atribuye al sistema Elo una fórmula directa para la probabilidad de empate. Para calcular las probabilidades del signo de G₁−G₂ se emplea la distribución de Skellam, equivalente a sumar la distribución conjunta de los dos conteos.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La expresión conjunta se deriva al multiplicar las funciones de masa de dos variables Poisson independientes. La suma sobre x&gt;y da la probabilidad de victoria; la suma sobre x=y, la de empate; y la suma sobre x&lt;y, la de derrota. Estas regiones son disjuntas y cubren todos los marcadores posibles.</a:t>
            </a:r>
          </a:p>
          <a:p xmlns:a="http://schemas.openxmlformats.org/drawingml/2006/main">
            <a:r>
              <a:t/>
            </a:r>
          </a:p>
          <a:p xmlns:a="http://schemas.openxmlformats.org/drawingml/2006/main">
            <a:r>
              <a:t>Como ejemplo reproducible, ante Leipzig como local, Δ=1748.23−1825.38+60=−17.15. El enlace numérico produce λ₁=1.514991 y λ₂=1.629582. Las probabilidades resultantes son 0.3572455, 0.2361874 y 0.4065671. Su suma es uno; no perder tiene probabilidad 0.5934329.</a:t>
            </a:r>
          </a:p>
          <a:p xmlns:a="http://schemas.openxmlformats.org/drawingml/2006/main">
            <a:r>
              <a:t/>
            </a:r>
          </a:p>
          <a:p xmlns:a="http://schemas.openxmlformats.org/drawingml/2006/main">
            <a:r>
              <a:t>Los puntos esperados en ese partido serían 3P(victoria)+P(empate)=1.307924. No se utilizan esos puntos esperados como resultado de un partido: las simulaciones muestrean un resultado aleatorio para conservar su variabilidad.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La expresión conjunta se deriva al multiplicar las funciones de masa de dos variables Poisson independientes. La suma sobre x&gt;y da la probabilidad de victoria; la suma sobre x=y, la de empate; y la suma sobre x&lt;y, la de derrota. Estas regiones son disjuntas y cubren todos los marcadores posibles.</a:t>
            </a:r>
          </a:p>
          <a:p xmlns:a="http://schemas.openxmlformats.org/drawingml/2006/main">
            <a:r>
              <a:t/>
            </a:r>
          </a:p>
          <a:p xmlns:a="http://schemas.openxmlformats.org/drawingml/2006/main">
            <a:r>
              <a:t>Como ejemplo reproducible, ante Leipzig como local, Δ=1748.23−1825.38+60=−17.15. El enlace numérico produce λ₁=1.514991 y λ₂=1.629582. Las probabilidades resultantes son 0.3572455, 0.2361874 y 0.4065671. Su suma es uno; no perder tiene probabilidad 0.5934329.</a:t>
            </a:r>
          </a:p>
          <a:p xmlns:a="http://schemas.openxmlformats.org/drawingml/2006/main">
            <a:r>
              <a:t/>
            </a:r>
          </a:p>
          <a:p xmlns:a="http://schemas.openxmlformats.org/drawingml/2006/main">
            <a:r>
              <a:t>Los puntos esperados en ese partido serían 3P(victoria)+P(empate)=1.307924. No se utilizan esos puntos esperados como resultado de un partido: las simulaciones muestrean un resultado aleatorio para conservar su variabilidad.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Para generar el resultado de un partido se toma un uniforme U entre cero y uno. Si U&lt;P(victoria), se registra victoria; si queda entre P(victoria) y P(victoria)+P(empate), se registra empate; en el resto, derrota. Repetirlo para los 34 partidos genera una temporada. Las repeticiones usan números pseudoaleatorios con semilla 14643.</a:t>
            </a:r>
          </a:p>
          <a:p xmlns:a="http://schemas.openxmlformats.org/drawingml/2006/main">
            <a:r>
              <a:t/>
            </a:r>
          </a:p>
          <a:p xmlns:a="http://schemas.openxmlformats.org/drawingml/2006/main">
            <a:r>
              <a:t>Bajo independencia condicional, P(A)=∏pⱼ. Agrupar los dos términos contra Bayern y los otros 32 no introduce un nuevo supuesto: solo reorganiza el producto. Se obtiene 0.11738495 × 7.891912 × 10⁻⁶ = 9.263917 × 10⁻⁷.</a:t>
            </a:r>
          </a:p>
          <a:p xmlns:a="http://schemas.openxmlformats.org/drawingml/2006/main">
            <a:r>
              <a:t/>
            </a:r>
          </a:p>
          <a:p xmlns:a="http://schemas.openxmlformats.org/drawingml/2006/main">
            <a:r>
              <a:t>Las N temporadas simuladas producen indicadores Bernoulli independientes con parámetro P(A). En consecuencia, el total de invictos K tiene distribución binomial, esperanza NP(A) y varianza NP(A)(1−P(A)). La estimación Monte Carlo es K/N. El producto analítico es más informativo para eventos tan raros, pues 10 000 repeticiones tienen resolución empírica de 0.0001.</a:t>
            </a:r>
          </a:p>
          <a:p xmlns:a="http://schemas.openxmlformats.org/drawingml/2006/main">
            <a:r>
              <a:t/>
            </a:r>
          </a:p>
          <a:p xmlns:a="http://schemas.openxmlformats.org/drawingml/2006/main">
            <a:r>
              <a:t>Para tener al menos 95 % de probabilidad de observar un invicto con este P(A) se necesitarían aproximadamente 3.23 millones de temporadas: N≥log(0.05)/log(1−P(A)). Esta cantidad describe la resolución necesaria y no supone que se hayan ejecutado esas repeticiones.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Para generar el resultado de un partido se toma un uniforme U entre cero y uno. Si U&lt;P(victoria), se registra victoria; si queda entre P(victoria) y P(victoria)+P(empate), se registra empate; en el resto, derrota. Repetirlo para los 34 partidos genera una temporada. Las repeticiones usan números pseudoaleatorios con semilla 14643.</a:t>
            </a:r>
          </a:p>
          <a:p xmlns:a="http://schemas.openxmlformats.org/drawingml/2006/main">
            <a:r>
              <a:t/>
            </a:r>
          </a:p>
          <a:p xmlns:a="http://schemas.openxmlformats.org/drawingml/2006/main">
            <a:r>
              <a:t>Bajo independencia condicional, P(A)=∏pⱼ. Agrupar los dos términos contra Bayern y los otros 32 no introduce un nuevo supuesto: solo reorganiza el producto. Se obtiene 0.11738495 × 7.891912 × 10⁻⁶ = 9.263917 × 10⁻⁷.</a:t>
            </a:r>
          </a:p>
          <a:p xmlns:a="http://schemas.openxmlformats.org/drawingml/2006/main">
            <a:r>
              <a:t/>
            </a:r>
          </a:p>
          <a:p xmlns:a="http://schemas.openxmlformats.org/drawingml/2006/main">
            <a:r>
              <a:t>Las N temporadas simuladas producen indicadores Bernoulli independientes con parámetro P(A). En consecuencia, el total de invictos K tiene distribución binomial, esperanza NP(A) y varianza NP(A)(1−P(A)). La estimación Monte Carlo es K/N. El producto analítico es más informativo para eventos tan raros, pues 10 000 repeticiones tienen resolución empírica de 0.0001.</a:t>
            </a:r>
          </a:p>
          <a:p xmlns:a="http://schemas.openxmlformats.org/drawingml/2006/main">
            <a:r>
              <a:t/>
            </a:r>
          </a:p>
          <a:p xmlns:a="http://schemas.openxmlformats.org/drawingml/2006/main">
            <a:r>
              <a:t>Para tener al menos 95 % de probabilidad de observar un invicto con este P(A) se necesitarían aproximadamente 3.23 millones de temporadas: N≥log(0.05)/log(1−P(A)). Esta cantidad describe la resolución necesaria y no supone que se hayan ejecutado esas repeticiones.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Para 0&lt;K&lt;N, el límite inferior es el cuantil 0.025 de Beta(K,N−K+1), y el superior el cuantil 0.975 de Beta(K+1,N−K). En K=0 se fija el límite inferior en cero; en K=N, el superior en uno. Estos son intervalos binomiales exactos bilaterales del 95 %, con cobertura al menos nominal y posible conservadurismo.</a:t>
            </a:r>
          </a:p>
          <a:p xmlns:a="http://schemas.openxmlformats.org/drawingml/2006/main">
            <a:r>
              <a:t/>
            </a:r>
          </a:p>
          <a:p xmlns:a="http://schemas.openxmlformats.org/drawingml/2006/main">
            <a:r>
              <a:t>Cuando K=0, resolver P(K=0 | p=U)=0.025 da U=1−0.025 elevado a 1/N. Con 10 000 repeticiones, U=0.0003688199. El valor analítico 0.0000009264 está dentro del intervalo. No es adecuado usar el intervalo normal con el error estándar calculado en p̂=0 porque degeneraría artificialmente.</a:t>
            </a:r>
          </a:p>
          <a:p xmlns:a="http://schemas.openxmlformats.org/drawingml/2006/main">
            <a:r>
              <a:t/>
            </a:r>
          </a:p>
          <a:p xmlns:a="http://schemas.openxmlformats.org/drawingml/2006/main">
            <a:r>
              <a:t>La cobertura del 95 % se refiere a repeticiones del procedimiento bajo un parámetro fijo. No significa que el parámetro tenga una probabilidad posterior de 95 % de estar dentro de este intervalo. Tampoco convierte la simulación en evidencia empírica independiente de los supuestos usados para producirla.</a:t>
            </a:r>
          </a:p>
          <a:p xmlns:a="http://schemas.openxmlformats.org/drawingml/2006/main">
            <a:r>
              <a:t/>
            </a:r>
          </a:p>
          <a:p xmlns:a="http://schemas.openxmlformats.org/drawingml/2006/main">
            <a:r>
              <a:t>Las frecuencias de campeones de las ventanas históricas describen todas las temporadas seleccionadas, no una muestra aleatoria de una liga estacionaria. No se les atribuye automáticamente un intervalo binomial ni se contrasta la diferencia entre ventanas como si fueran dos muestras independientes: la ventana reciente está contenida en la larga.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Para 0&lt;K&lt;N, el límite inferior es el cuantil 0.025 de Beta(K,N−K+1), y el superior el cuantil 0.975 de Beta(K+1,N−K). En K=0 se fija el límite inferior en cero; en K=N, el superior en uno. Estos son intervalos binomiales exactos bilaterales del 95 %, con cobertura al menos nominal y posible conservadurismo.</a:t>
            </a:r>
          </a:p>
          <a:p xmlns:a="http://schemas.openxmlformats.org/drawingml/2006/main">
            <a:r>
              <a:t/>
            </a:r>
          </a:p>
          <a:p xmlns:a="http://schemas.openxmlformats.org/drawingml/2006/main">
            <a:r>
              <a:t>Cuando K=0, resolver P(K=0 | p=U)=0.025 da U=1−0.025 elevado a 1/N. Con 10 000 repeticiones, U=0.0003688199. El valor analítico 0.0000009264 está dentro del intervalo. No es adecuado usar el intervalo normal con el error estándar calculado en p̂=0 porque degeneraría artificialmente.</a:t>
            </a:r>
          </a:p>
          <a:p xmlns:a="http://schemas.openxmlformats.org/drawingml/2006/main">
            <a:r>
              <a:t/>
            </a:r>
          </a:p>
          <a:p xmlns:a="http://schemas.openxmlformats.org/drawingml/2006/main">
            <a:r>
              <a:t>La cobertura del 95 % se refiere a repeticiones del procedimiento bajo un parámetro fijo. No significa que el parámetro tenga una probabilidad posterior de 95 % de estar dentro de este intervalo. Tampoco convierte la simulación en evidencia empírica independiente de los supuestos usados para producirla.</a:t>
            </a:r>
          </a:p>
          <a:p xmlns:a="http://schemas.openxmlformats.org/drawingml/2006/main">
            <a:r>
              <a:t/>
            </a:r>
          </a:p>
          <a:p xmlns:a="http://schemas.openxmlformats.org/drawingml/2006/main">
            <a:r>
              <a:t>Las frecuencias de campeones de las ventanas históricas describen todas las temporadas seleccionadas, no una muestra aleatoria de una liga estacionaria. No se les atribuye automáticamente un intervalo binomial ni se contrasta la diferencia entre ventanas como si fueran dos muestras independientes: la ventana reciente está contenida en la larga.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Para D₁,…,Dₙ independientes y Poisson con una media común λ, la verosimilitud es el producto de sus funciones de masa. Al tomar logaritmos se obtiene la expresión de log-verosimilitud. Su derivada es ∑Dₛ/λ−n; igualarla a cero produce λ̂=∑Dₛ/n. La segunda derivada es negativa para ∑Dₛ&gt;0, de modo que se trata de un máximo.</a:t>
            </a:r>
          </a:p>
          <a:p xmlns:a="http://schemas.openxmlformats.org/drawingml/2006/main">
            <a:r>
              <a:t/>
            </a:r>
          </a:p>
          <a:p xmlns:a="http://schemas.openxmlformats.org/drawingml/2006/main">
            <a:r>
              <a:t>La estimación por sustitución de P(D=0) es e elevado a −λ̂. Para todos los campeones se obtiene 1.05672 %; para Bayern, 1.61635 %; y para otros campeones, 0.65016 %. Son probabilidades ajustadas condicionadas a la categoría del campeón. El cociente entre las dos últimas es aproximadamente 2.49 y no es una prueba de significación estadística.</a:t>
            </a:r>
          </a:p>
          <a:p xmlns:a="http://schemas.openxmlformats.org/drawingml/2006/main">
            <a:r>
              <a:t/>
            </a:r>
          </a:p>
          <a:p xmlns:a="http://schemas.openxmlformats.org/drawingml/2006/main">
            <a:r>
              <a:t>Poisson supone igualdad entre media y varianza, mientras que el cociente observado s²/media es 0.6364 en la muestra global. Se informa como diagnóstico descriptivo, sin asignar un valor p no calculado. La binomial negativa estándar tiene varianza λ+λ²/r, superior a la media: su uso no solucionaría este patrón de subdispersión.</a:t>
            </a:r>
          </a:p>
          <a:p xmlns:a="http://schemas.openxmlformats.org/drawingml/2006/main">
            <a:r>
              <a:t/>
            </a:r>
          </a:p>
          <a:p xmlns:a="http://schemas.openxmlformats.org/drawingml/2006/main">
            <a:r>
              <a:t>Para considerar temporadas de distinta duración se modela Dₛ como Poisson(ρ mₛ), donde mₛ son los partidos. La estimación de la tasa es ρ̂=∑Dₛ/∑mₛ y la probabilidad para una temporada de 34 partidos es exp(−34ρ̂). La base incluye 30, 34 y 38 jornadas, por lo que esta comprobación de exposición es pertinente.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Para D₁,…,Dₙ independientes y Poisson con una media común λ, la verosimilitud es el producto de sus funciones de masa. Al tomar logaritmos se obtiene la expresión de log-verosimilitud. Su derivada es ∑Dₛ/λ−n; igualarla a cero produce λ̂=∑Dₛ/n. La segunda derivada es negativa para ∑Dₛ&gt;0, de modo que se trata de un máximo.</a:t>
            </a:r>
          </a:p>
          <a:p xmlns:a="http://schemas.openxmlformats.org/drawingml/2006/main">
            <a:r>
              <a:t/>
            </a:r>
          </a:p>
          <a:p xmlns:a="http://schemas.openxmlformats.org/drawingml/2006/main">
            <a:r>
              <a:t>La estimación por sustitución de P(D=0) es e elevado a −λ̂. Para todos los campeones se obtiene 1.05672 %; para Bayern, 1.61635 %; y para otros campeones, 0.65016 %. Son probabilidades ajustadas condicionadas a la categoría del campeón. El cociente entre las dos últimas es aproximadamente 2.49 y no es una prueba de significación estadística.</a:t>
            </a:r>
          </a:p>
          <a:p xmlns:a="http://schemas.openxmlformats.org/drawingml/2006/main">
            <a:r>
              <a:t/>
            </a:r>
          </a:p>
          <a:p xmlns:a="http://schemas.openxmlformats.org/drawingml/2006/main">
            <a:r>
              <a:t>Poisson supone igualdad entre media y varianza, mientras que el cociente observado s²/media es 0.6364 en la muestra global. Se informa como diagnóstico descriptivo, sin asignar un valor p no calculado. La binomial negativa estándar tiene varianza λ+λ²/r, superior a la media: su uso no solucionaría este patrón de subdispersión.</a:t>
            </a:r>
          </a:p>
          <a:p xmlns:a="http://schemas.openxmlformats.org/drawingml/2006/main">
            <a:r>
              <a:t/>
            </a:r>
          </a:p>
          <a:p xmlns:a="http://schemas.openxmlformats.org/drawingml/2006/main">
            <a:r>
              <a:t>Para considerar temporadas de distinta duración se modela Dₛ como Poisson(ρ mₛ), donde mₛ son los partidos. La estimación de la tasa es ρ̂=∑Dₛ/∑mₛ y la probabilidad para una temporada de 34 partidos es exp(−34ρ̂). La base incluye 30, 34 y 38 jornadas, por lo que esta comprobación de exposición es pertinente.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Se reconstruye el marcador por orden temporal. Un partido es rescatado si existe una desventaja después del minuto 85 y el marcador final deja a Leverkusen sin derrota. Si ya pierde al minuto 85, se inicia allí; si empieza a perder más tarde, se usa ese primer estado desfavorable. El déficit dᵢ es positivo.</a:t>
            </a:r>
          </a:p>
          <a:p xmlns:a="http://schemas.openxmlformats.org/drawingml/2006/main">
            <a:r>
              <a:t/>
            </a:r>
          </a:p>
          <a:p xmlns:a="http://schemas.openxmlformats.org/drawingml/2006/main">
            <a:r>
              <a:t>Las tasas rₐ y rᵣ son goles por 90 minutos para la condición local o visitante, estimadas con partidos históricos de liga. Escalarlas por Tᵢ/90 supone intensidad constante. La diferencia entre los futuros goles de ambos equipos sigue una Skellam; su cola desde dᵢ calcula la probabilidad de alcanzar al menos un empate final, permitiendo también nuevos goles del adversario.</a:t>
            </a:r>
          </a:p>
          <a:p xmlns:a="http://schemas.openxmlformats.org/drawingml/2006/main">
            <a:r>
              <a:t/>
            </a:r>
          </a:p>
          <a:p xmlns:a="http://schemas.openxmlformats.org/drawingml/2006/main">
            <a:r>
              <a:t>El tiempo Tᵢ incluye el añadido efectivamente observado. Por tanto, qᵢ es un diagnóstico retrospectivo condicionado a esa duración, no un pronóstico realizado en el minuto 85 sin conocer el final. Las sensibilidades con añadido fijo muestran cómo cambia el cálculo si se modifica esa información.</a:t>
            </a:r>
          </a:p>
          <a:p xmlns:a="http://schemas.openxmlformats.org/drawingml/2006/main">
            <a:r>
              <a:t/>
            </a:r>
          </a:p>
          <a:p xmlns:a="http://schemas.openxmlformats.org/drawingml/2006/main">
            <a:r>
              <a:t>El producto Q=0.0006781737 y su inverso 1474.55 resumen la rareza conjunta de esos estados bajo independencia. Multiplicar P(A) por Q produce el índice solicitado 6.282545 × 10⁻¹⁰, pero puede volver a ponderar dificultades ya incluidas en los partidos. No es una probabilidad causal identificada del invicto sin suerte, ni permite concluir que sin goles tardíos todos los encuentros habrían terminado necesariamente en derrota.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Se reconstruye el marcador por orden temporal. Un partido es rescatado si existe una desventaja después del minuto 85 y el marcador final deja a Leverkusen sin derrota. Si ya pierde al minuto 85, se inicia allí; si empieza a perder más tarde, se usa ese primer estado desfavorable. El déficit dᵢ es positivo.</a:t>
            </a:r>
          </a:p>
          <a:p xmlns:a="http://schemas.openxmlformats.org/drawingml/2006/main">
            <a:r>
              <a:t/>
            </a:r>
          </a:p>
          <a:p xmlns:a="http://schemas.openxmlformats.org/drawingml/2006/main">
            <a:r>
              <a:t>Las tasas rₐ y rᵣ son goles por 90 minutos para la condición local o visitante, estimadas con partidos históricos de liga. Escalarlas por Tᵢ/90 supone intensidad constante. La diferencia entre los futuros goles de ambos equipos sigue una Skellam; su cola desde dᵢ calcula la probabilidad de alcanzar al menos un empate final, permitiendo también nuevos goles del adversario.</a:t>
            </a:r>
          </a:p>
          <a:p xmlns:a="http://schemas.openxmlformats.org/drawingml/2006/main">
            <a:r>
              <a:t/>
            </a:r>
          </a:p>
          <a:p xmlns:a="http://schemas.openxmlformats.org/drawingml/2006/main">
            <a:r>
              <a:t>El tiempo Tᵢ incluye el añadido efectivamente observado. Por tanto, qᵢ es un diagnóstico retrospectivo condicionado a esa duración, no un pronóstico realizado en el minuto 85 sin conocer el final. Las sensibilidades con añadido fijo muestran cómo cambia el cálculo si se modifica esa información.</a:t>
            </a:r>
          </a:p>
          <a:p xmlns:a="http://schemas.openxmlformats.org/drawingml/2006/main">
            <a:r>
              <a:t/>
            </a:r>
          </a:p>
          <a:p xmlns:a="http://schemas.openxmlformats.org/drawingml/2006/main">
            <a:r>
              <a:t>El producto Q=0.0006781737 y su inverso 1474.55 resumen la rareza conjunta de esos estados bajo independencia. Multiplicar P(A) por Q produce el índice solicitado 6.282545 × 10⁻¹⁰, pero puede volver a ponderar dificultades ya incluidas en los partidos. No es una probabilidad causal identificada del invicto sin suerte, ni permite concluir que sin goles tardíos todos los encuentros habrían terminado necesariamente en derrota.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ClubElo mediante el archivo de Ádám Gábor. https://github.com/xgabora/Club-Football-Match-Data/blob/main/data/EloRatings.csv . Corte 2023-08-15. API original no disponible durante la consulta. Cálculo en outputs/results.json.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 Página impresa 118, página 134 del PDF. Recorte de la fórmula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ClubElo mediante el archivo de Ádám Gábor. https://github.com/xgabora/Club-Football-Match-Data/blob/main/data/EloRatings.csv . Corte 2023-08-15. API original no disponible durante la consulta. Semilla 14643. outputs/leverkusen_10000.csv.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 Página impresa 124, página 140 del PDF. Recorte de la fórmula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James P. Curley, engsoccerdata. https://github.com/jalapic/engsoccerdata . Cálculos en data/processed/champions_1964_2023.csv. Goldsman, David y Paul (2024). A First Course in Probability and Statistics. Capítulos 1, 4, 5 y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James P. Curley, engsoccerdata. https://github.com/jalapic/engsoccerdata . Cálculos en data/processed/champions_1964_2023.csv. ClubElo mediante el archivo de Ádám Gábor. https://github.com/xgabora/Club-Football-Match-Data/blob/main/data/EloRatings.csv . Corte 2023-08-15. API original no disponible durante la consulta.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Hudl StatsBomb Open Data. https://github.com/statsbomb/open-data . Competición 9, temporada 281, 34 partidos. Relojes de eventos con segundos.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Hudl StatsBomb Open Data. https://github.com/statsbomb/open-data . Competición 9, temporada 281, 34 partidos. Relojes de eventos con segundos. Tasas históricas de liga 2018/19–2022/23. Duración restante observada.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Hudl StatsBomb Open Data. https://github.com/statsbomb/open-data . Competición 9, temporada 281, 34 partidos. Relojes de eventos con segundos.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James P. Curley, engsoccerdata. https://github.com/jalapic/engsoccerdata . Cálculos en data/processed/champions_1964_2023.csv.</a:t>
            </a:r>
          </a:p>
          <a:p xmlns:a="http://schemas.openxmlformats.org/drawingml/2006/main">
            <a:r>
              <a:t>ClubElo mediante el archivo de Ádám Gábor. https://github.com/xgabora/Club-Football-Match-Data/blob/main/data/EloRatings.csv . Corte 2023-08-15. API original no disponible durante la consulta.</a:t>
            </a:r>
          </a:p>
          <a:p xmlns:a="http://schemas.openxmlformats.org/drawingml/2006/main">
            <a:r>
              <a:t>Hudl StatsBomb Open Data. https://github.com/statsbomb/open-data . Competición 9, temporada 281, 34 partidos. Relojes de eventos con segundos.</a:t>
            </a:r>
          </a:p>
          <a:p xmlns:a="http://schemas.openxmlformats.org/drawingml/2006/main">
            <a:r>
              <a:t>World Football Elo Ratings. https://www.eloratings.net/ . Historiales TSV anteriores a 2023-11-15 y 2026-06-11.</a:t>
            </a:r>
          </a:p>
          <a:p xmlns:a="http://schemas.openxmlformats.org/drawingml/2006/main">
            <a:r>
              <a:t>CAF: https://www.cafonline.com/news/everything-you-need-to-know-about-2026-world-cup-qualifying-for-africa/ . FIFA: https://www.fifa.com/es/tournaments/mens/worldcup/canadamexicousa2026/articles/grupos-como-funcionan-clasificacion-criterios-desempate . Desempates residuales simulados por sorteo.</a:t>
            </a:r>
          </a:p>
          <a:p xmlns:a="http://schemas.openxmlformats.org/drawingml/2006/main">
            <a:r>
              <a:t>Goldsman, David y Paul (2024). A First Course in Probability and Statistics. Capítulos 1, 4, 5 y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Ilustración editorial. La ruta eliminatoria del ejercicio se trata como contrafactual.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World Football Elo Ratings. https://www.eloratings.net/ . Historiales TSV anteriores a 2023-11-15 y 2026-06-11. CAF: https://www.cafonline.com/news/everything-you-need-to-know-about-2026-world-cup-qualifying-for-africa/ . FIFA: https://www.fifa.com/es/tournaments/mens/worldcup/canadamexicousa2026/articles/grupos-como-funcionan-clasificacion-criterios-desempate . Desempates residuales simulados por sorteo.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World Football Elo Ratings. https://www.eloratings.net/ . Historiales TSV anteriores a 2023-11-15 y 2026-06-11. CAF: https://www.cafonline.com/news/everything-you-need-to-know-about-2026-world-cup-qualifying-for-africa/ . FIFA: https://www.fifa.com/es/tournaments/mens/worldcup/canadamexicousa2026/articles/grupos-como-funcionan-clasificacion-criterios-desempate . Desempates residuales simulados por sorteo.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 Glosario de símbolos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 Glosario de símbolos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 Glosario de símbolos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 Glosario de símbolos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https://clubelo.com/System · Goldsman, capítulos 1 y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https://clubelo.com/System · Goldsman, capítulos 1 y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World Football Elo Ratings. https://www.eloratings.net/ . Historiales TSV anteriores a 2023-11-15 y 2026-06-11. CAF: https://www.cafonline.com/news/everything-you-need-to-know-about-2026-world-cup-qualifying-for-africa/ . FIFA: https://www.fifa.com/es/tournaments/mens/worldcup/canadamexicousa2026/articles/grupos-como-funcionan-clasificacion-criterios-desempate . Desempates residuales simulados por sorteo.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World Football Elo Ratings. https://www.eloratings.net/ . Historiales TSV anteriores a 2023-11-15 y 2026-06-11. Modelo propio. 10 000 simulaciones.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World Football Elo Ratings. https://www.eloratings.net/ . Historiales TSV anteriores a 2023-11-15 y 2026-06-11. CAF: https://www.cafonline.com/news/everything-you-need-to-know-about-2026-world-cup-qualifying-for-africa/ . FIFA: https://www.fifa.com/es/tournaments/mens/worldcup/canadamexicousa2026/articles/grupos-como-funcionan-clasificacion-criterios-desempate . Desempates residuales simulados por sorteo.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World Football Elo Ratings. https://www.eloratings.net/ . Historiales TSV anteriores a 2023-11-15 y 2026-06-11. CAF: https://www.cafonline.com/news/everything-you-need-to-know-about-2026-world-cup-qualifying-for-africa/ . FIFA: https://www.fifa.com/es/tournaments/mens/worldcup/canadamexicousa2026/articles/grupos-como-funcionan-clasificacion-criterios-desempate . Desempates residuales simulados por sorteo.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World Football Elo Ratings. https://www.eloratings.net/ . Historiales TSV anteriores a 2023-11-15 y 2026-06-11. Modelo condicionado a marcadores k–k.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World Football Elo Ratings. https://www.eloratings.net/ . Historiales TSV anteriores a 2023-11-15 y 2026-06-11. Supuesto del ejercicio: todo empate implica avanzar en penales.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World Football Elo Ratings. https://www.eloratings.net/ . Historiales TSV anteriores a 2023-11-15 y 2026-06-11. Productos para la ruta fija del ejercicio.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La clasificación directa no se modela como ganar individualmente los diez partidos. Se generan los marcadores de los 30 encuentros entre las seis selecciones, se acumulan puntos y se ordena la tabla. Cabo Verde clasifica cuando ocupa la primera posición, aunque haya empatado o perdido algunos encuentros.</a:t>
            </a:r>
          </a:p>
          <a:p xmlns:a="http://schemas.openxmlformats.org/drawingml/2006/main">
            <a:r>
              <a:t/>
            </a:r>
          </a:p>
          <a:p xmlns:a="http://schemas.openxmlformats.org/drawingml/2006/main">
            <a:r>
              <a:t>El simulador prioriza puntos, diferencia de goles y goles a favor en la eliminatoria; después usa una minitabla entre empatados y un sorteo residual. El ordenamiento del Mundial prioriza la minitabla entre equipos igualados a puntos, después diferencia de goles y goles generales, con sorteo residual. No reproduce disciplina ni todas las posibles reaplicaciones de criterios: es una aproximación explícita del reglamento.</a:t>
            </a:r>
          </a:p>
          <a:p xmlns:a="http://schemas.openxmlformats.org/drawingml/2006/main">
            <a:r>
              <a:t/>
            </a:r>
          </a:p>
          <a:p xmlns:a="http://schemas.openxmlformats.org/drawingml/2006/main">
            <a:r>
              <a:t>El cálculo produce 1288 clasificaciones directas en 10 000 repeticiones, p̂=0.1288. Su error estándar Monte Carlo aproximado es 0.003350, equivalente a 0.335 puntos porcentuales. El intervalo binomial exacto del 95 % es [0.122293,0.135524]. La estimación describe una posibilidad minoritaria bajo el modelo, no una imposibilidad ni una prueba de que el resultado real fuera anómalo.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La clasificación directa no se modela como ganar individualmente los diez partidos. Se generan los marcadores de los 30 encuentros entre las seis selecciones, se acumulan puntos y se ordena la tabla. Cabo Verde clasifica cuando ocupa la primera posición, aunque haya empatado o perdido algunos encuentros.</a:t>
            </a:r>
          </a:p>
          <a:p xmlns:a="http://schemas.openxmlformats.org/drawingml/2006/main">
            <a:r>
              <a:t/>
            </a:r>
          </a:p>
          <a:p xmlns:a="http://schemas.openxmlformats.org/drawingml/2006/main">
            <a:r>
              <a:t>El simulador prioriza puntos, diferencia de goles y goles a favor en la eliminatoria; después usa una minitabla entre empatados y un sorteo residual. El ordenamiento del Mundial prioriza la minitabla entre equipos igualados a puntos, después diferencia de goles y goles generales, con sorteo residual. No reproduce disciplina ni todas las posibles reaplicaciones de criterios: es una aproximación explícita del reglamento.</a:t>
            </a:r>
          </a:p>
          <a:p xmlns:a="http://schemas.openxmlformats.org/drawingml/2006/main">
            <a:r>
              <a:t/>
            </a:r>
          </a:p>
          <a:p xmlns:a="http://schemas.openxmlformats.org/drawingml/2006/main">
            <a:r>
              <a:t>El cálculo produce 1288 clasificaciones directas en 10 000 repeticiones, p̂=0.1288. Su error estándar Monte Carlo aproximado es 0.003350, equivalente a 0.335 puntos porcentuales. El intervalo binomial exacto del 95 % es [0.122293,0.135524]. La estimación describe una posibilidad minoritaria bajo el modelo, no una imposibilidad ni una prueba de que el resultado real fuera anómalo.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La igualdad de goles es un evento al que se condiciona la distribución conjunta. La probabilidad de cada empate k–k se normaliza dividiendo por la probabilidad total de empate. El código evalúa los valores k=0,…,24, cuyo peso omitido es despreciable para las tasas utilizadas; esto es una aproximación numérica de la suma infinita.</a:t>
            </a:r>
          </a:p>
          <a:p xmlns:a="http://schemas.openxmlformats.org/drawingml/2006/main">
            <a:r>
              <a:t/>
            </a:r>
          </a:p>
          <a:p xmlns:a="http://schemas.openxmlformats.org/drawingml/2006/main">
            <a:r>
              <a:t>Para el Mundial se generan doce grupos de cuatro equipos, seis partidos por grupo. Avanzan los dos primeros de cada grupo y ocho terceros ordenados por puntos, diferencia de goles y goles a favor, con sorteo residual. Simular únicamente el grupo H no permite identificar la probabilidad de ser uno de los ocho mejores terceros.</a:t>
            </a:r>
          </a:p>
          <a:p xmlns:a="http://schemas.openxmlformats.org/drawingml/2006/main">
            <a:r>
              <a:t/>
            </a:r>
          </a:p>
          <a:p xmlns:a="http://schemas.openxmlformats.org/drawingml/2006/main">
            <a:r>
              <a:t>Sea D el evento de tres empates y U el evento de que Uruguay no pierda ante España. La estimación de P(A | D,U) es el número de simulaciones con avance, D y U dividido por el número con D y U. Las simulaciones condicionadas a D ya fijan ese evento mediante muestreo directo, por lo que conservan muchas más repeticiones útiles que filtrar un evento raro en una corrida no condicionada.</a:t>
            </a:r>
          </a:p>
          <a:p xmlns:a="http://schemas.openxmlformats.org/drawingml/2006/main">
            <a:r>
              <a:t/>
            </a:r>
          </a:p>
          <a:p xmlns:a="http://schemas.openxmlformats.org/drawingml/2006/main">
            <a:r>
              <a:t>Las tres condiciones no son intercambiables: P(D), P(A | D) y P(A | D, tercer puesto) tienen denominadores distintos. Tampoco se interpreta la diferencia entre P(A | D) y P(A) como efecto causal de una intervención que obligue a empatar.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La igualdad de goles es un evento al que se condiciona la distribución conjunta. La probabilidad de cada empate k–k se normaliza dividiendo por la probabilidad total de empate. El código evalúa los valores k=0,…,24, cuyo peso omitido es despreciable para las tasas utilizadas; esto es una aproximación numérica de la suma infinita.</a:t>
            </a:r>
          </a:p>
          <a:p xmlns:a="http://schemas.openxmlformats.org/drawingml/2006/main">
            <a:r>
              <a:t/>
            </a:r>
          </a:p>
          <a:p xmlns:a="http://schemas.openxmlformats.org/drawingml/2006/main">
            <a:r>
              <a:t>Para el Mundial se generan doce grupos de cuatro equipos, seis partidos por grupo. Avanzan los dos primeros de cada grupo y ocho terceros ordenados por puntos, diferencia de goles y goles a favor, con sorteo residual. Simular únicamente el grupo H no permite identificar la probabilidad de ser uno de los ocho mejores terceros.</a:t>
            </a:r>
          </a:p>
          <a:p xmlns:a="http://schemas.openxmlformats.org/drawingml/2006/main">
            <a:r>
              <a:t/>
            </a:r>
          </a:p>
          <a:p xmlns:a="http://schemas.openxmlformats.org/drawingml/2006/main">
            <a:r>
              <a:t>Sea D el evento de tres empates y U el evento de que Uruguay no pierda ante España. La estimación de P(A | D,U) es el número de simulaciones con avance, D y U dividido por el número con D y U. Las simulaciones condicionadas a D ya fijan ese evento mediante muestreo directo, por lo que conservan muchas más repeticiones útiles que filtrar un evento raro en una corrida no condicionada.</a:t>
            </a:r>
          </a:p>
          <a:p xmlns:a="http://schemas.openxmlformats.org/drawingml/2006/main">
            <a:r>
              <a:t/>
            </a:r>
          </a:p>
          <a:p xmlns:a="http://schemas.openxmlformats.org/drawingml/2006/main">
            <a:r>
              <a:t>Las tres condiciones no son intercambiables: P(D), P(A | D) y P(A | D, tercer puesto) tienen denominadores distintos. Tampoco se interpreta la diferencia entre P(A | D) y P(A) como efecto causal de una intervención que obligue a empatar.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El intervalo exacto del escenario no condicionado es [22.5336 %,24.2020 %]; para tres empates, [94.8772 %,95.7161 %]. En los escenarios filtrados se recalcula el intervalo con su tamaño efectivo, no se conserva artificialmente un denominador de 10 000.</a:t>
            </a:r>
          </a:p>
          <a:p xmlns:a="http://schemas.openxmlformats.org/drawingml/2006/main">
            <a:r>
              <a:t/>
            </a:r>
          </a:p>
          <a:p xmlns:a="http://schemas.openxmlformats.org/drawingml/2006/main">
            <a:r>
              <a:t>La probabilidad analítica de tres empates es 0.00148934. Condicionado a ellos, la clasificación es alta bajo esta simulación, en parte porque la diferencia de goles es cero. Esto no equivale a afirmar que cualquier tercero con tres puntos tenga la misma probabilidad: tres puntos obtenidos mediante una victoria y dos derrotas pueden implicar una diferencia negativa.</a:t>
            </a:r>
          </a:p>
          <a:p xmlns:a="http://schemas.openxmlformats.org/drawingml/2006/main">
            <a:r>
              <a:t/>
            </a:r>
          </a:p>
          <a:p xmlns:a="http://schemas.openxmlformats.org/drawingml/2006/main">
            <a:r>
              <a:t>La combinación de la probabilidad analítica de D con la frecuencia condicional de A permite aproximar P(A∩D)=P(D)P(A | D)≈0.0014195, es decir, 0.14195 %. Esta identidad contrasta la baja frecuencia del camino concreto de tres empates con su elevada probabilidad de avance una vez observado ese camino.</a:t>
            </a:r>
          </a:p>
          <a:p xmlns:a="http://schemas.openxmlformats.org/drawingml/2006/main">
            <a:r>
              <a:t/>
            </a:r>
          </a:p>
          <a:p xmlns:a="http://schemas.openxmlformats.org/drawingml/2006/main">
            <a:r>
              <a:t>Las barras son estimaciones condicionales, no observaciones de miles de Mundiales reales. Su precisión Monte Carlo no valida las valoraciones Elo, la tasa base de goles ni la aproximación de los desempates.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El intervalo exacto del escenario no condicionado es [22.5336 %,24.2020 %]; para tres empates, [94.8772 %,95.7161 %]. En los escenarios filtrados se recalcula el intervalo con su tamaño efectivo, no se conserva artificialmente un denominador de 10 000.</a:t>
            </a:r>
          </a:p>
          <a:p xmlns:a="http://schemas.openxmlformats.org/drawingml/2006/main">
            <a:r>
              <a:t/>
            </a:r>
          </a:p>
          <a:p xmlns:a="http://schemas.openxmlformats.org/drawingml/2006/main">
            <a:r>
              <a:t>La probabilidad analítica de tres empates es 0.00148934. Condicionado a ellos, la clasificación es alta bajo esta simulación, en parte porque la diferencia de goles es cero. Esto no equivale a afirmar que cualquier tercero con tres puntos tenga la misma probabilidad: tres puntos obtenidos mediante una victoria y dos derrotas pueden implicar una diferencia negativa.</a:t>
            </a:r>
          </a:p>
          <a:p xmlns:a="http://schemas.openxmlformats.org/drawingml/2006/main">
            <a:r>
              <a:t/>
            </a:r>
          </a:p>
          <a:p xmlns:a="http://schemas.openxmlformats.org/drawingml/2006/main">
            <a:r>
              <a:t>La combinación de la probabilidad analítica de D con la frecuencia condicional de A permite aproximar P(A∩D)=P(D)P(A | D)≈0.0014195, es decir, 0.14195 %. Esta identidad contrasta la baja frecuencia del camino concreto de tres empates con su elevada probabilidad de avance una vez observado ese camino.</a:t>
            </a:r>
          </a:p>
          <a:p xmlns:a="http://schemas.openxmlformats.org/drawingml/2006/main">
            <a:r>
              <a:t/>
            </a:r>
          </a:p>
          <a:p xmlns:a="http://schemas.openxmlformats.org/drawingml/2006/main">
            <a:r>
              <a:t>Las barras son estimaciones condicionales, no observaciones de miles de Mundiales reales. Su precisión Monte Carlo no valida las valoraciones Elo, la tasa base de goles ni la aproximación de los desempates.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Sean wᵢ y dᵢ las probabilidades de victoria y empate en 90 minutos frente al rival i. La regla del ejercicio garantiza avanzar por penales en cada empate, por lo que el factor por ronda es wᵢ+dᵢ. Bajo fuerzas constantes e independencia condicional, multiplicar los cuatro factores obtiene la probabilidad de superar consecutivamente Egipto, Suiza, Inglaterra y España.</a:t>
            </a:r>
          </a:p>
          <a:p xmlns:a="http://schemas.openxmlformats.org/drawingml/2006/main">
            <a:r>
              <a:t/>
            </a:r>
          </a:p>
          <a:p xmlns:a="http://schemas.openxmlformats.org/drawingml/2006/main">
            <a:r>
              <a:t>La simulación de 10 000 rutas produjo tres títulos. Se obtiene p̂=0.0003, diferente del producto analítico por variación Monte Carlo; no se deben exigir cifras idénticas. El intervalo exacto de esa frecuencia incluye el producto. Para este evento raro, el resultado analítico 0.000587369 es el estimador principal del modelo especificado.</a:t>
            </a:r>
          </a:p>
          <a:p xmlns:a="http://schemas.openxmlformats.org/drawingml/2006/main">
            <a:r>
              <a:t/>
            </a:r>
          </a:p>
          <a:p xmlns:a="http://schemas.openxmlformats.org/drawingml/2006/main">
            <a:r>
              <a:t>Incluir Argentina añade un factor 0.06943654 y produce 0.0000407849. Partir de la fase de grupos añade su probabilidad de avance; partir de la eliminatoria africana añade además su probabilidad de clasificación. Estas combinaciones conservan la ruta fija del ejercicio y requieren los supuestos de enlace entre etapas.</a:t>
            </a:r>
          </a:p>
          <a:p xmlns:a="http://schemas.openxmlformats.org/drawingml/2006/main">
            <a:r>
              <a:t/>
            </a:r>
          </a:p>
          <a:p xmlns:a="http://schemas.openxmlformats.org/drawingml/2006/main">
            <a:r>
              <a:t>Como contraste de la regla de penales, se puede reemplazar cada factor por wᵢ+0.5dᵢ, ignorando prórroga. Esta alternativa identifica el efecto del supuesto dentro del modelo, no estima la habilidad real de Cabo Verde para ejecutar penales.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Goldsman, David y Paul (2024). A First Course in Probability and Statistics. Capítulos 1, 4, 5 y 6.</a:t>
            </a:r>
          </a:p>
          <a:p xmlns:a="http://schemas.openxmlformats.org/drawingml/2006/main">
            <a:r>
              <a:t>Sean wᵢ y dᵢ las probabilidades de victoria y empate en 90 minutos frente al rival i. La regla del ejercicio garantiza avanzar por penales en cada empate, por lo que el factor por ronda es wᵢ+dᵢ. Bajo fuerzas constantes e independencia condicional, multiplicar los cuatro factores obtiene la probabilidad de superar consecutivamente Egipto, Suiza, Inglaterra y España.</a:t>
            </a:r>
          </a:p>
          <a:p xmlns:a="http://schemas.openxmlformats.org/drawingml/2006/main">
            <a:r>
              <a:t/>
            </a:r>
          </a:p>
          <a:p xmlns:a="http://schemas.openxmlformats.org/drawingml/2006/main">
            <a:r>
              <a:t>La simulación de 10 000 rutas produjo tres títulos. Se obtiene p̂=0.0003, diferente del producto analítico por variación Monte Carlo; no se deben exigir cifras idénticas. El intervalo exacto de esa frecuencia incluye el producto. Para este evento raro, el resultado analítico 0.000587369 es el estimador principal del modelo especificado.</a:t>
            </a:r>
          </a:p>
          <a:p xmlns:a="http://schemas.openxmlformats.org/drawingml/2006/main">
            <a:r>
              <a:t/>
            </a:r>
          </a:p>
          <a:p xmlns:a="http://schemas.openxmlformats.org/drawingml/2006/main">
            <a:r>
              <a:t>Incluir Argentina añade un factor 0.06943654 y produce 0.0000407849. Partir de la fase de grupos añade su probabilidad de avance; partir de la eliminatoria africana añade además su probabilidad de clasificación. Estas combinaciones conservan la ruta fija del ejercicio y requieren los supuestos de enlace entre etapas.</a:t>
            </a:r>
          </a:p>
          <a:p xmlns:a="http://schemas.openxmlformats.org/drawingml/2006/main">
            <a:r>
              <a:t/>
            </a:r>
          </a:p>
          <a:p xmlns:a="http://schemas.openxmlformats.org/drawingml/2006/main">
            <a:r>
              <a:t>Como contraste de la regla de penales, se puede reemplazar cada factor por wᵢ+0.5dᵢ, ignorando prórroga. Esta alternativa identifica el efecto del supuesto dentro del modelo, no estima la habilidad real de Cabo Verde para ejecutar penales.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Sustituciones calculadas desde outputs/results.json y los datos procesados.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James P. Curley, engsoccerdata. https://github.com/jalapic/engsoccerdata . Cálculos en data/processed/champions_1964_2023.csv.</a:t>
            </a:r>
          </a:p>
          <a:p xmlns:a="http://schemas.openxmlformats.org/drawingml/2006/main">
            <a:r>
              <a:t>ClubElo mediante el archivo de Ádám Gábor. https://github.com/xgabora/Club-Football-Match-Data/blob/main/data/EloRatings.csv . Corte 2023-08-15. API original no disponible durante la consulta.</a:t>
            </a:r>
          </a:p>
          <a:p xmlns:a="http://schemas.openxmlformats.org/drawingml/2006/main">
            <a:r>
              <a:t>Hudl StatsBomb Open Data. https://github.com/statsbomb/open-data . Competición 9, temporada 281, 34 partidos. Relojes de eventos con segundos.</a:t>
            </a:r>
          </a:p>
          <a:p xmlns:a="http://schemas.openxmlformats.org/drawingml/2006/main">
            <a:r>
              <a:t>World Football Elo Ratings. https://www.eloratings.net/ . Historiales TSV anteriores a 2023-11-15 y 2026-06-11.</a:t>
            </a:r>
          </a:p>
          <a:p xmlns:a="http://schemas.openxmlformats.org/drawingml/2006/main">
            <a:r>
              <a:t>CAF: https://www.cafonline.com/news/everything-you-need-to-know-about-2026-world-cup-qualifying-for-africa/ . FIFA: https://www.fifa.com/es/tournaments/mens/worldcup/canadamexicousa2026/articles/grupos-como-funcionan-clasificacion-criterios-desempate . Desempates residuales simulados por sorteo.</a:t>
            </a:r>
          </a:p>
          <a:p xmlns:a="http://schemas.openxmlformats.org/drawingml/2006/main">
            <a:r>
              <a:t>Goldsman, David y Paul (2024). A First Course in Probability and Statistics. Capítulos 1, 4, 5 y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https://clubelo.com/System</a:t>
            </a:r>
          </a:p>
          <a:p xmlns:a="http://schemas.openxmlformats.org/drawingml/2006/main">
            <a:r>
              <a:t>https://gwern.net/doc/statistics/order/comparison/1978-elo-theratingofchessplayerspastandpresent.pdf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https://github.com/jalapic/engsoccerdata</a:t>
            </a:r>
          </a:p>
          <a:p xmlns:a="http://schemas.openxmlformats.org/drawingml/2006/main">
            <a:r>
              <a:t>https://github.com/xgabora/Club-Football-Match-Data/blob/main/data/EloRatings.csv</a:t>
            </a:r>
          </a:p>
          <a:p xmlns:a="http://schemas.openxmlformats.org/drawingml/2006/main">
            <a:r>
              <a:t>https://github.com/statsbomb/open-data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https://www.eloratings.net/</a:t>
            </a:r>
          </a:p>
          <a:p xmlns:a="http://schemas.openxmlformats.org/drawingml/2006/main">
            <a:r>
              <a:t>https://www.cafonline.com/news/everything-you-need-to-know-about-2026-world-cup-qualifying-for-africa/</a:t>
            </a:r>
          </a:p>
          <a:p xmlns:a="http://schemas.openxmlformats.org/drawingml/2006/main">
            <a:r>
              <a:t>https://www.fifa.com/es/tournaments/mens/worldcup/canadamexicousa2026/articles/grupos-como-funcionan-clasificacion-criterios-desempate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https://docs.scipy.org/doc/scipy/reference/generated/scipy.stats.skellam.html</a:t>
            </a:r>
          </a:p>
          <a:p xmlns:a="http://schemas.openxmlformats.org/drawingml/2006/main">
            <a:r>
              <a:t>https://docs.scipy.org/doc/scipy/reference/generated/scipy.stats.poisson.html</a:t>
            </a:r>
          </a:p>
          <a:p xmlns:a="http://schemas.openxmlformats.org/drawingml/2006/main">
            <a:r>
              <a:t>https://www.dsfs.de/wp-content/uploads/2024/01/Bundesliga_Geschichte_Tabellen.pdf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Gráfica generada por src/analyze.py (champions.png). Bayern Múnich acumula 32 de los 60 títulos. El resto se reparte entre once clubes.</a:t>
            </a:r>
          </a:p>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Gráfica generada por src/analyze.py (timeline.png). Rojo: Bayern Múnich. Azul: cualquier otro campeón.</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443ca9da8e45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4fb9f4584f4e3a" /><Relationship Type="http://schemas.openxmlformats.org/officeDocument/2006/relationships/slideLayout" Target="/ppt/slideLayouts/slideLayout1.xml" Id="R0a1949e8a0904f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a1949e8a0904f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216103d8abb34e94"/><Relationship Type="http://schemas.openxmlformats.org/officeDocument/2006/relationships/image" Target="/ppt/media/image.png" Id="R21a027108bd84417"/><Relationship Type="http://schemas.openxmlformats.org/officeDocument/2006/relationships/notesSlide" Target="/ppt/notesSlides/notesSlide1.xml" Id="R67f96e10fcf3418a"/></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d7ff0e03a2cf4c4c"/><Relationship Type="http://schemas.openxmlformats.org/officeDocument/2006/relationships/notesSlide" Target="/ppt/notesSlides/notesSlide2.xml" Id="R586e03cb88204dd1"/></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5873d6359f2d4715"/><Relationship Type="http://schemas.openxmlformats.org/officeDocument/2006/relationships/notesSlide" Target="/ppt/notesSlides/notesSlide3.xml" Id="R20e37afa9b824ad1"/></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803a410f3c8c477c"/><Relationship Type="http://schemas.openxmlformats.org/officeDocument/2006/relationships/notesSlide" Target="/ppt/notesSlides/notesSlide4.xml" Id="R693cf50362f74b31"/></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06305f379e724ebe"/><Relationship Type="http://schemas.openxmlformats.org/officeDocument/2006/relationships/notesSlide" Target="/ppt/notesSlides/notesSlide5.xml" Id="R36db8cf2dd6e498c"/></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eee1b52c51f44005"/><Relationship Type="http://schemas.openxmlformats.org/officeDocument/2006/relationships/notesSlide" Target="/ppt/notesSlides/notesSlide6.xml" Id="Ra76ca44e7ca945c7"/></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198400e36ae547cf"/><Relationship Type="http://schemas.openxmlformats.org/officeDocument/2006/relationships/notesSlide" Target="/ppt/notesSlides/notesSlide7.xml" Id="Rd8377caee58940de"/></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f041734fd32b4b74"/><Relationship Type="http://schemas.openxmlformats.org/officeDocument/2006/relationships/chart" Target="/ppt/slides/charts/chart1.xml" Id="R4fa179fbbb134f90"/><Relationship Type="http://schemas.openxmlformats.org/officeDocument/2006/relationships/notesSlide" Target="/ppt/notesSlides/notesSlide8.xml" Id="Rc03668ed53ae41c5"/></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adb7bd8f52b34c0d"/><Relationship Type="http://schemas.openxmlformats.org/officeDocument/2006/relationships/notesSlide" Target="/ppt/notesSlides/notesSlide9.xml" Id="R460a318fbc0447ed"/></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df4743e7084e4675"/><Relationship Type="http://schemas.openxmlformats.org/officeDocument/2006/relationships/chart" Target="/ppt/slides/charts/chart2.xml" Id="Rcf342793203247a9"/><Relationship Type="http://schemas.openxmlformats.org/officeDocument/2006/relationships/notesSlide" Target="/ppt/notesSlides/notesSlide10.xml" Id="R04fbb9b05f834061"/></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5ca2a9a93bbc4dbd"/><Relationship Type="http://schemas.openxmlformats.org/officeDocument/2006/relationships/image" Target="/ppt/media/image2.png" Id="Rdb5acd905a1b4317"/><Relationship Type="http://schemas.openxmlformats.org/officeDocument/2006/relationships/image" Target="/ppt/media/image3.png" Id="R256b2e66cdf3484a"/><Relationship Type="http://schemas.openxmlformats.org/officeDocument/2006/relationships/image" Target="/ppt/media/image4.png" Id="Re50b5aabbbdd41b0"/><Relationship Type="http://schemas.openxmlformats.org/officeDocument/2006/relationships/image" Target="/ppt/media/image5.png" Id="Re1c974ec1f2d49cc"/><Relationship Type="http://schemas.openxmlformats.org/officeDocument/2006/relationships/image" Target="/ppt/media/image6.png" Id="R1d147937b0624a9a"/><Relationship Type="http://schemas.openxmlformats.org/officeDocument/2006/relationships/notesSlide" Target="/ppt/notesSlides/notesSlide11.xml" Id="R07c7184c53f94f54"/></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de92943c21554be8"/><Relationship Type="http://schemas.openxmlformats.org/officeDocument/2006/relationships/image" Target="/ppt/media/image7.png" Id="R694d3a8da7aa4c37"/><Relationship Type="http://schemas.openxmlformats.org/officeDocument/2006/relationships/image" Target="/ppt/media/image8.png" Id="R58ef0f4066ed4dda"/><Relationship Type="http://schemas.openxmlformats.org/officeDocument/2006/relationships/image" Target="/ppt/media/image9.png" Id="R7f80463f02b6486a"/><Relationship Type="http://schemas.openxmlformats.org/officeDocument/2006/relationships/image" Target="/ppt/media/image10.png" Id="R83278fc94e284827"/><Relationship Type="http://schemas.openxmlformats.org/officeDocument/2006/relationships/image" Target="/ppt/media/image11.png" Id="Rc6bc3013fe2e4698"/><Relationship Type="http://schemas.openxmlformats.org/officeDocument/2006/relationships/notesSlide" Target="/ppt/notesSlides/notesSlide12.xml" Id="Raff6b75f4cc24a32"/></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aa3b439fc1a74996"/><Relationship Type="http://schemas.openxmlformats.org/officeDocument/2006/relationships/image" Target="/ppt/media/image12.png" Id="Rbbd5b211b3be4971"/><Relationship Type="http://schemas.openxmlformats.org/officeDocument/2006/relationships/image" Target="/ppt/media/image13.png" Id="Re4155d5750af43e8"/><Relationship Type="http://schemas.openxmlformats.org/officeDocument/2006/relationships/image" Target="/ppt/media/image14.png" Id="Rcb4c37894ca84fbc"/><Relationship Type="http://schemas.openxmlformats.org/officeDocument/2006/relationships/image" Target="/ppt/media/image15.png" Id="Rcf56a7969c554c5f"/><Relationship Type="http://schemas.openxmlformats.org/officeDocument/2006/relationships/image" Target="/ppt/media/image16.png" Id="R8117e73a357c471a"/><Relationship Type="http://schemas.openxmlformats.org/officeDocument/2006/relationships/notesSlide" Target="/ppt/notesSlides/notesSlide13.xml" Id="Re3c54db4e37f42fe"/></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28f7d63b9dc44347"/><Relationship Type="http://schemas.openxmlformats.org/officeDocument/2006/relationships/image" Target="/ppt/media/image17.png" Id="R64e74b4ae76b4eae"/><Relationship Type="http://schemas.openxmlformats.org/officeDocument/2006/relationships/image" Target="/ppt/media/image18.png" Id="Ra190cb48b4af42d9"/><Relationship Type="http://schemas.openxmlformats.org/officeDocument/2006/relationships/image" Target="/ppt/media/image19.png" Id="Re9569b42465f41ae"/><Relationship Type="http://schemas.openxmlformats.org/officeDocument/2006/relationships/image" Target="/ppt/media/image20.png" Id="R1c7e6a7175924623"/><Relationship Type="http://schemas.openxmlformats.org/officeDocument/2006/relationships/image" Target="/ppt/media/image21.png" Id="Rc017e12c41d64663"/><Relationship Type="http://schemas.openxmlformats.org/officeDocument/2006/relationships/notesSlide" Target="/ppt/notesSlides/notesSlide14.xml" Id="Rd629d0618c394554"/></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53a0bfd3d1fa46c1"/><Relationship Type="http://schemas.openxmlformats.org/officeDocument/2006/relationships/image" Target="/ppt/media/image22.png" Id="R19caabe34a694b87"/><Relationship Type="http://schemas.openxmlformats.org/officeDocument/2006/relationships/image" Target="/ppt/media/image23.png" Id="R2ea5220911574862"/><Relationship Type="http://schemas.openxmlformats.org/officeDocument/2006/relationships/image" Target="/ppt/media/image24.png" Id="R208285d1dfe345d7"/><Relationship Type="http://schemas.openxmlformats.org/officeDocument/2006/relationships/image" Target="/ppt/media/image25.png" Id="R2e67e3c47ac44004"/><Relationship Type="http://schemas.openxmlformats.org/officeDocument/2006/relationships/image" Target="/ppt/media/image26.png" Id="Rf992258e32234da9"/><Relationship Type="http://schemas.openxmlformats.org/officeDocument/2006/relationships/notesSlide" Target="/ppt/notesSlides/notesSlide15.xml" Id="R2e65107f94a74bb6"/></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f0697b6b9cd94ddd"/><Relationship Type="http://schemas.openxmlformats.org/officeDocument/2006/relationships/image" Target="/ppt/media/image27.png" Id="Ra62fb0c94e784f99"/><Relationship Type="http://schemas.openxmlformats.org/officeDocument/2006/relationships/image" Target="/ppt/media/image28.png" Id="R9cd89d6f7f7f492c"/><Relationship Type="http://schemas.openxmlformats.org/officeDocument/2006/relationships/image" Target="/ppt/media/image29.png" Id="Rc4b6303cbd8c4d67"/><Relationship Type="http://schemas.openxmlformats.org/officeDocument/2006/relationships/image" Target="/ppt/media/image30.png" Id="R12040b50a39a4065"/><Relationship Type="http://schemas.openxmlformats.org/officeDocument/2006/relationships/image" Target="/ppt/media/image31.png" Id="R08a3be8a9911445c"/><Relationship Type="http://schemas.openxmlformats.org/officeDocument/2006/relationships/notesSlide" Target="/ppt/notesSlides/notesSlide16.xml" Id="R8437c216e02e4e8c"/></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581ed2a3691c4d8d"/><Relationship Type="http://schemas.openxmlformats.org/officeDocument/2006/relationships/notesSlide" Target="/ppt/notesSlides/notesSlide17.xml" Id="R3be5ae498802465b"/></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f8de3d36014d4567"/><Relationship Type="http://schemas.openxmlformats.org/officeDocument/2006/relationships/notesSlide" Target="/ppt/notesSlides/notesSlide18.xml" Id="R2762435ab3bf404d"/></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da518e47c4c04801"/><Relationship Type="http://schemas.openxmlformats.org/officeDocument/2006/relationships/image" Target="/ppt/media/image32.png" Id="Rf4267ed329c64fc5"/><Relationship Type="http://schemas.openxmlformats.org/officeDocument/2006/relationships/notesSlide" Target="/ppt/notesSlides/notesSlide19.xml" Id="R0bb79b923c3c4113"/></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10ac945b7b2d4c17"/><Relationship Type="http://schemas.openxmlformats.org/officeDocument/2006/relationships/notesSlide" Target="/ppt/notesSlides/notesSlide20.xml" Id="R6dd8881365834233"/></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3a36c389898d47f7"/><Relationship Type="http://schemas.openxmlformats.org/officeDocument/2006/relationships/image" Target="/ppt/media/image33.png" Id="Rc881abf4ae054829"/><Relationship Type="http://schemas.openxmlformats.org/officeDocument/2006/relationships/notesSlide" Target="/ppt/notesSlides/notesSlide21.xml" Id="Re8b346d83e7c4dc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34542c5f13c14acd"/><Relationship Type="http://schemas.openxmlformats.org/officeDocument/2006/relationships/notesSlide" Target="/ppt/notesSlides/notesSlide22.xml" Id="R7f22e3fc2fa34444"/></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1.xml" Id="R49cd3e17f4fe4ba0"/><Relationship Type="http://schemas.openxmlformats.org/officeDocument/2006/relationships/image" Target="/ppt/media/image34.png" Id="R741bf58406b54f14"/><Relationship Type="http://schemas.openxmlformats.org/officeDocument/2006/relationships/notesSlide" Target="/ppt/notesSlides/notesSlide23.xml" Id="Raa9613efa943499c"/></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1.xml" Id="Rce0dbd55fdad4c75"/><Relationship Type="http://schemas.openxmlformats.org/officeDocument/2006/relationships/notesSlide" Target="/ppt/notesSlides/notesSlide24.xml" Id="R3661302a23424b5e"/></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1.xml" Id="R5c55ec520db24fee"/><Relationship Type="http://schemas.openxmlformats.org/officeDocument/2006/relationships/image" Target="/ppt/media/image35.png" Id="R51b899f1034b4524"/><Relationship Type="http://schemas.openxmlformats.org/officeDocument/2006/relationships/notesSlide" Target="/ppt/notesSlides/notesSlide25.xml" Id="R16db0288414c41c1"/></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1.xml" Id="R495c0722206b4116"/><Relationship Type="http://schemas.openxmlformats.org/officeDocument/2006/relationships/notesSlide" Target="/ppt/notesSlides/notesSlide26.xml" Id="Rd38a919a2c294df2"/></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1.xml" Id="R6d1befb61e934645"/><Relationship Type="http://schemas.openxmlformats.org/officeDocument/2006/relationships/image" Target="/ppt/media/image36.png" Id="R13857d253a7c44a0"/><Relationship Type="http://schemas.openxmlformats.org/officeDocument/2006/relationships/notesSlide" Target="/ppt/notesSlides/notesSlide27.xml" Id="R5db73cddb55a4de2"/></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1.xml" Id="R433e45e8f9564244"/><Relationship Type="http://schemas.openxmlformats.org/officeDocument/2006/relationships/notesSlide" Target="/ppt/notesSlides/notesSlide28.xml" Id="Ree620c294ad84d3a"/></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1.xml" Id="Rffe56e7d622a47de"/><Relationship Type="http://schemas.openxmlformats.org/officeDocument/2006/relationships/image" Target="/ppt/media/image37.png" Id="R536dcb51e8a94a9d"/><Relationship Type="http://schemas.openxmlformats.org/officeDocument/2006/relationships/notesSlide" Target="/ppt/notesSlides/notesSlide29.xml" Id="R64f9ea3b45044105"/></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1.xml" Id="Rf8e1a1ccd1334d54"/><Relationship Type="http://schemas.openxmlformats.org/officeDocument/2006/relationships/notesSlide" Target="/ppt/notesSlides/notesSlide30.xml" Id="R1731e85512414dfd"/></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1.xml" Id="Rf1567490ccf44008"/><Relationship Type="http://schemas.openxmlformats.org/officeDocument/2006/relationships/image" Target="/ppt/media/image38.png" Id="Rc0648b775a624620"/><Relationship Type="http://schemas.openxmlformats.org/officeDocument/2006/relationships/notesSlide" Target="/ppt/notesSlides/notesSlide31.xml" Id="R66a76dc21e064fec"/></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1.xml" Id="R5428ea281cf24d46"/><Relationship Type="http://schemas.openxmlformats.org/officeDocument/2006/relationships/notesSlide" Target="/ppt/notesSlides/notesSlide32.xml" Id="Ra1e3eb2e8cb042bf"/></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1.xml" Id="R26aeb3668bd64cc5"/><Relationship Type="http://schemas.openxmlformats.org/officeDocument/2006/relationships/image" Target="/ppt/media/image39.png" Id="R261b993bad674aec"/><Relationship Type="http://schemas.openxmlformats.org/officeDocument/2006/relationships/notesSlide" Target="/ppt/notesSlides/notesSlide33.xml" Id="Ra4bde5d07a4e40b9"/></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1.xml" Id="Rc35ec33fbb824dc8"/><Relationship Type="http://schemas.openxmlformats.org/officeDocument/2006/relationships/notesSlide" Target="/ppt/notesSlides/notesSlide34.xml" Id="Rae7848559c374e12"/></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1.xml" Id="Rfbd481c2a088434a"/><Relationship Type="http://schemas.openxmlformats.org/officeDocument/2006/relationships/image" Target="/ppt/media/image40.png" Id="R604bbb304b144b55"/><Relationship Type="http://schemas.openxmlformats.org/officeDocument/2006/relationships/notesSlide" Target="/ppt/notesSlides/notesSlide35.xml" Id="R50991e417a284861"/></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1.xml" Id="Re2339057ec344429"/><Relationship Type="http://schemas.openxmlformats.org/officeDocument/2006/relationships/image" Target="/ppt/media/image41.png" Id="Rb271f5d6d7d544a5"/><Relationship Type="http://schemas.openxmlformats.org/officeDocument/2006/relationships/image" Target="/ppt/media/image42.png" Id="R74ee7f34e5a64be8"/><Relationship Type="http://schemas.openxmlformats.org/officeDocument/2006/relationships/notesSlide" Target="/ppt/notesSlides/notesSlide36.xml" Id="R86ff1a1796f04a66"/></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1.xml" Id="R677d834848934422"/><Relationship Type="http://schemas.openxmlformats.org/officeDocument/2006/relationships/image" Target="/ppt/media/image43.png" Id="R29694d7003584ed1"/><Relationship Type="http://schemas.openxmlformats.org/officeDocument/2006/relationships/image" Target="/ppt/media/image44.png" Id="R0d7fc4d04f2947fe"/><Relationship Type="http://schemas.openxmlformats.org/officeDocument/2006/relationships/notesSlide" Target="/ppt/notesSlides/notesSlide37.xml" Id="R8a1b90db36714a83"/></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1.xml" Id="R48574852ef9f4181"/><Relationship Type="http://schemas.openxmlformats.org/officeDocument/2006/relationships/image" Target="/ppt/media/image45.png" Id="R6f3045a8d1464d9c"/><Relationship Type="http://schemas.openxmlformats.org/officeDocument/2006/relationships/image" Target="/ppt/media/image46.png" Id="Rd7a106d2e1794b6a"/><Relationship Type="http://schemas.openxmlformats.org/officeDocument/2006/relationships/notesSlide" Target="/ppt/notesSlides/notesSlide38.xml" Id="Rb1f84ce2ab5a4b5f"/></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1.xml" Id="Rba55ea8fbae64c0b"/><Relationship Type="http://schemas.openxmlformats.org/officeDocument/2006/relationships/image" Target="/ppt/media/image47.png" Id="R81902d7fca8a4f4f"/><Relationship Type="http://schemas.openxmlformats.org/officeDocument/2006/relationships/image" Target="/ppt/media/image48.png" Id="R1b35ec22227f4500"/><Relationship Type="http://schemas.openxmlformats.org/officeDocument/2006/relationships/notesSlide" Target="/ppt/notesSlides/notesSlide39.xml" Id="R0a7841faeef24b84"/></Relationships>
</file>

<file path=ppt/slides/_rels/slide40.xml.rels><?xml version='1.0' encoding='UTF-8' standalone='yes'?>
<Relationships xmlns="http://schemas.openxmlformats.org/package/2006/relationships"><Relationship Type="http://schemas.openxmlformats.org/officeDocument/2006/relationships/slideLayout" Target="/ppt/slideLayouts/slideLayout1.xml" Id="R55875b64422a4eed"/><Relationship Type="http://schemas.openxmlformats.org/officeDocument/2006/relationships/image" Target="/ppt/media/image49.png" Id="Rb8d7f6d0533848e8"/><Relationship Type="http://schemas.openxmlformats.org/officeDocument/2006/relationships/image" Target="/ppt/media/image50.png" Id="Re50fb51cf4574645"/><Relationship Type="http://schemas.openxmlformats.org/officeDocument/2006/relationships/notesSlide" Target="/ppt/notesSlides/notesSlide40.xml" Id="Rae2bf7e650df4b6f"/></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1.xml" Id="R02f3af4c4c0f41d0"/><Relationship Type="http://schemas.openxmlformats.org/officeDocument/2006/relationships/image" Target="/ppt/media/image51.png" Id="R102ab17d36a54b2e"/><Relationship Type="http://schemas.openxmlformats.org/officeDocument/2006/relationships/image" Target="/ppt/media/image52.png" Id="Rde8d9bd66e6f4cf3"/><Relationship Type="http://schemas.openxmlformats.org/officeDocument/2006/relationships/notesSlide" Target="/ppt/notesSlides/notesSlide41.xml" Id="Ra0f1700ab4b24e30"/></Relationships>
</file>

<file path=ppt/slides/_rels/slide42.xml.rels><?xml version='1.0' encoding='UTF-8' standalone='yes'?>
<Relationships xmlns="http://schemas.openxmlformats.org/package/2006/relationships"><Relationship Type="http://schemas.openxmlformats.org/officeDocument/2006/relationships/slideLayout" Target="/ppt/slideLayouts/slideLayout1.xml" Id="Rd4a0e6ff7bb34bb3"/><Relationship Type="http://schemas.openxmlformats.org/officeDocument/2006/relationships/image" Target="/ppt/media/image53.png" Id="R57eef99c73804246"/><Relationship Type="http://schemas.openxmlformats.org/officeDocument/2006/relationships/image" Target="/ppt/media/image54.png" Id="R6196ec4852a74889"/><Relationship Type="http://schemas.openxmlformats.org/officeDocument/2006/relationships/notesSlide" Target="/ppt/notesSlides/notesSlide42.xml" Id="R8e99ba2e5d914237"/></Relationships>
</file>

<file path=ppt/slides/_rels/slide43.xml.rels><?xml version='1.0' encoding='UTF-8' standalone='yes'?>
<Relationships xmlns="http://schemas.openxmlformats.org/package/2006/relationships"><Relationship Type="http://schemas.openxmlformats.org/officeDocument/2006/relationships/slideLayout" Target="/ppt/slideLayouts/slideLayout1.xml" Id="Rb7052a6ab9cb4e67"/><Relationship Type="http://schemas.openxmlformats.org/officeDocument/2006/relationships/image" Target="/ppt/media/image55.png" Id="Re539bb2d8acd4549"/><Relationship Type="http://schemas.openxmlformats.org/officeDocument/2006/relationships/image" Target="/ppt/media/image56.png" Id="R20a4bb4360154fde"/><Relationship Type="http://schemas.openxmlformats.org/officeDocument/2006/relationships/notesSlide" Target="/ppt/notesSlides/notesSlide43.xml" Id="Rdce214e493f44a07"/></Relationships>
</file>

<file path=ppt/slides/_rels/slide44.xml.rels><?xml version='1.0' encoding='UTF-8' standalone='yes'?>
<Relationships xmlns="http://schemas.openxmlformats.org/package/2006/relationships"><Relationship Type="http://schemas.openxmlformats.org/officeDocument/2006/relationships/slideLayout" Target="/ppt/slideLayouts/slideLayout1.xml" Id="R7bfba710cc8c4c7d"/><Relationship Type="http://schemas.openxmlformats.org/officeDocument/2006/relationships/image" Target="/ppt/media/image57.png" Id="Rc6ca2bc496b14ecc"/><Relationship Type="http://schemas.openxmlformats.org/officeDocument/2006/relationships/image" Target="/ppt/media/image58.png" Id="R4deb4bf1ac684928"/><Relationship Type="http://schemas.openxmlformats.org/officeDocument/2006/relationships/notesSlide" Target="/ppt/notesSlides/notesSlide44.xml" Id="R6ff2f10f10ff4ae1"/></Relationships>
</file>

<file path=ppt/slides/_rels/slide45.xml.rels><?xml version='1.0' encoding='UTF-8' standalone='yes'?>
<Relationships xmlns="http://schemas.openxmlformats.org/package/2006/relationships"><Relationship Type="http://schemas.openxmlformats.org/officeDocument/2006/relationships/slideLayout" Target="/ppt/slideLayouts/slideLayout1.xml" Id="Rbcee34a3cea340a5"/><Relationship Type="http://schemas.openxmlformats.org/officeDocument/2006/relationships/image" Target="/ppt/media/image59.png" Id="R63fc40b4c6e043d8"/><Relationship Type="http://schemas.openxmlformats.org/officeDocument/2006/relationships/image" Target="/ppt/media/image60.png" Id="R722e8895b9cd46c7"/><Relationship Type="http://schemas.openxmlformats.org/officeDocument/2006/relationships/notesSlide" Target="/ppt/notesSlides/notesSlide45.xml" Id="Rbdfa50012a6546e4"/></Relationships>
</file>

<file path=ppt/slides/_rels/slide46.xml.rels><?xml version='1.0' encoding='UTF-8' standalone='yes'?>
<Relationships xmlns="http://schemas.openxmlformats.org/package/2006/relationships"><Relationship Type="http://schemas.openxmlformats.org/officeDocument/2006/relationships/slideLayout" Target="/ppt/slideLayouts/slideLayout1.xml" Id="R61d6af3d78a1400b"/><Relationship Type="http://schemas.openxmlformats.org/officeDocument/2006/relationships/image" Target="/ppt/media/image61.png" Id="R60fe35846c734363"/><Relationship Type="http://schemas.openxmlformats.org/officeDocument/2006/relationships/image" Target="/ppt/media/image62.png" Id="R10f69eff20dd423d"/><Relationship Type="http://schemas.openxmlformats.org/officeDocument/2006/relationships/notesSlide" Target="/ppt/notesSlides/notesSlide46.xml" Id="Rabb8ed6eb9c84092"/></Relationships>
</file>

<file path=ppt/slides/_rels/slide47.xml.rels><?xml version='1.0' encoding='UTF-8' standalone='yes'?>
<Relationships xmlns="http://schemas.openxmlformats.org/package/2006/relationships"><Relationship Type="http://schemas.openxmlformats.org/officeDocument/2006/relationships/slideLayout" Target="/ppt/slideLayouts/slideLayout1.xml" Id="R5648dd3d68be4f20"/><Relationship Type="http://schemas.openxmlformats.org/officeDocument/2006/relationships/image" Target="/ppt/media/image63.png" Id="Rb6d365040c4242a7"/><Relationship Type="http://schemas.openxmlformats.org/officeDocument/2006/relationships/image" Target="/ppt/media/image64.png" Id="R47ca4382f7e74a1d"/><Relationship Type="http://schemas.openxmlformats.org/officeDocument/2006/relationships/notesSlide" Target="/ppt/notesSlides/notesSlide47.xml" Id="R5f023ae8ee1b4675"/></Relationships>
</file>

<file path=ppt/slides/_rels/slide48.xml.rels><?xml version='1.0' encoding='UTF-8' standalone='yes'?>
<Relationships xmlns="http://schemas.openxmlformats.org/package/2006/relationships"><Relationship Type="http://schemas.openxmlformats.org/officeDocument/2006/relationships/slideLayout" Target="/ppt/slideLayouts/slideLayout1.xml" Id="R85b2102686a04dd2"/><Relationship Type="http://schemas.openxmlformats.org/officeDocument/2006/relationships/notesSlide" Target="/ppt/notesSlides/notesSlide48.xml" Id="R300de89f263d49c3"/></Relationships>
</file>

<file path=ppt/slides/_rels/slide49.xml.rels><?xml version='1.0' encoding='UTF-8' standalone='yes'?>
<Relationships xmlns="http://schemas.openxmlformats.org/package/2006/relationships"><Relationship Type="http://schemas.openxmlformats.org/officeDocument/2006/relationships/slideLayout" Target="/ppt/slideLayouts/slideLayout1.xml" Id="R8aeb29c061cc42e0"/><Relationship Type="http://schemas.openxmlformats.org/officeDocument/2006/relationships/image" Target="/ppt/media/image65.png" Id="R9991e67718704d89"/><Relationship Type="http://schemas.openxmlformats.org/officeDocument/2006/relationships/notesSlide" Target="/ppt/notesSlides/notesSlide49.xml" Id="Rceed9323986c45e7"/></Relationships>
</file>

<file path=ppt/slides/_rels/slide50.xml.rels><?xml version='1.0' encoding='UTF-8' standalone='yes'?>
<Relationships xmlns="http://schemas.openxmlformats.org/package/2006/relationships"><Relationship Type="http://schemas.openxmlformats.org/officeDocument/2006/relationships/slideLayout" Target="/ppt/slideLayouts/slideLayout1.xml" Id="R8304c6eeaf524a49"/><Relationship Type="http://schemas.openxmlformats.org/officeDocument/2006/relationships/chart" Target="/ppt/slides/charts/chart3.xml" Id="Rb2249cc90f2f41fb"/><Relationship Type="http://schemas.openxmlformats.org/officeDocument/2006/relationships/notesSlide" Target="/ppt/notesSlides/notesSlide50.xml" Id="R730e6d5dd46d42b5"/></Relationships>
</file>

<file path=ppt/slides/_rels/slide51.xml.rels><?xml version='1.0' encoding='UTF-8' standalone='yes'?>
<Relationships xmlns="http://schemas.openxmlformats.org/package/2006/relationships"><Relationship Type="http://schemas.openxmlformats.org/officeDocument/2006/relationships/slideLayout" Target="/ppt/slideLayouts/slideLayout1.xml" Id="R8e9ad8f86e53481c"/><Relationship Type="http://schemas.openxmlformats.org/officeDocument/2006/relationships/notesSlide" Target="/ppt/notesSlides/notesSlide51.xml" Id="R4fc8a9700e014de9"/></Relationships>
</file>

<file path=ppt/slides/_rels/slide52.xml.rels><?xml version='1.0' encoding='UTF-8' standalone='yes'?>
<Relationships xmlns="http://schemas.openxmlformats.org/package/2006/relationships"><Relationship Type="http://schemas.openxmlformats.org/officeDocument/2006/relationships/slideLayout" Target="/ppt/slideLayouts/slideLayout1.xml" Id="R9c50c8a788564819"/><Relationship Type="http://schemas.openxmlformats.org/officeDocument/2006/relationships/image" Target="/ppt/media/image66.png" Id="Rf7d8703384444ecc"/><Relationship Type="http://schemas.openxmlformats.org/officeDocument/2006/relationships/notesSlide" Target="/ppt/notesSlides/notesSlide52.xml" Id="Rdd72766d38634f7c"/></Relationships>
</file>

<file path=ppt/slides/_rels/slide53.xml.rels><?xml version='1.0' encoding='UTF-8' standalone='yes'?>
<Relationships xmlns="http://schemas.openxmlformats.org/package/2006/relationships"><Relationship Type="http://schemas.openxmlformats.org/officeDocument/2006/relationships/slideLayout" Target="/ppt/slideLayouts/slideLayout1.xml" Id="R41d418ba1cb140fe"/><Relationship Type="http://schemas.openxmlformats.org/officeDocument/2006/relationships/chart" Target="/ppt/slides/charts/chart4.xml" Id="R410b7de3fd574d43"/><Relationship Type="http://schemas.openxmlformats.org/officeDocument/2006/relationships/image" Target="/ppt/media/image67.png" Id="Rdac632d5d5f740ae"/><Relationship Type="http://schemas.openxmlformats.org/officeDocument/2006/relationships/notesSlide" Target="/ppt/notesSlides/notesSlide53.xml" Id="R54f80be9b6af43aa"/></Relationships>
</file>

<file path=ppt/slides/_rels/slide54.xml.rels><?xml version='1.0' encoding='UTF-8' standalone='yes'?>
<Relationships xmlns="http://schemas.openxmlformats.org/package/2006/relationships"><Relationship Type="http://schemas.openxmlformats.org/officeDocument/2006/relationships/slideLayout" Target="/ppt/slideLayouts/slideLayout1.xml" Id="R4a486094cd274367"/><Relationship Type="http://schemas.openxmlformats.org/officeDocument/2006/relationships/notesSlide" Target="/ppt/notesSlides/notesSlide54.xml" Id="Ra0183f0f22e24da7"/></Relationships>
</file>

<file path=ppt/slides/_rels/slide55.xml.rels><?xml version='1.0' encoding='UTF-8' standalone='yes'?>
<Relationships xmlns="http://schemas.openxmlformats.org/package/2006/relationships"><Relationship Type="http://schemas.openxmlformats.org/officeDocument/2006/relationships/slideLayout" Target="/ppt/slideLayouts/slideLayout1.xml" Id="R0812865003424cef"/><Relationship Type="http://schemas.openxmlformats.org/officeDocument/2006/relationships/notesSlide" Target="/ppt/notesSlides/notesSlide55.xml" Id="Rc9195014c89647b8"/></Relationships>
</file>

<file path=ppt/slides/_rels/slide56.xml.rels><?xml version='1.0' encoding='UTF-8' standalone='yes'?>
<Relationships xmlns="http://schemas.openxmlformats.org/package/2006/relationships"><Relationship Type="http://schemas.openxmlformats.org/officeDocument/2006/relationships/slideLayout" Target="/ppt/slideLayouts/slideLayout1.xml" Id="Rcf41e3bab6f442a7"/><Relationship Type="http://schemas.openxmlformats.org/officeDocument/2006/relationships/chart" Target="/ppt/slides/charts/chart5.xml" Id="R59df5cb1d8f84da3"/><Relationship Type="http://schemas.openxmlformats.org/officeDocument/2006/relationships/image" Target="/ppt/media/image68.png" Id="R025c78c842d248a8"/><Relationship Type="http://schemas.openxmlformats.org/officeDocument/2006/relationships/notesSlide" Target="/ppt/notesSlides/notesSlide56.xml" Id="R3c8b4489834a4f72"/></Relationships>
</file>

<file path=ppt/slides/_rels/slide57.xml.rels><?xml version='1.0' encoding='UTF-8' standalone='yes'?>
<Relationships xmlns="http://schemas.openxmlformats.org/package/2006/relationships"><Relationship Type="http://schemas.openxmlformats.org/officeDocument/2006/relationships/slideLayout" Target="/ppt/slideLayouts/slideLayout1.xml" Id="Rd006927a1ea04f2e"/><Relationship Type="http://schemas.openxmlformats.org/officeDocument/2006/relationships/notesSlide" Target="/ppt/notesSlides/notesSlide57.xml" Id="R784db8a4577a4a58"/></Relationships>
</file>

<file path=ppt/slides/_rels/slide58.xml.rels><?xml version='1.0' encoding='UTF-8' standalone='yes'?>
<Relationships xmlns="http://schemas.openxmlformats.org/package/2006/relationships"><Relationship Type="http://schemas.openxmlformats.org/officeDocument/2006/relationships/slideLayout" Target="/ppt/slideLayouts/slideLayout1.xml" Id="Rab20b4fad1cd4054"/><Relationship Type="http://schemas.openxmlformats.org/officeDocument/2006/relationships/notesSlide" Target="/ppt/notesSlides/notesSlide58.xml" Id="R500bc4740d844db1"/></Relationships>
</file>

<file path=ppt/slides/_rels/slide59.xml.rels><?xml version='1.0' encoding='UTF-8' standalone='yes'?>
<Relationships xmlns="http://schemas.openxmlformats.org/package/2006/relationships"><Relationship Type="http://schemas.openxmlformats.org/officeDocument/2006/relationships/slideLayout" Target="/ppt/slideLayouts/slideLayout1.xml" Id="R5b7da46d191a4beb"/><Relationship Type="http://schemas.openxmlformats.org/officeDocument/2006/relationships/image" Target="/ppt/media/image69.png" Id="R332a45fb0d7d4407"/><Relationship Type="http://schemas.openxmlformats.org/officeDocument/2006/relationships/notesSlide" Target="/ppt/notesSlides/notesSlide59.xml" Id="R6de4283772c54089"/></Relationships>
</file>

<file path=ppt/slides/_rels/slide60.xml.rels><?xml version='1.0' encoding='UTF-8' standalone='yes'?>
<Relationships xmlns="http://schemas.openxmlformats.org/package/2006/relationships"><Relationship Type="http://schemas.openxmlformats.org/officeDocument/2006/relationships/slideLayout" Target="/ppt/slideLayouts/slideLayout1.xml" Id="R9442e2a00ffc4a48"/><Relationship Type="http://schemas.openxmlformats.org/officeDocument/2006/relationships/notesSlide" Target="/ppt/notesSlides/notesSlide60.xml" Id="Rf3999fd40107499d"/></Relationships>
</file>

<file path=ppt/slides/_rels/slide61.xml.rels><?xml version='1.0' encoding='UTF-8' standalone='yes'?>
<Relationships xmlns="http://schemas.openxmlformats.org/package/2006/relationships"><Relationship Type="http://schemas.openxmlformats.org/officeDocument/2006/relationships/slideLayout" Target="/ppt/slideLayouts/slideLayout1.xml" Id="R38184cb666c249ae"/><Relationship Type="http://schemas.openxmlformats.org/officeDocument/2006/relationships/notesSlide" Target="/ppt/notesSlides/notesSlide61.xml" Id="Rbbe0a40af3194ead"/></Relationships>
</file>

<file path=ppt/slides/_rels/slide62.xml.rels><?xml version='1.0' encoding='UTF-8' standalone='yes'?>
<Relationships xmlns="http://schemas.openxmlformats.org/package/2006/relationships"><Relationship Type="http://schemas.openxmlformats.org/officeDocument/2006/relationships/slideLayout" Target="/ppt/slideLayouts/slideLayout1.xml" Id="R9c511b26569b49b8"/><Relationship Type="http://schemas.openxmlformats.org/officeDocument/2006/relationships/image" Target="/ppt/media/image70.png" Id="Rbbe7ac79ca3e42ce"/><Relationship Type="http://schemas.openxmlformats.org/officeDocument/2006/relationships/image" Target="/ppt/media/image71.png" Id="R540a4e81248248c3"/><Relationship Type="http://schemas.openxmlformats.org/officeDocument/2006/relationships/image" Target="/ppt/media/image72.png" Id="R3ca9f3f5324f43f9"/><Relationship Type="http://schemas.openxmlformats.org/officeDocument/2006/relationships/image" Target="/ppt/media/image73.png" Id="R978767c77c0b4592"/><Relationship Type="http://schemas.openxmlformats.org/officeDocument/2006/relationships/image" Target="/ppt/media/image74.png" Id="R9cf763b1286c44f7"/><Relationship Type="http://schemas.openxmlformats.org/officeDocument/2006/relationships/notesSlide" Target="/ppt/notesSlides/notesSlide62.xml" Id="R7e827c39b2b14366"/></Relationships>
</file>

<file path=ppt/slides/_rels/slide63.xml.rels><?xml version='1.0' encoding='UTF-8' standalone='yes'?>
<Relationships xmlns="http://schemas.openxmlformats.org/package/2006/relationships"><Relationship Type="http://schemas.openxmlformats.org/officeDocument/2006/relationships/slideLayout" Target="/ppt/slideLayouts/slideLayout1.xml" Id="Rdec97747eb7946ff"/><Relationship Type="http://schemas.openxmlformats.org/officeDocument/2006/relationships/image" Target="/ppt/media/image75.png" Id="Re31b51988d67458e"/><Relationship Type="http://schemas.openxmlformats.org/officeDocument/2006/relationships/image" Target="/ppt/media/image76.png" Id="Ra1c87e3dc66146e6"/><Relationship Type="http://schemas.openxmlformats.org/officeDocument/2006/relationships/image" Target="/ppt/media/image77.png" Id="R01400b9445cd4efd"/><Relationship Type="http://schemas.openxmlformats.org/officeDocument/2006/relationships/image" Target="/ppt/media/image78.png" Id="R1eff0f9c87a74608"/><Relationship Type="http://schemas.openxmlformats.org/officeDocument/2006/relationships/image" Target="/ppt/media/image79.png" Id="R4141baaba1fa40e8"/><Relationship Type="http://schemas.openxmlformats.org/officeDocument/2006/relationships/notesSlide" Target="/ppt/notesSlides/notesSlide63.xml" Id="R187f1b2d6e1f4d83"/></Relationships>
</file>

<file path=ppt/slides/_rels/slide64.xml.rels><?xml version='1.0' encoding='UTF-8' standalone='yes'?>
<Relationships xmlns="http://schemas.openxmlformats.org/package/2006/relationships"><Relationship Type="http://schemas.openxmlformats.org/officeDocument/2006/relationships/slideLayout" Target="/ppt/slideLayouts/slideLayout1.xml" Id="R1831b0dbec8444c8"/><Relationship Type="http://schemas.openxmlformats.org/officeDocument/2006/relationships/image" Target="/ppt/media/image80.png" Id="R4a985956302343bb"/><Relationship Type="http://schemas.openxmlformats.org/officeDocument/2006/relationships/image" Target="/ppt/media/image81.png" Id="Rc04ca37d6e23428f"/><Relationship Type="http://schemas.openxmlformats.org/officeDocument/2006/relationships/image" Target="/ppt/media/image82.png" Id="R54964c66759d4235"/><Relationship Type="http://schemas.openxmlformats.org/officeDocument/2006/relationships/image" Target="/ppt/media/image83.png" Id="R8899e4e870104c31"/><Relationship Type="http://schemas.openxmlformats.org/officeDocument/2006/relationships/image" Target="/ppt/media/image84.png" Id="R566b029b53284aa7"/><Relationship Type="http://schemas.openxmlformats.org/officeDocument/2006/relationships/notesSlide" Target="/ppt/notesSlides/notesSlide64.xml" Id="Rf5ea5ccd32ca4140"/></Relationships>
</file>

<file path=ppt/slides/_rels/slide65.xml.rels><?xml version='1.0' encoding='UTF-8' standalone='yes'?>
<Relationships xmlns="http://schemas.openxmlformats.org/package/2006/relationships"><Relationship Type="http://schemas.openxmlformats.org/officeDocument/2006/relationships/slideLayout" Target="/ppt/slideLayouts/slideLayout1.xml" Id="Rd6e032b9b3bf499a"/><Relationship Type="http://schemas.openxmlformats.org/officeDocument/2006/relationships/image" Target="/ppt/media/image85.png" Id="Ra60f1fb41d114231"/><Relationship Type="http://schemas.openxmlformats.org/officeDocument/2006/relationships/image" Target="/ppt/media/image86.png" Id="Rabca8715d6c940fb"/><Relationship Type="http://schemas.openxmlformats.org/officeDocument/2006/relationships/image" Target="/ppt/media/image87.png" Id="Rc7478a882b314984"/><Relationship Type="http://schemas.openxmlformats.org/officeDocument/2006/relationships/image" Target="/ppt/media/image88.png" Id="Rd208e0da8f8445e4"/><Relationship Type="http://schemas.openxmlformats.org/officeDocument/2006/relationships/image" Target="/ppt/media/image89.png" Id="R8536a3ddc5b54a25"/><Relationship Type="http://schemas.openxmlformats.org/officeDocument/2006/relationships/notesSlide" Target="/ppt/notesSlides/notesSlide65.xml" Id="Rada9258803ed4382"/></Relationships>
</file>

<file path=ppt/slides/_rels/slide66.xml.rels><?xml version='1.0' encoding='UTF-8' standalone='yes'?>
<Relationships xmlns="http://schemas.openxmlformats.org/package/2006/relationships"><Relationship Type="http://schemas.openxmlformats.org/officeDocument/2006/relationships/slideLayout" Target="/ppt/slideLayouts/slideLayout1.xml" Id="R9709bec22b834b9b"/><Relationship Type="http://schemas.openxmlformats.org/officeDocument/2006/relationships/notesSlide" Target="/ppt/notesSlides/notesSlide66.xml" Id="Rb0fc70b8dd0341ae"/></Relationships>
</file>

<file path=ppt/slides/_rels/slide67.xml.rels><?xml version='1.0' encoding='UTF-8' standalone='yes'?>
<Relationships xmlns="http://schemas.openxmlformats.org/package/2006/relationships"><Relationship Type="http://schemas.openxmlformats.org/officeDocument/2006/relationships/slideLayout" Target="/ppt/slideLayouts/slideLayout1.xml" Id="Ra57b11bad5bb47d7"/><Relationship Type="http://schemas.openxmlformats.org/officeDocument/2006/relationships/notesSlide" Target="/ppt/notesSlides/notesSlide67.xml" Id="Rba831e6f716345ab"/></Relationships>
</file>

<file path=ppt/slides/_rels/slide68.xml.rels><?xml version='1.0' encoding='UTF-8' standalone='yes'?>
<Relationships xmlns="http://schemas.openxmlformats.org/package/2006/relationships"><Relationship Type="http://schemas.openxmlformats.org/officeDocument/2006/relationships/slideLayout" Target="/ppt/slideLayouts/slideLayout1.xml" Id="R603b6514e2f74288"/><Relationship Type="http://schemas.openxmlformats.org/officeDocument/2006/relationships/chart" Target="/ppt/slides/charts/chart6.xml" Id="R4cdc45bc3cfd4bf3"/><Relationship Type="http://schemas.openxmlformats.org/officeDocument/2006/relationships/notesSlide" Target="/ppt/notesSlides/notesSlide68.xml" Id="Rb71d25f841b74d57"/></Relationships>
</file>

<file path=ppt/slides/_rels/slide69.xml.rels><?xml version='1.0' encoding='UTF-8' standalone='yes'?>
<Relationships xmlns="http://schemas.openxmlformats.org/package/2006/relationships"><Relationship Type="http://schemas.openxmlformats.org/officeDocument/2006/relationships/slideLayout" Target="/ppt/slideLayouts/slideLayout1.xml" Id="R23c987b2c29b41a8"/><Relationship Type="http://schemas.openxmlformats.org/officeDocument/2006/relationships/notesSlide" Target="/ppt/notesSlides/notesSlide69.xml" Id="Re3f0798c26fc4c17"/></Relationships>
</file>

<file path=ppt/slides/_rels/slide70.xml.rels><?xml version='1.0' encoding='UTF-8' standalone='yes'?>
<Relationships xmlns="http://schemas.openxmlformats.org/package/2006/relationships"><Relationship Type="http://schemas.openxmlformats.org/officeDocument/2006/relationships/slideLayout" Target="/ppt/slideLayouts/slideLayout1.xml" Id="R2c857df991b34f59"/><Relationship Type="http://schemas.openxmlformats.org/officeDocument/2006/relationships/chart" Target="/ppt/slides/charts/chart7.xml" Id="R48e0a1fd35184831"/><Relationship Type="http://schemas.openxmlformats.org/officeDocument/2006/relationships/notesSlide" Target="/ppt/notesSlides/notesSlide70.xml" Id="Ra551b7b9016c480b"/></Relationships>
</file>

<file path=ppt/slides/_rels/slide71.xml.rels><?xml version='1.0' encoding='UTF-8' standalone='yes'?>
<Relationships xmlns="http://schemas.openxmlformats.org/package/2006/relationships"><Relationship Type="http://schemas.openxmlformats.org/officeDocument/2006/relationships/slideLayout" Target="/ppt/slideLayouts/slideLayout1.xml" Id="Rafc31dcc78f0439f"/><Relationship Type="http://schemas.openxmlformats.org/officeDocument/2006/relationships/chart" Target="/ppt/slides/charts/chart8.xml" Id="R7be4d836b13b4667"/><Relationship Type="http://schemas.openxmlformats.org/officeDocument/2006/relationships/notesSlide" Target="/ppt/notesSlides/notesSlide71.xml" Id="Rae33c59f0264440d"/></Relationships>
</file>

<file path=ppt/slides/_rels/slide72.xml.rels><?xml version='1.0' encoding='UTF-8' standalone='yes'?>
<Relationships xmlns="http://schemas.openxmlformats.org/package/2006/relationships"><Relationship Type="http://schemas.openxmlformats.org/officeDocument/2006/relationships/slideLayout" Target="/ppt/slideLayouts/slideLayout1.xml" Id="R7f216209e7234f82"/><Relationship Type="http://schemas.openxmlformats.org/officeDocument/2006/relationships/notesSlide" Target="/ppt/notesSlides/notesSlide72.xml" Id="R89ea56e71edc46c1"/></Relationships>
</file>

<file path=ppt/slides/_rels/slide73.xml.rels><?xml version='1.0' encoding='UTF-8' standalone='yes'?>
<Relationships xmlns="http://schemas.openxmlformats.org/package/2006/relationships"><Relationship Type="http://schemas.openxmlformats.org/officeDocument/2006/relationships/slideLayout" Target="/ppt/slideLayouts/slideLayout1.xml" Id="Rf17c7aa870a44f13"/><Relationship Type="http://schemas.openxmlformats.org/officeDocument/2006/relationships/chart" Target="/ppt/slides/charts/chart9.xml" Id="Rf1102a408da94679"/><Relationship Type="http://schemas.openxmlformats.org/officeDocument/2006/relationships/notesSlide" Target="/ppt/notesSlides/notesSlide73.xml" Id="Rfd532affc4be47a0"/></Relationships>
</file>

<file path=ppt/slides/_rels/slide74.xml.rels><?xml version='1.0' encoding='UTF-8' standalone='yes'?>
<Relationships xmlns="http://schemas.openxmlformats.org/package/2006/relationships"><Relationship Type="http://schemas.openxmlformats.org/officeDocument/2006/relationships/slideLayout" Target="/ppt/slideLayouts/slideLayout1.xml" Id="Rc9bf367d0afa4ffd"/><Relationship Type="http://schemas.openxmlformats.org/officeDocument/2006/relationships/notesSlide" Target="/ppt/notesSlides/notesSlide74.xml" Id="R5b22d15919fb40b3"/></Relationships>
</file>

<file path=ppt/slides/_rels/slide75.xml.rels><?xml version='1.0' encoding='UTF-8' standalone='yes'?>
<Relationships xmlns="http://schemas.openxmlformats.org/package/2006/relationships"><Relationship Type="http://schemas.openxmlformats.org/officeDocument/2006/relationships/slideLayout" Target="/ppt/slideLayouts/slideLayout1.xml" Id="R591b22f882f24f72"/><Relationship Type="http://schemas.openxmlformats.org/officeDocument/2006/relationships/notesSlide" Target="/ppt/notesSlides/notesSlide75.xml" Id="Rc8f429287b364a22"/></Relationships>
</file>

<file path=ppt/slides/_rels/slide76.xml.rels><?xml version='1.0' encoding='UTF-8' standalone='yes'?>
<Relationships xmlns="http://schemas.openxmlformats.org/package/2006/relationships"><Relationship Type="http://schemas.openxmlformats.org/officeDocument/2006/relationships/slideLayout" Target="/ppt/slideLayouts/slideLayout1.xml" Id="R14959f20770247b2"/><Relationship Type="http://schemas.openxmlformats.org/officeDocument/2006/relationships/image" Target="/ppt/media/image90.png" Id="Rf31cbdf91e9442e2"/><Relationship Type="http://schemas.openxmlformats.org/officeDocument/2006/relationships/notesSlide" Target="/ppt/notesSlides/notesSlide76.xml" Id="R9749edab27b24461"/></Relationships>
</file>

<file path=ppt/slides/_rels/slide77.xml.rels><?xml version='1.0' encoding='UTF-8' standalone='yes'?>
<Relationships xmlns="http://schemas.openxmlformats.org/package/2006/relationships"><Relationship Type="http://schemas.openxmlformats.org/officeDocument/2006/relationships/slideLayout" Target="/ppt/slideLayouts/slideLayout1.xml" Id="R478d3df6e3f0490f"/><Relationship Type="http://schemas.openxmlformats.org/officeDocument/2006/relationships/notesSlide" Target="/ppt/notesSlides/notesSlide77.xml" Id="Raeac4c494bde4ceb"/></Relationships>
</file>

<file path=ppt/slides/_rels/slide78.xml.rels><?xml version='1.0' encoding='UTF-8' standalone='yes'?>
<Relationships xmlns="http://schemas.openxmlformats.org/package/2006/relationships"><Relationship Type="http://schemas.openxmlformats.org/officeDocument/2006/relationships/slideLayout" Target="/ppt/slideLayouts/slideLayout1.xml" Id="R18a75f5f2ee84dd4"/><Relationship Type="http://schemas.openxmlformats.org/officeDocument/2006/relationships/image" Target="/ppt/media/image91.png" Id="R8b09d0c31fe248fc"/><Relationship Type="http://schemas.openxmlformats.org/officeDocument/2006/relationships/notesSlide" Target="/ppt/notesSlides/notesSlide78.xml" Id="Ra7c6f560bd7c42ad"/></Relationships>
</file>

<file path=ppt/slides/_rels/slide79.xml.rels><?xml version='1.0' encoding='UTF-8' standalone='yes'?>
<Relationships xmlns="http://schemas.openxmlformats.org/package/2006/relationships"><Relationship Type="http://schemas.openxmlformats.org/officeDocument/2006/relationships/slideLayout" Target="/ppt/slideLayouts/slideLayout1.xml" Id="Re6108a717f504881"/><Relationship Type="http://schemas.openxmlformats.org/officeDocument/2006/relationships/notesSlide" Target="/ppt/notesSlides/notesSlide79.xml" Id="R4433d0fa85c847bc"/></Relationships>
</file>

<file path=ppt/slides/_rels/slide80.xml.rels><?xml version='1.0' encoding='UTF-8' standalone='yes'?>
<Relationships xmlns="http://schemas.openxmlformats.org/package/2006/relationships"><Relationship Type="http://schemas.openxmlformats.org/officeDocument/2006/relationships/slideLayout" Target="/ppt/slideLayouts/slideLayout1.xml" Id="R5e546c72ecac478a"/><Relationship Type="http://schemas.openxmlformats.org/officeDocument/2006/relationships/image" Target="/ppt/media/image92.png" Id="Ra63eb281064f4895"/><Relationship Type="http://schemas.openxmlformats.org/officeDocument/2006/relationships/notesSlide" Target="/ppt/notesSlides/notesSlide80.xml" Id="R3477ec8235524625"/></Relationships>
</file>

<file path=ppt/slides/_rels/slide81.xml.rels><?xml version='1.0' encoding='UTF-8' standalone='yes'?>
<Relationships xmlns="http://schemas.openxmlformats.org/package/2006/relationships"><Relationship Type="http://schemas.openxmlformats.org/officeDocument/2006/relationships/slideLayout" Target="/ppt/slideLayouts/slideLayout1.xml" Id="Rbfff9d4f0cef4dce"/><Relationship Type="http://schemas.openxmlformats.org/officeDocument/2006/relationships/notesSlide" Target="/ppt/notesSlides/notesSlide81.xml" Id="R507e188b60624fa4"/></Relationships>
</file>

<file path=ppt/slides/_rels/slide82.xml.rels><?xml version='1.0' encoding='UTF-8' standalone='yes'?>
<Relationships xmlns="http://schemas.openxmlformats.org/package/2006/relationships"><Relationship Type="http://schemas.openxmlformats.org/officeDocument/2006/relationships/slideLayout" Target="/ppt/slideLayouts/slideLayout1.xml" Id="Rb59ef1520a144a7e"/><Relationship Type="http://schemas.openxmlformats.org/officeDocument/2006/relationships/image" Target="/ppt/media/image93.png" Id="R15f9f4c132ca460a"/><Relationship Type="http://schemas.openxmlformats.org/officeDocument/2006/relationships/notesSlide" Target="/ppt/notesSlides/notesSlide82.xml" Id="R886b04496e834971"/></Relationships>
</file>

<file path=ppt/slides/_rels/slide83.xml.rels><?xml version='1.0' encoding='UTF-8' standalone='yes'?>
<Relationships xmlns="http://schemas.openxmlformats.org/package/2006/relationships"><Relationship Type="http://schemas.openxmlformats.org/officeDocument/2006/relationships/slideLayout" Target="/ppt/slideLayouts/slideLayout1.xml" Id="Rbbcf0c6764c745b2"/><Relationship Type="http://schemas.openxmlformats.org/officeDocument/2006/relationships/image" Target="/ppt/media/image94.png" Id="R1afd63b41d9b45e0"/><Relationship Type="http://schemas.openxmlformats.org/officeDocument/2006/relationships/image" Target="/ppt/media/image95.png" Id="R04aa69468d6c4821"/><Relationship Type="http://schemas.openxmlformats.org/officeDocument/2006/relationships/notesSlide" Target="/ppt/notesSlides/notesSlide83.xml" Id="Ra776c03f527e4b6c"/></Relationships>
</file>

<file path=ppt/slides/_rels/slide84.xml.rels><?xml version='1.0' encoding='UTF-8' standalone='yes'?>
<Relationships xmlns="http://schemas.openxmlformats.org/package/2006/relationships"><Relationship Type="http://schemas.openxmlformats.org/officeDocument/2006/relationships/slideLayout" Target="/ppt/slideLayouts/slideLayout1.xml" Id="Ra63f3fc270264fed"/><Relationship Type="http://schemas.openxmlformats.org/officeDocument/2006/relationships/image" Target="/ppt/media/image96.png" Id="Rd2f3b4c2eb3d44c2"/><Relationship Type="http://schemas.openxmlformats.org/officeDocument/2006/relationships/image" Target="/ppt/media/image97.png" Id="R6b68a34b3b914f07"/><Relationship Type="http://schemas.openxmlformats.org/officeDocument/2006/relationships/notesSlide" Target="/ppt/notesSlides/notesSlide84.xml" Id="Rb6509d3829a34a0d"/></Relationships>
</file>

<file path=ppt/slides/_rels/slide85.xml.rels><?xml version='1.0' encoding='UTF-8' standalone='yes'?>
<Relationships xmlns="http://schemas.openxmlformats.org/package/2006/relationships"><Relationship Type="http://schemas.openxmlformats.org/officeDocument/2006/relationships/slideLayout" Target="/ppt/slideLayouts/slideLayout1.xml" Id="Rddc802d8e6794c66"/><Relationship Type="http://schemas.openxmlformats.org/officeDocument/2006/relationships/image" Target="/ppt/media/image98.png" Id="Ra9f756729dd34a44"/><Relationship Type="http://schemas.openxmlformats.org/officeDocument/2006/relationships/image" Target="/ppt/media/image99.png" Id="R40c54224e3384b8c"/><Relationship Type="http://schemas.openxmlformats.org/officeDocument/2006/relationships/notesSlide" Target="/ppt/notesSlides/notesSlide85.xml" Id="Rce87d9c1845c4711"/></Relationships>
</file>

<file path=ppt/slides/_rels/slide86.xml.rels><?xml version='1.0' encoding='UTF-8' standalone='yes'?>
<Relationships xmlns="http://schemas.openxmlformats.org/package/2006/relationships"><Relationship Type="http://schemas.openxmlformats.org/officeDocument/2006/relationships/slideLayout" Target="/ppt/slideLayouts/slideLayout1.xml" Id="Ra2b8e9e8a8064680"/><Relationship Type="http://schemas.openxmlformats.org/officeDocument/2006/relationships/image" Target="/ppt/media/image100.png" Id="R1364b27b34fd4701"/><Relationship Type="http://schemas.openxmlformats.org/officeDocument/2006/relationships/image" Target="/ppt/media/image101.png" Id="R7f3a02045ecc47e0"/><Relationship Type="http://schemas.openxmlformats.org/officeDocument/2006/relationships/notesSlide" Target="/ppt/notesSlides/notesSlide86.xml" Id="R239f80f8c1934b3d"/></Relationships>
</file>

<file path=ppt/slides/_rels/slide87.xml.rels><?xml version='1.0' encoding='UTF-8' standalone='yes'?>
<Relationships xmlns="http://schemas.openxmlformats.org/package/2006/relationships"><Relationship Type="http://schemas.openxmlformats.org/officeDocument/2006/relationships/slideLayout" Target="/ppt/slideLayouts/slideLayout1.xml" Id="Rf8f3b5f0977a4773"/><Relationship Type="http://schemas.openxmlformats.org/officeDocument/2006/relationships/image" Target="/ppt/media/image102.png" Id="R65d1543edfa844f9"/><Relationship Type="http://schemas.openxmlformats.org/officeDocument/2006/relationships/image" Target="/ppt/media/image103.png" Id="Rbf9aede85f4647de"/><Relationship Type="http://schemas.openxmlformats.org/officeDocument/2006/relationships/notesSlide" Target="/ppt/notesSlides/notesSlide87.xml" Id="R18546c56fb374807"/></Relationships>
</file>

<file path=ppt/slides/_rels/slide88.xml.rels><?xml version='1.0' encoding='UTF-8' standalone='yes'?>
<Relationships xmlns="http://schemas.openxmlformats.org/package/2006/relationships"><Relationship Type="http://schemas.openxmlformats.org/officeDocument/2006/relationships/slideLayout" Target="/ppt/slideLayouts/slideLayout1.xml" Id="R34001ee0fb9243f1"/><Relationship Type="http://schemas.openxmlformats.org/officeDocument/2006/relationships/image" Target="/ppt/media/image104.png" Id="Raa98b34c62a747d3"/><Relationship Type="http://schemas.openxmlformats.org/officeDocument/2006/relationships/image" Target="/ppt/media/image105.png" Id="R609df701aa41442c"/><Relationship Type="http://schemas.openxmlformats.org/officeDocument/2006/relationships/notesSlide" Target="/ppt/notesSlides/notesSlide88.xml" Id="R6ec5eb4bbc9e4ac3"/></Relationships>
</file>

<file path=ppt/slides/_rels/slide89.xml.rels><?xml version='1.0' encoding='UTF-8' standalone='yes'?>
<Relationships xmlns="http://schemas.openxmlformats.org/package/2006/relationships"><Relationship Type="http://schemas.openxmlformats.org/officeDocument/2006/relationships/slideLayout" Target="/ppt/slideLayouts/slideLayout1.xml" Id="R00e322ba87b84f8d"/><Relationship Type="http://schemas.openxmlformats.org/officeDocument/2006/relationships/image" Target="/ppt/media/image106.png" Id="R85b1e223d110475d"/><Relationship Type="http://schemas.openxmlformats.org/officeDocument/2006/relationships/image" Target="/ppt/media/image107.png" Id="Rb76a145bf9a24600"/><Relationship Type="http://schemas.openxmlformats.org/officeDocument/2006/relationships/notesSlide" Target="/ppt/notesSlides/notesSlide89.xml" Id="R8df4d1b06326400e"/></Relationships>
</file>

<file path=ppt/slides/_rels/slide90.xml.rels><?xml version='1.0' encoding='UTF-8' standalone='yes'?>
<Relationships xmlns="http://schemas.openxmlformats.org/package/2006/relationships"><Relationship Type="http://schemas.openxmlformats.org/officeDocument/2006/relationships/slideLayout" Target="/ppt/slideLayouts/slideLayout1.xml" Id="R1161867268cf4757"/><Relationship Type="http://schemas.openxmlformats.org/officeDocument/2006/relationships/notesSlide" Target="/ppt/notesSlides/notesSlide90.xml" Id="R06a184e174be449e"/></Relationships>
</file>

<file path=ppt/slides/_rels/slide91.xml.rels><?xml version='1.0' encoding='UTF-8' standalone='yes'?>
<Relationships xmlns="http://schemas.openxmlformats.org/package/2006/relationships"><Relationship Type="http://schemas.openxmlformats.org/officeDocument/2006/relationships/slideLayout" Target="/ppt/slideLayouts/slideLayout1.xml" Id="R39e43cc972c140eb"/><Relationship Type="http://schemas.openxmlformats.org/officeDocument/2006/relationships/notesSlide" Target="/ppt/notesSlides/notesSlide91.xml" Id="R1b04ef93f7a54317"/><Relationship Id="rIdLink3" Type="http://schemas.openxmlformats.org/officeDocument/2006/relationships/hyperlink" Target="https://clubelo.com/System" TargetMode="External"/><Relationship Id="rIdLink4" Type="http://schemas.openxmlformats.org/officeDocument/2006/relationships/hyperlink" Target="https://clubelo.com/System" TargetMode="External"/><Relationship Id="rIdLink5" Type="http://schemas.openxmlformats.org/officeDocument/2006/relationships/hyperlink" Target="https://gwern.net/doc/statistics/order/comparison/1978-elo-theratingofchessplayerspastandpresent.pdf" TargetMode="External"/><Relationship Id="rIdLink6" Type="http://schemas.openxmlformats.org/officeDocument/2006/relationships/hyperlink" Target="https://gwern.net/doc/statistics/order/comparison/1978-elo-theratingofchessplayerspastandpresent.pdf" TargetMode="External"/></Relationships>
</file>

<file path=ppt/slides/_rels/slide92.xml.rels><?xml version='1.0' encoding='UTF-8' standalone='yes'?>
<Relationships xmlns="http://schemas.openxmlformats.org/package/2006/relationships"><Relationship Type="http://schemas.openxmlformats.org/officeDocument/2006/relationships/slideLayout" Target="/ppt/slideLayouts/slideLayout1.xml" Id="Re4af66d289b847d3"/><Relationship Type="http://schemas.openxmlformats.org/officeDocument/2006/relationships/notesSlide" Target="/ppt/notesSlides/notesSlide92.xml" Id="R93a19bdb77544b83"/><Relationship Id="rIdLink3" Type="http://schemas.openxmlformats.org/officeDocument/2006/relationships/hyperlink" Target="https://github.com/jalapic/engsoccerdata" TargetMode="External"/><Relationship Id="rIdLink4" Type="http://schemas.openxmlformats.org/officeDocument/2006/relationships/hyperlink" Target="https://github.com/jalapic/engsoccerdata" TargetMode="External"/><Relationship Id="rIdLink5" Type="http://schemas.openxmlformats.org/officeDocument/2006/relationships/hyperlink" Target="https://github.com/xgabora/Club-Football-Match-Data/blob/main/data/EloRatings.csv" TargetMode="External"/><Relationship Id="rIdLink6" Type="http://schemas.openxmlformats.org/officeDocument/2006/relationships/hyperlink" Target="https://github.com/xgabora/Club-Football-Match-Data/blob/main/data/EloRatings.csv" TargetMode="External"/><Relationship Id="rIdLink7" Type="http://schemas.openxmlformats.org/officeDocument/2006/relationships/hyperlink" Target="https://github.com/statsbomb/open-data" TargetMode="External"/><Relationship Id="rIdLink8" Type="http://schemas.openxmlformats.org/officeDocument/2006/relationships/hyperlink" Target="https://github.com/statsbomb/open-data" TargetMode="External"/></Relationships>
</file>

<file path=ppt/slides/_rels/slide93.xml.rels><?xml version='1.0' encoding='UTF-8' standalone='yes'?>
<Relationships xmlns="http://schemas.openxmlformats.org/package/2006/relationships"><Relationship Type="http://schemas.openxmlformats.org/officeDocument/2006/relationships/slideLayout" Target="/ppt/slideLayouts/slideLayout1.xml" Id="R161d507f90bc4172"/><Relationship Type="http://schemas.openxmlformats.org/officeDocument/2006/relationships/notesSlide" Target="/ppt/notesSlides/notesSlide93.xml" Id="R4853a22589b34b8b"/><Relationship Id="rIdLink3" Type="http://schemas.openxmlformats.org/officeDocument/2006/relationships/hyperlink" Target="https://www.eloratings.net/" TargetMode="External"/><Relationship Id="rIdLink4" Type="http://schemas.openxmlformats.org/officeDocument/2006/relationships/hyperlink" Target="https://www.eloratings.net/" TargetMode="External"/><Relationship Id="rIdLink5" Type="http://schemas.openxmlformats.org/officeDocument/2006/relationships/hyperlink" Target="https://www.cafonline.com/news/everything-you-need-to-know-about-2026-world-cup-qualifying-for-africa/" TargetMode="External"/><Relationship Id="rIdLink6" Type="http://schemas.openxmlformats.org/officeDocument/2006/relationships/hyperlink" Target="https://www.cafonline.com/news/everything-you-need-to-know-about-2026-world-cup-qualifying-for-africa/" TargetMode="External"/><Relationship Id="rIdLink7" Type="http://schemas.openxmlformats.org/officeDocument/2006/relationships/hyperlink" Target="https://www.fifa.com/es/tournaments/mens/worldcup/canadamexicousa2026/articles/grupos-como-funcionan-clasificacion-criterios-desempate" TargetMode="External"/><Relationship Id="rIdLink8" Type="http://schemas.openxmlformats.org/officeDocument/2006/relationships/hyperlink" Target="https://www.fifa.com/es/tournaments/mens/worldcup/canadamexicousa2026/articles/grupos-como-funcionan-clasificacion-criterios-desempate" TargetMode="External"/></Relationships>
</file>

<file path=ppt/slides/_rels/slide94.xml.rels><?xml version='1.0' encoding='UTF-8' standalone='yes'?>
<Relationships xmlns="http://schemas.openxmlformats.org/package/2006/relationships"><Relationship Type="http://schemas.openxmlformats.org/officeDocument/2006/relationships/slideLayout" Target="/ppt/slideLayouts/slideLayout1.xml" Id="Rf01a315a2aa34e49"/><Relationship Type="http://schemas.openxmlformats.org/officeDocument/2006/relationships/notesSlide" Target="/ppt/notesSlides/notesSlide94.xml" Id="Rd43d8438a8b24d07"/><Relationship Id="rIdLink3" Type="http://schemas.openxmlformats.org/officeDocument/2006/relationships/hyperlink" Target="https://docs.scipy.org/doc/scipy/reference/generated/scipy.stats.skellam.html" TargetMode="External"/><Relationship Id="rIdLink4" Type="http://schemas.openxmlformats.org/officeDocument/2006/relationships/hyperlink" Target="https://docs.scipy.org/doc/scipy/reference/generated/scipy.stats.skellam.html" TargetMode="External"/><Relationship Id="rIdLink5" Type="http://schemas.openxmlformats.org/officeDocument/2006/relationships/hyperlink" Target="https://docs.scipy.org/doc/scipy/reference/generated/scipy.stats.poisson.html" TargetMode="External"/><Relationship Id="rIdLink6" Type="http://schemas.openxmlformats.org/officeDocument/2006/relationships/hyperlink" Target="https://docs.scipy.org/doc/scipy/reference/generated/scipy.stats.poisson.html" TargetMode="External"/><Relationship Id="rIdLink7" Type="http://schemas.openxmlformats.org/officeDocument/2006/relationships/hyperlink" Target="https://www.dsfs.de/wp-content/uploads/2024/01/Bundesliga_Geschichte_Tabellen.pdf" TargetMode="External"/><Relationship Id="rIdLink8" Type="http://schemas.openxmlformats.org/officeDocument/2006/relationships/hyperlink" Target="https://www.dsfs.de/wp-content/uploads/2024/01/Bundesliga_Geschichte_Tabellen.pdf" TargetMode="External"/></Relationships>
</file>

<file path=ppt/slides/_rels/slide95.xml.rels><?xml version='1.0' encoding='UTF-8' standalone='yes'?>
<Relationships xmlns="http://schemas.openxmlformats.org/package/2006/relationships"><Relationship Type="http://schemas.openxmlformats.org/officeDocument/2006/relationships/slideLayout" Target="/ppt/slideLayouts/slideLayout1.xml" Id="Rc4965ddc122f4ece"/><Relationship Type="http://schemas.openxmlformats.org/officeDocument/2006/relationships/notesSlide" Target="/ppt/notesSlides/notesSlide95.xml" Id="Rd32d19fac0a44711"/></Relationships>
</file>

<file path=ppt/slides/_rels/slide96.xml.rels><?xml version='1.0' encoding='UTF-8' standalone='yes'?>
<Relationships xmlns="http://schemas.openxmlformats.org/package/2006/relationships"><Relationship Type="http://schemas.openxmlformats.org/officeDocument/2006/relationships/slideLayout" Target="/ppt/slideLayouts/slideLayout1.xml" Id="R251f472e33314e50"/><Relationship Type="http://schemas.openxmlformats.org/officeDocument/2006/relationships/image" Target="/ppt/media/image108.png" Id="R643641c2727e43b7"/><Relationship Type="http://schemas.openxmlformats.org/officeDocument/2006/relationships/notesSlide" Target="/ppt/notesSlides/notesSlide96.xml" Id="R500c349056a84c47"/></Relationships>
</file>

<file path=ppt/slides/_rels/slide97.xml.rels><?xml version="1.0" encoding="utf-8"?><Relationships xmlns="http://schemas.openxmlformats.org/package/2006/relationships"><Relationship Type="http://schemas.openxmlformats.org/officeDocument/2006/relationships/slideLayout" Target="/ppt/slideLayouts/slideLayout1.xml" Id="Rchart00lay"/><Relationship Type="http://schemas.openxmlformats.org/officeDocument/2006/relationships/image" Target="/ppt/media/chart_champions.png" Id="Rchart00img"/><Relationship Type="http://schemas.openxmlformats.org/officeDocument/2006/relationships/notesSlide" Target="/ppt/notesSlides/notesSlide97.xml" Id="Rchart00nts"/></Relationships>
</file>

<file path=ppt/slides/_rels/slide98.xml.rels><?xml version="1.0" encoding="utf-8"?><Relationships xmlns="http://schemas.openxmlformats.org/package/2006/relationships"><Relationship Type="http://schemas.openxmlformats.org/officeDocument/2006/relationships/slideLayout" Target="/ppt/slideLayouts/slideLayout1.xml" Id="Rchart01lay"/><Relationship Type="http://schemas.openxmlformats.org/officeDocument/2006/relationships/image" Target="/ppt/media/chart_timeline.png" Id="Rchart01img"/><Relationship Type="http://schemas.openxmlformats.org/officeDocument/2006/relationships/notesSlide" Target="/ppt/notesSlides/notesSlide98.xml" Id="Rchart01nts"/></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Probabilidad (%)</c:v>
          </c:tx>
          <c:spPr>
            <a:solidFill xmlns:a="http://schemas.openxmlformats.org/drawingml/2006/main">
              <a:srgbClr val="B62835"/>
            </a:solidFill>
          </c:spPr>
          <c:cat>
            <c:strRef>
              <c:f>'Chart Data'!$A$2:$A$3</c:f>
              <c:strCache>
                <c:ptCount val="2"/>
                <c:pt idx="0">
                  <c:v>1964–2023
28 de 60</c:v>
                </c:pt>
                <c:pt idx="1">
                  <c:v>2005–2023
4 de 19</c:v>
                </c:pt>
              </c:strCache>
            </c:strRef>
          </c:cat>
          <c:val>
            <c:numRef>
              <c:f>'Chart Data'!$B$2:$B$3</c:f>
              <c:numCache>
                <c:formatCode>0.00</c:formatCode>
                <c:ptCount val="2"/>
                <c:pt idx="0">
                  <c:v>46.67</c:v>
                </c:pt>
                <c:pt idx="1">
                  <c:v>21.05</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242C"/>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242C"/>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5715">
              <a:solidFill>
                <a:srgbClr val="DCE2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42C"/>
                </a:solidFill>
                <a:latin typeface="Arial"/>
                <a:ea typeface="Arial"/>
                <a:cs typeface="Arial"/>
              </a:defRPr>
            </a:pPr>
          </a:p>
        </c:txPr>
        <c:crossAx val="48650112"/>
        <c:crossBetween val="between"/>
      </c:valAx>
      <c:spPr>
        <a:solidFill xmlns:a="http://schemas.openxmlformats.org/drawingml/2006/main">
          <a:srgbClr val="FAF7F1"/>
        </a:solidFill>
      </c:spPr>
    </c:plotArea>
    <c:plotVisOnly val="1"/>
  </c:chart>
  <c:spPr>
    <a:solidFill xmlns:a="http://schemas.openxmlformats.org/drawingml/2006/main">
      <a:srgbClr val="FAF7F1"/>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Elo al 15 de agosto de 2023</c:v>
          </c:tx>
          <c:spPr>
            <a:solidFill xmlns:a="http://schemas.openxmlformats.org/drawingml/2006/main">
              <a:srgbClr val="B62835"/>
            </a:solidFill>
          </c:spPr>
          <c:cat>
            <c:strRef>
              <c:f>'Chart Data'!$A$2:$A$7</c:f>
              <c:strCache>
                <c:ptCount val="6"/>
                <c:pt idx="0">
                  <c:v>Bayern</c:v>
                </c:pt>
                <c:pt idx="1">
                  <c:v>Dortmund</c:v>
                </c:pt>
                <c:pt idx="2">
                  <c:v>Leipzig</c:v>
                </c:pt>
                <c:pt idx="3">
                  <c:v>Leverkusen</c:v>
                </c:pt>
                <c:pt idx="4">
                  <c:v>Union Berlin</c:v>
                </c:pt>
                <c:pt idx="5">
                  <c:v>Freiburg</c:v>
                </c:pt>
              </c:strCache>
            </c:strRef>
          </c:cat>
          <c:val>
            <c:numRef>
              <c:f>'Chart Data'!$B$2:$B$7</c:f>
              <c:numCache>
                <c:formatCode>0</c:formatCode>
                <c:ptCount val="6"/>
                <c:pt idx="0">
                  <c:v>1935.63</c:v>
                </c:pt>
                <c:pt idx="1">
                  <c:v>1840.54</c:v>
                </c:pt>
                <c:pt idx="2">
                  <c:v>1825.38</c:v>
                </c:pt>
                <c:pt idx="3">
                  <c:v>1748.23</c:v>
                </c:pt>
                <c:pt idx="4">
                  <c:v>1738.94</c:v>
                </c:pt>
                <c:pt idx="5">
                  <c:v>1732.67</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242C"/>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242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5715">
              <a:solidFill>
                <a:srgbClr val="DCE2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42C"/>
                </a:solidFill>
                <a:latin typeface="Arial"/>
                <a:ea typeface="Arial"/>
                <a:cs typeface="Arial"/>
              </a:defRPr>
            </a:pPr>
          </a:p>
        </c:txPr>
        <c:crossAx val="48650112"/>
        <c:crossBetween val="between"/>
      </c:valAx>
      <c:spPr>
        <a:solidFill xmlns:a="http://schemas.openxmlformats.org/drawingml/2006/main">
          <a:srgbClr val="FAF7F1"/>
        </a:solidFill>
      </c:spPr>
    </c:plotArea>
    <c:plotVisOnly val="1"/>
  </c:chart>
  <c:spPr>
    <a:solidFill xmlns:a="http://schemas.openxmlformats.org/drawingml/2006/main">
      <a:srgbClr val="FAF7F1"/>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Temporadas por número de derrotas</c:v>
          </c:tx>
          <c:spPr>
            <a:solidFill xmlns:a="http://schemas.openxmlformats.org/drawingml/2006/main">
              <a:srgbClr val="B62835"/>
            </a:solidFill>
          </c:spPr>
          <c:cat>
            <c:numRef>
              <c:f>'Chart Data'!$A$2:$A$26</c:f>
              <c:numCache>
                <c:formatCode>General</c:formatCod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numCache>
            </c:numRef>
          </c:cat>
          <c:val>
            <c:numRef>
              <c:f>'Chart Data'!$B$2:$B$26</c:f>
              <c:numCache>
                <c:formatCode>0.00</c:formatCode>
                <c:ptCount val="25"/>
                <c:pt idx="0">
                  <c:v>0</c:v>
                </c:pt>
                <c:pt idx="1">
                  <c:v>2</c:v>
                </c:pt>
                <c:pt idx="2">
                  <c:v>1</c:v>
                </c:pt>
                <c:pt idx="3">
                  <c:v>10</c:v>
                </c:pt>
                <c:pt idx="4">
                  <c:v>49</c:v>
                </c:pt>
                <c:pt idx="5">
                  <c:v>142</c:v>
                </c:pt>
                <c:pt idx="6">
                  <c:v>290</c:v>
                </c:pt>
                <c:pt idx="7">
                  <c:v>525</c:v>
                </c:pt>
                <c:pt idx="8">
                  <c:v>920</c:v>
                </c:pt>
                <c:pt idx="9">
                  <c:v>1267</c:v>
                </c:pt>
                <c:pt idx="10">
                  <c:v>1568</c:v>
                </c:pt>
                <c:pt idx="11">
                  <c:v>1492</c:v>
                </c:pt>
                <c:pt idx="12">
                  <c:v>1286</c:v>
                </c:pt>
                <c:pt idx="13">
                  <c:v>1057</c:v>
                </c:pt>
                <c:pt idx="14">
                  <c:v>640</c:v>
                </c:pt>
                <c:pt idx="15">
                  <c:v>403</c:v>
                </c:pt>
                <c:pt idx="16">
                  <c:v>208</c:v>
                </c:pt>
                <c:pt idx="17">
                  <c:v>83</c:v>
                </c:pt>
                <c:pt idx="18">
                  <c:v>41</c:v>
                </c:pt>
                <c:pt idx="19">
                  <c:v>11</c:v>
                </c:pt>
                <c:pt idx="20">
                  <c:v>4</c:v>
                </c:pt>
                <c:pt idx="21">
                  <c:v>1</c:v>
                </c:pt>
                <c:pt idx="22">
                  <c:v>0</c:v>
                </c:pt>
                <c:pt idx="23">
                  <c:v>0</c:v>
                </c:pt>
                <c:pt idx="24">
                  <c:v>0</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242C"/>
                  </a:solidFill>
                  <a:latin typeface="Arial"/>
                  <a:ea typeface="Arial"/>
                  <a:cs typeface="Arial"/>
                </a:defRPr>
              </a:pPr>
            </a:p>
          </c:txPr>
          <c:dLblPos val="outEnd"/>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242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5715">
              <a:solidFill>
                <a:srgbClr val="DCE2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42C"/>
                </a:solidFill>
                <a:latin typeface="Arial"/>
                <a:ea typeface="Arial"/>
                <a:cs typeface="Arial"/>
              </a:defRPr>
            </a:pPr>
          </a:p>
        </c:txPr>
        <c:crossAx val="48650112"/>
        <c:crossBetween val="between"/>
      </c:valAx>
      <c:spPr>
        <a:solidFill xmlns:a="http://schemas.openxmlformats.org/drawingml/2006/main">
          <a:srgbClr val="FAF7F1"/>
        </a:solidFill>
      </c:spPr>
    </c:plotArea>
    <c:plotVisOnly val="1"/>
  </c:chart>
  <c:spPr>
    <a:solidFill xmlns:a="http://schemas.openxmlformats.org/drawingml/2006/main">
      <a:srgbClr val="FAF7F1"/>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 de cero derrotas (%)</c:v>
          </c:tx>
          <c:spPr>
            <a:solidFill xmlns:a="http://schemas.openxmlformats.org/drawingml/2006/main">
              <a:srgbClr val="B62835"/>
            </a:solidFill>
          </c:spPr>
          <c:cat>
            <c:strRef>
              <c:f>'Chart Data'!$A$2:$A$4</c:f>
              <c:strCache>
                <c:ptCount val="3"/>
                <c:pt idx="0">
                  <c:v>Todos</c:v>
                </c:pt>
                <c:pt idx="1">
                  <c:v>Bayern</c:v>
                </c:pt>
                <c:pt idx="2">
                  <c:v>Otros</c:v>
                </c:pt>
              </c:strCache>
            </c:strRef>
          </c:cat>
          <c:val>
            <c:numRef>
              <c:f>'Chart Data'!$B$2:$B$4</c:f>
              <c:numCache>
                <c:formatCode>0.00</c:formatCode>
                <c:ptCount val="3"/>
                <c:pt idx="0">
                  <c:v>1.06</c:v>
                </c:pt>
                <c:pt idx="1">
                  <c:v>1.62</c:v>
                </c:pt>
                <c:pt idx="2">
                  <c:v>0.65</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242C"/>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242C"/>
                </a:solidFill>
                <a:latin typeface="Arial"/>
                <a:ea typeface="Arial"/>
                <a:cs typeface="Arial"/>
              </a:defRPr>
            </a:pPr>
          </a:p>
        </c:txPr>
        <c:crossAx val="48672768"/>
      </c:catAx>
      <c:valAx>
        <c:axId val="48672768"/>
        <c:scaling>
          <c:orientation val="minMax"/>
          <c:max val="2"/>
          <c:min val="0"/>
        </c:scaling>
        <c:delete val="0"/>
        <c:axPos val="l"/>
        <c:majorGridlines>
          <c:spPr>
            <a:ln xmlns:a="http://schemas.openxmlformats.org/drawingml/2006/main" w="5715">
              <a:solidFill>
                <a:srgbClr val="DCE2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42C"/>
                </a:solidFill>
                <a:latin typeface="Arial"/>
                <a:ea typeface="Arial"/>
                <a:cs typeface="Arial"/>
              </a:defRPr>
            </a:pPr>
          </a:p>
        </c:txPr>
        <c:crossAx val="48650112"/>
        <c:crossBetween val="between"/>
      </c:valAx>
      <c:spPr>
        <a:solidFill xmlns:a="http://schemas.openxmlformats.org/drawingml/2006/main">
          <a:srgbClr val="FAF7F1"/>
        </a:solidFill>
      </c:spPr>
    </c:plotArea>
    <c:plotVisOnly val="1"/>
  </c:chart>
  <c:spPr>
    <a:solidFill xmlns:a="http://schemas.openxmlformats.org/drawingml/2006/main">
      <a:srgbClr val="FAF7F1"/>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Probabilidad de rescate (%)</c:v>
          </c:tx>
          <c:spPr>
            <a:solidFill xmlns:a="http://schemas.openxmlformats.org/drawingml/2006/main">
              <a:srgbClr val="B62835"/>
            </a:solidFill>
          </c:spPr>
          <c:cat>
            <c:strRef>
              <c:f>'Chart Data'!$A$2:$A$5</c:f>
              <c:strCache>
                <c:ptCount val="4"/>
                <c:pt idx="0">
                  <c:v>Bayern</c:v>
                </c:pt>
                <c:pt idx="1">
                  <c:v>Hoffenheim</c:v>
                </c:pt>
                <c:pt idx="2">
                  <c:v>Dortmund</c:v>
                </c:pt>
                <c:pt idx="3">
                  <c:v>Stuttgart</c:v>
                </c:pt>
              </c:strCache>
            </c:strRef>
          </c:cat>
          <c:val>
            <c:numRef>
              <c:f>'Chart Data'!$B$2:$B$5</c:f>
              <c:numCache>
                <c:formatCode>0.00</c:formatCode>
                <c:ptCount val="4"/>
                <c:pt idx="0">
                  <c:v>14.55</c:v>
                </c:pt>
                <c:pt idx="1">
                  <c:v>16.73</c:v>
                </c:pt>
                <c:pt idx="2">
                  <c:v>15.12</c:v>
                </c:pt>
                <c:pt idx="3">
                  <c:v>18.42</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242C"/>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242C"/>
                </a:solidFill>
                <a:latin typeface="Arial"/>
                <a:ea typeface="Arial"/>
                <a:cs typeface="Arial"/>
              </a:defRPr>
            </a:pPr>
          </a:p>
        </c:txPr>
        <c:crossAx val="48672768"/>
      </c:catAx>
      <c:valAx>
        <c:axId val="48672768"/>
        <c:scaling>
          <c:orientation val="minMax"/>
          <c:max val="25"/>
          <c:min val="0"/>
        </c:scaling>
        <c:delete val="0"/>
        <c:axPos val="l"/>
        <c:majorGridlines>
          <c:spPr>
            <a:ln xmlns:a="http://schemas.openxmlformats.org/drawingml/2006/main" w="5715">
              <a:solidFill>
                <a:srgbClr val="DCE2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42C"/>
                </a:solidFill>
                <a:latin typeface="Arial"/>
                <a:ea typeface="Arial"/>
                <a:cs typeface="Arial"/>
              </a:defRPr>
            </a:pPr>
          </a:p>
        </c:txPr>
        <c:crossAx val="48650112"/>
        <c:crossBetween val="between"/>
      </c:valAx>
      <c:spPr>
        <a:solidFill xmlns:a="http://schemas.openxmlformats.org/drawingml/2006/main">
          <a:srgbClr val="FAF7F1"/>
        </a:solidFill>
      </c:spPr>
    </c:plotArea>
    <c:plotVisOnly val="1"/>
  </c:chart>
  <c:spPr>
    <a:solidFill xmlns:a="http://schemas.openxmlformats.org/drawingml/2006/main">
      <a:srgbClr val="FAF7F1"/>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Elo previo a la eliminatoria</c:v>
          </c:tx>
          <c:spPr>
            <a:solidFill xmlns:a="http://schemas.openxmlformats.org/drawingml/2006/main">
              <a:srgbClr val="176B9A"/>
            </a:solidFill>
          </c:spPr>
          <c:cat>
            <c:strRef>
              <c:f>'Chart Data'!$A$2:$A$7</c:f>
              <c:strCache>
                <c:ptCount val="6"/>
                <c:pt idx="0">
                  <c:v>Camerún</c:v>
                </c:pt>
                <c:pt idx="1">
                  <c:v>Cabo Verde</c:v>
                </c:pt>
                <c:pt idx="2">
                  <c:v>Angola</c:v>
                </c:pt>
                <c:pt idx="3">
                  <c:v>Libia</c:v>
                </c:pt>
                <c:pt idx="4">
                  <c:v>Esuatini</c:v>
                </c:pt>
                <c:pt idx="5">
                  <c:v>Mauricio</c:v>
                </c:pt>
              </c:strCache>
            </c:strRef>
          </c:cat>
          <c:val>
            <c:numRef>
              <c:f>'Chart Data'!$B$2:$B$7</c:f>
              <c:numCache>
                <c:formatCode>0</c:formatCode>
                <c:ptCount val="6"/>
                <c:pt idx="0">
                  <c:v>1625</c:v>
                </c:pt>
                <c:pt idx="1">
                  <c:v>1474</c:v>
                </c:pt>
                <c:pt idx="2">
                  <c:v>1388</c:v>
                </c:pt>
                <c:pt idx="3">
                  <c:v>1331</c:v>
                </c:pt>
                <c:pt idx="4">
                  <c:v>1286</c:v>
                </c:pt>
                <c:pt idx="5">
                  <c:v>1031</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242C"/>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242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5715">
              <a:solidFill>
                <a:srgbClr val="DCE2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42C"/>
                </a:solidFill>
                <a:latin typeface="Arial"/>
                <a:ea typeface="Arial"/>
                <a:cs typeface="Arial"/>
              </a:defRPr>
            </a:pPr>
          </a:p>
        </c:txPr>
        <c:crossAx val="48650112"/>
        <c:crossBetween val="between"/>
      </c:valAx>
      <c:spPr>
        <a:solidFill xmlns:a="http://schemas.openxmlformats.org/drawingml/2006/main">
          <a:srgbClr val="F3F7FA"/>
        </a:solidFill>
      </c:spPr>
    </c:plotArea>
    <c:plotVisOnly val="1"/>
  </c:chart>
  <c:spPr>
    <a:solidFill xmlns:a="http://schemas.openxmlformats.org/drawingml/2006/main">
      <a:srgbClr val="F3F7FA"/>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Elo anterior al 11 de junio de 2026</c:v>
          </c:tx>
          <c:spPr>
            <a:solidFill xmlns:a="http://schemas.openxmlformats.org/drawingml/2006/main">
              <a:srgbClr val="176B9A"/>
            </a:solidFill>
          </c:spPr>
          <c:cat>
            <c:strRef>
              <c:f>'Chart Data'!$A$2:$A$5</c:f>
              <c:strCache>
                <c:ptCount val="4"/>
                <c:pt idx="0">
                  <c:v>España</c:v>
                </c:pt>
                <c:pt idx="1">
                  <c:v>Uruguay</c:v>
                </c:pt>
                <c:pt idx="2">
                  <c:v>Arabia Saudita</c:v>
                </c:pt>
                <c:pt idx="3">
                  <c:v>Cabo Verde</c:v>
                </c:pt>
              </c:strCache>
            </c:strRef>
          </c:cat>
          <c:val>
            <c:numRef>
              <c:f>'Chart Data'!$B$2:$B$5</c:f>
              <c:numCache>
                <c:formatCode>0</c:formatCode>
                <c:ptCount val="4"/>
                <c:pt idx="0">
                  <c:v>2157</c:v>
                </c:pt>
                <c:pt idx="1">
                  <c:v>1892</c:v>
                </c:pt>
                <c:pt idx="2">
                  <c:v>1576</c:v>
                </c:pt>
                <c:pt idx="3">
                  <c:v>1578</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242C"/>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242C"/>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5715">
              <a:solidFill>
                <a:srgbClr val="DCE2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42C"/>
                </a:solidFill>
                <a:latin typeface="Arial"/>
                <a:ea typeface="Arial"/>
                <a:cs typeface="Arial"/>
              </a:defRPr>
            </a:pPr>
          </a:p>
        </c:txPr>
        <c:crossAx val="48650112"/>
        <c:crossBetween val="between"/>
      </c:valAx>
      <c:spPr>
        <a:solidFill xmlns:a="http://schemas.openxmlformats.org/drawingml/2006/main">
          <a:srgbClr val="F3F7FA"/>
        </a:solidFill>
      </c:spPr>
    </c:plotArea>
    <c:plotVisOnly val="1"/>
  </c:chart>
  <c:spPr>
    <a:solidFill xmlns:a="http://schemas.openxmlformats.org/drawingml/2006/main">
      <a:srgbClr val="F3F7FA"/>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Probabilidad (%)</c:v>
          </c:tx>
          <c:spPr>
            <a:solidFill xmlns:a="http://schemas.openxmlformats.org/drawingml/2006/main">
              <a:srgbClr val="176B9A"/>
            </a:solidFill>
          </c:spPr>
          <c:cat>
            <c:strRef>
              <c:f>'Chart Data'!$A$2:$A$5</c:f>
              <c:strCache>
                <c:ptCount val="4"/>
                <c:pt idx="0">
                  <c:v>Sin condiciones</c:v>
                </c:pt>
                <c:pt idx="1">
                  <c:v>Tres empates</c:v>
                </c:pt>
                <c:pt idx="2">
                  <c:v>Tres empates +
Uruguay no pierde</c:v>
                </c:pt>
                <c:pt idx="3">
                  <c:v>Tres empates +
tercer puesto</c:v>
                </c:pt>
              </c:strCache>
            </c:strRef>
          </c:cat>
          <c:val>
            <c:numRef>
              <c:f>'Chart Data'!$B$2:$B$5</c:f>
              <c:numCache>
                <c:formatCode>0.00</c:formatCode>
                <c:ptCount val="4"/>
                <c:pt idx="0">
                  <c:v>23.36</c:v>
                </c:pt>
                <c:pt idx="1">
                  <c:v>95.31</c:v>
                </c:pt>
                <c:pt idx="2">
                  <c:v>93.71</c:v>
                </c:pt>
                <c:pt idx="3">
                  <c:v>96.23</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242C"/>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242C"/>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5715">
              <a:solidFill>
                <a:srgbClr val="DCE2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42C"/>
                </a:solidFill>
                <a:latin typeface="Arial"/>
                <a:ea typeface="Arial"/>
                <a:cs typeface="Arial"/>
              </a:defRPr>
            </a:pPr>
          </a:p>
        </c:txPr>
        <c:crossAx val="48650112"/>
        <c:crossBetween val="between"/>
      </c:valAx>
      <c:spPr>
        <a:solidFill xmlns:a="http://schemas.openxmlformats.org/drawingml/2006/main">
          <a:srgbClr val="F3F7FA"/>
        </a:solidFill>
      </c:spPr>
    </c:plotArea>
    <c:plotVisOnly val="1"/>
  </c:chart>
  <c:spPr>
    <a:solidFill xmlns:a="http://schemas.openxmlformats.org/drawingml/2006/main">
      <a:srgbClr val="F3F7FA"/>
    </a:solidFill>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 de victoria o empate (%)</c:v>
          </c:tx>
          <c:spPr>
            <a:solidFill xmlns:a="http://schemas.openxmlformats.org/drawingml/2006/main">
              <a:srgbClr val="176B9A"/>
            </a:solidFill>
          </c:spPr>
          <c:cat>
            <c:strRef>
              <c:f>'Chart Data'!$A$2:$A$5</c:f>
              <c:strCache>
                <c:ptCount val="4"/>
                <c:pt idx="0">
                  <c:v>Egipto</c:v>
                </c:pt>
                <c:pt idx="1">
                  <c:v>Suiza</c:v>
                </c:pt>
                <c:pt idx="2">
                  <c:v>Inglaterra</c:v>
                </c:pt>
                <c:pt idx="3">
                  <c:v>España</c:v>
                </c:pt>
              </c:strCache>
            </c:strRef>
          </c:cat>
          <c:val>
            <c:numRef>
              <c:f>'Chart Data'!$B$2:$B$5</c:f>
              <c:numCache>
                <c:formatCode>0.00</c:formatCode>
                <c:ptCount val="4"/>
                <c:pt idx="0">
                  <c:v>45.34</c:v>
                </c:pt>
                <c:pt idx="1">
                  <c:v>21</c:v>
                </c:pt>
                <c:pt idx="2">
                  <c:v>11.09</c:v>
                </c:pt>
                <c:pt idx="3">
                  <c:v>5.56</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242C"/>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242C"/>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5715">
              <a:solidFill>
                <a:srgbClr val="DCE2E3"/>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17242C"/>
                </a:solidFill>
                <a:latin typeface="Arial"/>
                <a:ea typeface="Arial"/>
                <a:cs typeface="Arial"/>
              </a:defRPr>
            </a:pPr>
          </a:p>
        </c:txPr>
        <c:crossAx val="48650112"/>
        <c:crossBetween val="between"/>
      </c:valAx>
      <c:spPr>
        <a:solidFill xmlns:a="http://schemas.openxmlformats.org/drawingml/2006/main">
          <a:srgbClr val="F3F7FA"/>
        </a:solidFill>
      </c:spPr>
    </c:plotArea>
    <c:plotVisOnly val="1"/>
  </c:chart>
  <c:spPr>
    <a:solidFill xmlns:a="http://schemas.openxmlformats.org/drawingml/2006/main">
      <a:srgbClr val="F3F7FA"/>
    </a:solidFill>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1a027108bd8441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5A997A8-C47B-403E-9BAD-E982EAF0A988}"/>
              </a:ext>
            </a:extLst>
          </p:cNvPr>
          <p:cNvSpPr>
            <a:spLocks xmlns:a="http://schemas.openxmlformats.org/drawingml/2006/main" noGrp="1"/>
          </p:cNvSpPr>
          <p:nvPr/>
        </p:nvSpPr>
        <p:spPr>
          <a:xfrm xmlns:a="http://schemas.openxmlformats.org/drawingml/2006/main">
            <a:off x="619125" y="762000"/>
            <a:ext cx="10287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Probabilidad de las</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hazañas del fútbol</a:t>
            </a:r>
          </a:p>
        </p:txBody>
      </p:sp>
      <p:sp>
        <p:nvSpPr>
          <p:cNvPr id="3" name="">
            <a:extLst xmlns:a="http://schemas.openxmlformats.org/drawingml/2006/main">
              <a:ext uri="{FF2B5EF4-FFF2-40B4-BE49-F238E27FC236}">
                <a16:creationId xmlns:a16="http://schemas.microsoft.com/office/drawing/2014/main" id="{B21BC447-6452-4EEE-A2E3-85C9B7D0B082}"/>
              </a:ext>
            </a:extLst>
          </p:cNvPr>
          <p:cNvSpPr>
            <a:spLocks xmlns:a="http://schemas.openxmlformats.org/drawingml/2006/main" noGrp="1"/>
          </p:cNvSpPr>
          <p:nvPr/>
        </p:nvSpPr>
        <p:spPr>
          <a:xfrm xmlns:a="http://schemas.openxmlformats.org/drawingml/2006/main">
            <a:off x="666750" y="2828925"/>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FFFFF"/>
                </a:solidFill>
                <a:latin typeface="Arial"/>
                <a:ea typeface="Arial"/>
                <a:cs typeface="Arial"/>
              </a:defRPr>
            </a:pPr>
            <a:r>
              <a:rPr sz="2625" b="0">
                <a:solidFill>
                  <a:srgbClr val="FFFFFF"/>
                </a:solidFill>
                <a:latin typeface="Arial"/>
                <a:ea typeface="Arial"/>
                <a:cs typeface="Arial"/>
              </a:rPr>
              <a:t>Leverkusen y Cabo Verde</a:t>
            </a:r>
          </a:p>
        </p:txBody>
      </p:sp>
      <p:sp>
        <p:nvSpPr>
          <p:cNvPr id="4" name="">
            <a:extLst xmlns:a="http://schemas.openxmlformats.org/drawingml/2006/main">
              <a:ext uri="{FF2B5EF4-FFF2-40B4-BE49-F238E27FC236}">
                <a16:creationId xmlns:a16="http://schemas.microsoft.com/office/drawing/2014/main" id="{7B538EFB-2E53-44DD-A91D-CC1EE52B6F88}"/>
              </a:ext>
            </a:extLst>
          </p:cNvPr>
          <p:cNvSpPr>
            <a:spLocks xmlns:a="http://schemas.openxmlformats.org/drawingml/2006/main" noGrp="1"/>
          </p:cNvSpPr>
          <p:nvPr/>
        </p:nvSpPr>
        <p:spPr>
          <a:xfrm xmlns:a="http://schemas.openxmlformats.org/drawingml/2006/main">
            <a:off x="666750" y="4181475"/>
            <a:ext cx="1076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Didvin Nohel Estrada Pineda · 14092</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Jose Humberto Najar Venavente · 13661</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Pablo Rodolfo Alexander Flores Mollinedo · 14643</a:t>
            </a:r>
          </a:p>
        </p:txBody>
      </p:sp>
      <p:sp>
        <p:nvSpPr>
          <p:cNvPr id="5" name="">
            <a:extLst xmlns:a="http://schemas.openxmlformats.org/drawingml/2006/main">
              <a:ext uri="{FF2B5EF4-FFF2-40B4-BE49-F238E27FC236}">
                <a16:creationId xmlns:a16="http://schemas.microsoft.com/office/drawing/2014/main" id="{3A409F7A-089B-45E6-BC05-DC48BD474E63}"/>
              </a:ext>
            </a:extLst>
          </p:cNvPr>
          <p:cNvSpPr>
            <a:spLocks xmlns:a="http://schemas.openxmlformats.org/drawingml/2006/main" noGrp="1"/>
          </p:cNvSpPr>
          <p:nvPr/>
        </p:nvSpPr>
        <p:spPr>
          <a:xfrm xmlns:a="http://schemas.openxmlformats.org/drawingml/2006/main">
            <a:off x="666750" y="5524500"/>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Análisis de Datos · Catedrático: Juan Andrés García Porres</a:t>
            </a:r>
          </a:p>
        </p:txBody>
      </p:sp>
      <p:sp>
        <p:nvSpPr>
          <p:cNvPr id="6" name="">
            <a:extLst xmlns:a="http://schemas.openxmlformats.org/drawingml/2006/main">
              <a:ext uri="{FF2B5EF4-FFF2-40B4-BE49-F238E27FC236}">
                <a16:creationId xmlns:a16="http://schemas.microsoft.com/office/drawing/2014/main" id="{3BCCC473-E064-4331-AB39-8AEA51EA8F16}"/>
              </a:ext>
            </a:extLst>
          </p:cNvPr>
          <p:cNvSpPr>
            <a:spLocks xmlns:a="http://schemas.openxmlformats.org/drawingml/2006/main" noGrp="1"/>
          </p:cNvSpPr>
          <p:nvPr/>
        </p:nvSpPr>
        <p:spPr>
          <a:xfrm xmlns:a="http://schemas.openxmlformats.org/drawingml/2006/main">
            <a:off x="666750" y="604837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Universidad del Istmo · Septiembre de 2026</a:t>
            </a:r>
          </a:p>
        </p:txBody>
      </p:sp>
    </p:spTree>
    <p:extLst>
      <p:ext uri="{BB962C8B-B14F-4D97-AF65-F5344CB8AC3E}">
        <p14:creationId xmlns:p14="http://schemas.microsoft.com/office/powerpoint/2010/main" val="824461937"/>
      </p:ext>
    </p:extLst>
  </p:cSld>
  <p:transition spd="slow" advClick="1">
    <p:fade/>
  </p:transition>
</p:sld>
</file>

<file path=ppt/slides/slide2.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3147E2F-156D-45CE-8E7F-223C06994249}"/>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CA385EF9-5E10-4CC1-B730-4FF488B90841}"/>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Preguntas y estructura del análisis</a:t>
            </a:r>
          </a:p>
        </p:txBody>
      </p:sp>
      <p:sp>
        <p:nvSpPr>
          <p:cNvPr id="3" name="">
            <a:extLst xmlns:a="http://schemas.openxmlformats.org/drawingml/2006/main">
              <a:ext uri="{FF2B5EF4-FFF2-40B4-BE49-F238E27FC236}">
                <a16:creationId xmlns:a16="http://schemas.microsoft.com/office/drawing/2014/main" id="{7C4D24C9-D543-4F89-9A10-0FC37104782F}"/>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ABEAA6C9-76B7-4A26-ABAE-5AFCDC0623CA}"/>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EC31862E-5E28-4C67-8F40-6EB02AFA6421}"/>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8DCF20A8-4046-498F-A0EB-F90E649FF54A}"/>
              </a:ext>
            </a:extLst>
          </p:cNvPr>
          <p:cNvSpPr>
            <a:spLocks xmlns:a="http://schemas.openxmlformats.org/drawingml/2006/main" noGrp="1"/>
          </p:cNvSpPr>
          <p:nvPr/>
        </p:nvSpPr>
        <p:spPr>
          <a:xfrm xmlns:a="http://schemas.openxmlformats.org/drawingml/2006/main">
            <a:off x="609600" y="199072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C"/>
                </a:solidFill>
                <a:latin typeface="Arial"/>
                <a:ea typeface="Arial"/>
                <a:cs typeface="Arial"/>
              </a:defRPr>
            </a:pPr>
            <a:r>
              <a:rPr sz="2100" b="0">
                <a:solidFill>
                  <a:srgbClr val="17242C"/>
                </a:solidFill>
                <a:latin typeface="Arial"/>
                <a:ea typeface="Arial"/>
                <a:cs typeface="Arial"/>
              </a:rPr>
              <a:t>Leverkusen: probabilidad del invicto y diagnóstico de rescates</a:t>
            </a:r>
          </a:p>
        </p:txBody>
      </p:sp>
      <p:sp>
        <p:nvSpPr>
          <p:cNvPr id="7" name="">
            <a:extLst xmlns:a="http://schemas.openxmlformats.org/drawingml/2006/main">
              <a:ext uri="{FF2B5EF4-FFF2-40B4-BE49-F238E27FC236}">
                <a16:creationId xmlns:a16="http://schemas.microsoft.com/office/drawing/2014/main" id="{B2F6291D-4E84-4669-B964-71B7505FAB89}"/>
              </a:ext>
            </a:extLst>
          </p:cNvPr>
          <p:cNvSpPr>
            <a:spLocks xmlns:a="http://schemas.openxmlformats.org/drawingml/2006/main" noGrp="1"/>
          </p:cNvSpPr>
          <p:nvPr/>
        </p:nvSpPr>
        <p:spPr>
          <a:xfrm xmlns:a="http://schemas.openxmlformats.org/drawingml/2006/main">
            <a:off x="609600" y="295275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C"/>
                </a:solidFill>
                <a:latin typeface="Arial"/>
                <a:ea typeface="Arial"/>
                <a:cs typeface="Arial"/>
              </a:defRPr>
            </a:pPr>
            <a:r>
              <a:rPr sz="2100" b="0">
                <a:solidFill>
                  <a:srgbClr val="17242C"/>
                </a:solidFill>
                <a:latin typeface="Arial"/>
                <a:ea typeface="Arial"/>
                <a:cs typeface="Arial"/>
              </a:rPr>
              <a:t>Cabo Verde: clasificación, escenarios de grupo y ruta al título</a:t>
            </a:r>
          </a:p>
        </p:txBody>
      </p:sp>
      <p:sp>
        <p:nvSpPr>
          <p:cNvPr id="8" name="">
            <a:extLst xmlns:a="http://schemas.openxmlformats.org/drawingml/2006/main">
              <a:ext uri="{FF2B5EF4-FFF2-40B4-BE49-F238E27FC236}">
                <a16:creationId xmlns:a16="http://schemas.microsoft.com/office/drawing/2014/main" id="{5425309A-72B4-41B3-9783-7CB836C32EE3}"/>
              </a:ext>
            </a:extLst>
          </p:cNvPr>
          <p:cNvSpPr>
            <a:spLocks xmlns:a="http://schemas.openxmlformats.org/drawingml/2006/main" noGrp="1"/>
          </p:cNvSpPr>
          <p:nvPr/>
        </p:nvSpPr>
        <p:spPr>
          <a:xfrm xmlns:a="http://schemas.openxmlformats.org/drawingml/2006/main">
            <a:off x="609600" y="39147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C"/>
                </a:solidFill>
                <a:latin typeface="Arial"/>
                <a:ea typeface="Arial"/>
                <a:cs typeface="Arial"/>
              </a:defRPr>
            </a:pPr>
            <a:r>
              <a:rPr sz="2100" b="0">
                <a:solidFill>
                  <a:srgbClr val="17242C"/>
                </a:solidFill>
                <a:latin typeface="Arial"/>
                <a:ea typeface="Arial"/>
                <a:cs typeface="Arial"/>
              </a:rPr>
              <a:t>Desarrollo: eventos, supuestos, ecuaciones y cálculos</a:t>
            </a:r>
          </a:p>
        </p:txBody>
      </p:sp>
      <p:sp>
        <p:nvSpPr>
          <p:cNvPr id="9" name="">
            <a:extLst xmlns:a="http://schemas.openxmlformats.org/drawingml/2006/main">
              <a:ext uri="{FF2B5EF4-FFF2-40B4-BE49-F238E27FC236}">
                <a16:creationId xmlns:a16="http://schemas.microsoft.com/office/drawing/2014/main" id="{707DB332-F8CC-4753-838C-309857FADC88}"/>
              </a:ext>
            </a:extLst>
          </p:cNvPr>
          <p:cNvSpPr>
            <a:spLocks xmlns:a="http://schemas.openxmlformats.org/drawingml/2006/main" noGrp="1"/>
          </p:cNvSpPr>
          <p:nvPr/>
        </p:nvSpPr>
        <p:spPr>
          <a:xfrm xmlns:a="http://schemas.openxmlformats.org/drawingml/2006/main">
            <a:off x="609600" y="487680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C"/>
                </a:solidFill>
                <a:latin typeface="Arial"/>
                <a:ea typeface="Arial"/>
                <a:cs typeface="Arial"/>
              </a:defRPr>
            </a:pPr>
            <a:r>
              <a:rPr sz="2100" b="0">
                <a:solidFill>
                  <a:srgbClr val="17242C"/>
                </a:solidFill>
                <a:latin typeface="Arial"/>
                <a:ea typeface="Arial"/>
                <a:cs typeface="Arial"/>
              </a:rPr>
              <a:t>Conclusiones: estimaciones, incertidumbre y límites inferenciales</a:t>
            </a:r>
          </a:p>
        </p:txBody>
      </p:sp>
    </p:spTree>
    <p:extLst>
      <p:ext uri="{BB962C8B-B14F-4D97-AF65-F5344CB8AC3E}">
        <p14:creationId xmlns:p14="http://schemas.microsoft.com/office/powerpoint/2010/main" val="753213933"/>
      </p:ext>
    </p:extLst>
  </p:cSld>
  <p:transition spd="slow" advClick="1">
    <p:fade/>
  </p:transition>
</p:sld>
</file>

<file path=ppt/slides/slide3.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93A645-8225-41CE-B502-860C80FC3B11}"/>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0A7FA035-2AEE-48A2-ABB9-031432C2A5FE}"/>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Qué es Elo y qué representa</a:t>
            </a:r>
          </a:p>
        </p:txBody>
      </p:sp>
      <p:sp>
        <p:nvSpPr>
          <p:cNvPr id="3" name="">
            <a:extLst xmlns:a="http://schemas.openxmlformats.org/drawingml/2006/main">
              <a:ext uri="{FF2B5EF4-FFF2-40B4-BE49-F238E27FC236}">
                <a16:creationId xmlns:a16="http://schemas.microsoft.com/office/drawing/2014/main" id="{84F6D74E-7484-42C0-858B-BFB03D43360E}"/>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8BDA414B-6BFC-43C1-B257-0BBBA1FDF5F8}"/>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1A13660E-71B6-4CB5-A7B7-39A1B813571F}"/>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B08C9BD6-17D1-4DEB-A639-38F97C173CC0}"/>
              </a:ext>
            </a:extLst>
          </p:cNvPr>
          <p:cNvSpPr>
            <a:spLocks xmlns:a="http://schemas.openxmlformats.org/drawingml/2006/main" noGrp="1"/>
          </p:cNvSpPr>
          <p:nvPr/>
        </p:nvSpPr>
        <p:spPr>
          <a:xfrm xmlns:a="http://schemas.openxmlformats.org/drawingml/2006/main">
            <a:off x="666750" y="20193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Elo es un sistema de valoración de fuerza relativa, llamado así por Arpad Elo; no es una sigla. Asigna una puntuación a cada equipo. La diferencia entre dos valoraciones permite calcular el resultado esperado: un rival con más Elo representa, según el sistema, una mayor dificultad.</a:t>
            </a:r>
          </a:p>
        </p:txBody>
      </p:sp>
      <p:sp>
        <p:nvSpPr>
          <p:cNvPr id="7" name="">
            <a:extLst xmlns:a="http://schemas.openxmlformats.org/drawingml/2006/main">
              <a:ext uri="{FF2B5EF4-FFF2-40B4-BE49-F238E27FC236}">
                <a16:creationId xmlns:a16="http://schemas.microsoft.com/office/drawing/2014/main" id="{524B4AE9-ABD4-49E7-9280-B15446451A35}"/>
              </a:ext>
            </a:extLst>
          </p:cNvPr>
          <p:cNvSpPr>
            <a:spLocks xmlns:a="http://schemas.openxmlformats.org/drawingml/2006/main" noGrp="1"/>
          </p:cNvSpPr>
          <p:nvPr/>
        </p:nvSpPr>
        <p:spPr>
          <a:xfrm xmlns:a="http://schemas.openxmlformats.org/drawingml/2006/main">
            <a:off x="666750" y="40386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En este trabajo, E representa P(victoria) + ½ P(empate), no la probabilidad de ganar. Los Elo observados son entradas fijas durante cada simulación. Aunque algunos proveedores los redondean a enteros, se tratan como una escala numérica de intervalo: importan las diferencias, no afirmar que un equipo sea el doble de fuerte por tener el doble de Elo.</a:t>
            </a:r>
          </a:p>
        </p:txBody>
      </p:sp>
    </p:spTree>
    <p:extLst>
      <p:ext uri="{BB962C8B-B14F-4D97-AF65-F5344CB8AC3E}">
        <p14:creationId xmlns:p14="http://schemas.microsoft.com/office/powerpoint/2010/main" val="1310780327"/>
      </p:ext>
    </p:extLst>
  </p:cSld>
  <p:transition spd="slow" advClick="1">
    <p:fade/>
  </p:transition>
</p:sld>
</file>

<file path=ppt/slides/slide4.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D2572E-CB26-4963-94F4-A09F5C99820D}"/>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0D076589-6832-4C60-B196-CA7D5904E657}"/>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Discreta, continua o categórica: por qué importa</a:t>
            </a:r>
          </a:p>
        </p:txBody>
      </p:sp>
      <p:sp>
        <p:nvSpPr>
          <p:cNvPr id="3" name="">
            <a:extLst xmlns:a="http://schemas.openxmlformats.org/drawingml/2006/main">
              <a:ext uri="{FF2B5EF4-FFF2-40B4-BE49-F238E27FC236}">
                <a16:creationId xmlns:a16="http://schemas.microsoft.com/office/drawing/2014/main" id="{84CF4FD9-B54C-42B1-989A-BF50CED626DA}"/>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E8FBC26E-BB02-45F8-B503-64C9E40630A9}"/>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62EBA2AE-F0B4-4152-A896-A413391973A0}"/>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9A3B338A-C7AE-49D9-88A7-09611B95DCCA}"/>
              </a:ext>
            </a:extLst>
          </p:cNvPr>
          <p:cNvSpPr>
            <a:spLocks xmlns:a="http://schemas.openxmlformats.org/drawingml/2006/main" noGrp="1"/>
          </p:cNvSpPr>
          <p:nvPr/>
        </p:nvSpPr>
        <p:spPr>
          <a:xfrm xmlns:a="http://schemas.openxmlformats.org/drawingml/2006/main">
            <a:off x="666750" y="20193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Una variable discreta toma valores aislados y contables, como 0, 1 o 2 goles. Una continua representa una magnitud que puede variar en un intervalo, como el instante de un gol. Equipo, rival y condición local o visitante son variables categóricas: sus etiquetas no son cantidades que debamos promediar.</a:t>
            </a:r>
          </a:p>
        </p:txBody>
      </p:sp>
      <p:sp>
        <p:nvSpPr>
          <p:cNvPr id="7" name="">
            <a:extLst xmlns:a="http://schemas.openxmlformats.org/drawingml/2006/main">
              <a:ext uri="{FF2B5EF4-FFF2-40B4-BE49-F238E27FC236}">
                <a16:creationId xmlns:a16="http://schemas.microsoft.com/office/drawing/2014/main" id="{A459091A-BC0A-499C-86D5-53BA2A804FCE}"/>
              </a:ext>
            </a:extLst>
          </p:cNvPr>
          <p:cNvSpPr>
            <a:spLocks xmlns:a="http://schemas.openxmlformats.org/drawingml/2006/main" noGrp="1"/>
          </p:cNvSpPr>
          <p:nvPr/>
        </p:nvSpPr>
        <p:spPr>
          <a:xfrm xmlns:a="http://schemas.openxmlformats.org/drawingml/2006/main">
            <a:off x="666750" y="40386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Para variables discretas calculamos probabilidades mediante sumas de masas, por ejemplo la probabilidad de cero derrotas. Para una variable realmente continua, la probabilidad de un valor puntual es cero bajo un modelo con densidad; se integran intervalos. Los tiempos aquí se registran con resolución finita y no se ajusta una densidad de tiempos.</a:t>
            </a:r>
          </a:p>
        </p:txBody>
      </p:sp>
    </p:spTree>
    <p:extLst>
      <p:ext uri="{BB962C8B-B14F-4D97-AF65-F5344CB8AC3E}">
        <p14:creationId xmlns:p14="http://schemas.microsoft.com/office/powerpoint/2010/main" val="1897916454"/>
      </p:ext>
    </p:extLst>
  </p:cSld>
  <p:transition spd="slow" advClick="1">
    <p:fade/>
  </p:transition>
</p:sld>
</file>

<file path=ppt/slides/slide5.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A8C8C5-10F6-4F51-AD3E-3AC90F431299}"/>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87A08A41-2531-4DF8-A809-04AA300283F7}"/>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Una liga acostumbrada al mismo campeón</a:t>
            </a:r>
          </a:p>
        </p:txBody>
      </p:sp>
      <p:sp>
        <p:nvSpPr>
          <p:cNvPr id="3" name="">
            <a:extLst xmlns:a="http://schemas.openxmlformats.org/drawingml/2006/main">
              <a:ext uri="{FF2B5EF4-FFF2-40B4-BE49-F238E27FC236}">
                <a16:creationId xmlns:a16="http://schemas.microsoft.com/office/drawing/2014/main" id="{05D4EEF3-1FC0-4F85-BA09-D2A1088FEE24}"/>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9B1E3FC4-1325-4B15-9F5C-E1041F8C99F9}"/>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650E87AB-A547-4780-8B4D-4E55BA9939EB}"/>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C84DC2EC-E1DE-411A-AF10-6372D792CB0E}"/>
              </a:ext>
            </a:extLst>
          </p:cNvPr>
          <p:cNvSpPr>
            <a:spLocks xmlns:a="http://schemas.openxmlformats.org/drawingml/2006/main" noGrp="1"/>
          </p:cNvSpPr>
          <p:nvPr/>
        </p:nvSpPr>
        <p:spPr>
          <a:xfrm xmlns:a="http://schemas.openxmlformats.org/drawingml/2006/main">
            <a:off x="666750" y="20193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Antes de la temporada 2023/24, el Bayern acumulaba once campeonatos consecutivos. Ganar la Bundesliga significaba romper una continuidad que había definido la competencia durante más de una década.</a:t>
            </a:r>
          </a:p>
        </p:txBody>
      </p:sp>
      <p:sp>
        <p:nvSpPr>
          <p:cNvPr id="7" name="">
            <a:extLst xmlns:a="http://schemas.openxmlformats.org/drawingml/2006/main">
              <a:ext uri="{FF2B5EF4-FFF2-40B4-BE49-F238E27FC236}">
                <a16:creationId xmlns:a16="http://schemas.microsoft.com/office/drawing/2014/main" id="{70D4B17F-2C34-406A-8546-21AEA6F0C9C4}"/>
              </a:ext>
            </a:extLst>
          </p:cNvPr>
          <p:cNvSpPr>
            <a:spLocks xmlns:a="http://schemas.openxmlformats.org/drawingml/2006/main" noGrp="1"/>
          </p:cNvSpPr>
          <p:nvPr/>
        </p:nvSpPr>
        <p:spPr>
          <a:xfrm xmlns:a="http://schemas.openxmlformats.org/drawingml/2006/main">
            <a:off x="666750" y="40195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La perspectiva histórica cambia con la ventana: otros clubes ganaron 28 de 60 títulos entre 1964 y 2023, pero apenas cuatro de los 19 títulos entre 2005 y 2023. Esa diferencia describe el contexto del desafío, aunque no determina por sí sola las posibilidades de Leverkusen.</a:t>
            </a:r>
          </a:p>
        </p:txBody>
      </p:sp>
    </p:spTree>
    <p:extLst>
      <p:ext uri="{BB962C8B-B14F-4D97-AF65-F5344CB8AC3E}">
        <p14:creationId xmlns:p14="http://schemas.microsoft.com/office/powerpoint/2010/main" val="758086691"/>
      </p:ext>
    </p:extLst>
  </p:cSld>
  <p:transition spd="slow" advClick="1">
    <p:fade/>
  </p:transition>
</p:sld>
</file>

<file path=ppt/slides/slide6.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60548A-EC1D-4BF9-927E-4203561ECE7B}"/>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CD59CCE7-B1FC-4A95-BC60-E8646FA6F2E0}"/>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La hazaña contiene dos preguntas distintas</a:t>
            </a:r>
          </a:p>
        </p:txBody>
      </p:sp>
      <p:sp>
        <p:nvSpPr>
          <p:cNvPr id="3" name="">
            <a:extLst xmlns:a="http://schemas.openxmlformats.org/drawingml/2006/main">
              <a:ext uri="{FF2B5EF4-FFF2-40B4-BE49-F238E27FC236}">
                <a16:creationId xmlns:a16="http://schemas.microsoft.com/office/drawing/2014/main" id="{4C87E71B-B278-4C1B-92FF-1E619030EF23}"/>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0401C5EB-86DB-4046-B2F0-D3B686EF5930}"/>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F7531338-D62A-4E59-8DAD-DA4455453B59}"/>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CDDB05C1-C96E-4950-A235-294F44DE1C39}"/>
              </a:ext>
            </a:extLst>
          </p:cNvPr>
          <p:cNvSpPr>
            <a:spLocks xmlns:a="http://schemas.openxmlformats.org/drawingml/2006/main" noGrp="1"/>
          </p:cNvSpPr>
          <p:nvPr/>
        </p:nvSpPr>
        <p:spPr>
          <a:xfrm xmlns:a="http://schemas.openxmlformats.org/drawingml/2006/main">
            <a:off x="666750" y="20193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El equipo dirigido por Xabi Alonso no solo terminó con esa secuencia de campeones. Completó las 34 jornadas sin derrotas: 28 victorias y seis empates. El campeonato y el invicto son dos logros relacionados, pero no equivalentes.</a:t>
            </a:r>
          </a:p>
        </p:txBody>
      </p:sp>
      <p:sp>
        <p:nvSpPr>
          <p:cNvPr id="7" name="">
            <a:extLst xmlns:a="http://schemas.openxmlformats.org/drawingml/2006/main">
              <a:ext uri="{FF2B5EF4-FFF2-40B4-BE49-F238E27FC236}">
                <a16:creationId xmlns:a16="http://schemas.microsoft.com/office/drawing/2014/main" id="{23FB93C6-92B6-4009-8DA1-54FB1DFA7E11}"/>
              </a:ext>
            </a:extLst>
          </p:cNvPr>
          <p:cNvSpPr>
            <a:spLocks xmlns:a="http://schemas.openxmlformats.org/drawingml/2006/main" noGrp="1"/>
          </p:cNvSpPr>
          <p:nvPr/>
        </p:nvSpPr>
        <p:spPr>
          <a:xfrm xmlns:a="http://schemas.openxmlformats.org/drawingml/2006/main">
            <a:off x="666750" y="40195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Para entender el invicto, volvemos al momento anterior al torneo. Usamos las fuerzas conocidas entonces y preguntamos cuántas temporadas simuladas habrían terminado sin perder. Después contrastamos ese cálculo con las derrotas de campeones históricos y con los goles tardíos que salvaron partidos.</a:t>
            </a:r>
          </a:p>
        </p:txBody>
      </p:sp>
    </p:spTree>
    <p:extLst>
      <p:ext uri="{BB962C8B-B14F-4D97-AF65-F5344CB8AC3E}">
        <p14:creationId xmlns:p14="http://schemas.microsoft.com/office/powerpoint/2010/main" val="438018700"/>
      </p:ext>
    </p:extLst>
  </p:cSld>
  <p:transition spd="slow" advClick="1">
    <p:fade/>
  </p:transition>
</p:sld>
</file>

<file path=ppt/slides/slide7.xml><?xml version="1.0" encoding="utf-8"?>
<p:sld xmlns:p="http://schemas.openxmlformats.org/presentationml/2006/main">
  <p:cSld>
    <p:bg>
      <p:bgPr>
        <a:solidFill xmlns:a="http://schemas.openxmlformats.org/drawingml/2006/main">
          <a:srgbClr val="101C2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0B26204-B6B1-4055-9334-AB1B8EB7F585}"/>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EDBCBF"/>
                </a:solidFill>
                <a:latin typeface="Arial"/>
                <a:ea typeface="Arial"/>
                <a:cs typeface="Arial"/>
              </a:defRPr>
            </a:pPr>
            <a:r>
              <a:rPr sz="1275" b="1">
                <a:solidFill>
                  <a:srgbClr val="EDBCBF"/>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33A9DD55-0F36-4E07-9397-027781EBE8EC}"/>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Leverkusen completó 34 partidos sin perder</a:t>
            </a:r>
          </a:p>
        </p:txBody>
      </p:sp>
      <p:sp>
        <p:nvSpPr>
          <p:cNvPr id="3" name="">
            <a:extLst xmlns:a="http://schemas.openxmlformats.org/drawingml/2006/main">
              <a:ext uri="{FF2B5EF4-FFF2-40B4-BE49-F238E27FC236}">
                <a16:creationId xmlns:a16="http://schemas.microsoft.com/office/drawing/2014/main" id="{68F54A0A-7FBC-4BED-A2A6-AF60153C7BED}"/>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Arial"/>
                <a:ea typeface="Arial"/>
                <a:cs typeface="Arial"/>
              </a:defRPr>
            </a:pPr>
            <a:r>
              <a:rPr sz="1875" b="1">
                <a:solidFill>
                  <a:srgbClr val="FFFFFF"/>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F4906053-C1CD-4A52-8BF9-9A074CD2468C}"/>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AC9D3"/>
                </a:solidFill>
                <a:latin typeface="Arial"/>
                <a:ea typeface="Arial"/>
                <a:cs typeface="Arial"/>
              </a:defRPr>
            </a:pPr>
            <a:r>
              <a:rPr sz="1125" b="0">
                <a:solidFill>
                  <a:srgbClr val="BAC9D3"/>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ABDBE839-D764-4DA0-AAE1-5AE1F40909CE}"/>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AC9D3"/>
                </a:solidFill>
                <a:latin typeface="Arial"/>
                <a:ea typeface="Arial"/>
                <a:cs typeface="Arial"/>
              </a:defRPr>
            </a:pPr>
            <a:r>
              <a:rPr sz="1125" b="0">
                <a:solidFill>
                  <a:srgbClr val="BAC9D3"/>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1A3B27D7-CB58-4C64-B517-D2AF93CDD95F}"/>
              </a:ext>
            </a:extLst>
          </p:cNvPr>
          <p:cNvSpPr>
            <a:spLocks xmlns:a="http://schemas.openxmlformats.org/drawingml/2006/main" noGrp="1"/>
          </p:cNvSpPr>
          <p:nvPr/>
        </p:nvSpPr>
        <p:spPr>
          <a:xfrm xmlns:a="http://schemas.openxmlformats.org/drawingml/2006/main">
            <a:off x="619125" y="2076450"/>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28 victorias   6 empates   0 derrotas</a:t>
            </a:r>
          </a:p>
        </p:txBody>
      </p:sp>
      <p:sp>
        <p:nvSpPr>
          <p:cNvPr id="7" name="">
            <a:extLst xmlns:a="http://schemas.openxmlformats.org/drawingml/2006/main">
              <a:ext uri="{FF2B5EF4-FFF2-40B4-BE49-F238E27FC236}">
                <a16:creationId xmlns:a16="http://schemas.microsoft.com/office/drawing/2014/main" id="{9410D7D8-FE11-4210-9DC5-14F800744248}"/>
              </a:ext>
            </a:extLst>
          </p:cNvPr>
          <p:cNvSpPr>
            <a:spLocks xmlns:a="http://schemas.openxmlformats.org/drawingml/2006/main" noGrp="1"/>
          </p:cNvSpPr>
          <p:nvPr/>
        </p:nvSpPr>
        <p:spPr>
          <a:xfrm xmlns:a="http://schemas.openxmlformats.org/drawingml/2006/main">
            <a:off x="609600" y="328612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90 puntos, 89 goles a favor y 24 en contra</a:t>
            </a:r>
          </a:p>
        </p:txBody>
      </p:sp>
      <p:sp>
        <p:nvSpPr>
          <p:cNvPr id="8" name="">
            <a:extLst xmlns:a="http://schemas.openxmlformats.org/drawingml/2006/main">
              <a:ext uri="{FF2B5EF4-FFF2-40B4-BE49-F238E27FC236}">
                <a16:creationId xmlns:a16="http://schemas.microsoft.com/office/drawing/2014/main" id="{D0D95C2E-7756-48FA-AE6F-0884D16436E3}"/>
              </a:ext>
            </a:extLst>
          </p:cNvPr>
          <p:cNvSpPr>
            <a:spLocks xmlns:a="http://schemas.openxmlformats.org/drawingml/2006/main" noGrp="1"/>
          </p:cNvSpPr>
          <p:nvPr/>
        </p:nvSpPr>
        <p:spPr>
          <a:xfrm xmlns:a="http://schemas.openxmlformats.org/drawingml/2006/main">
            <a:off x="609600" y="414337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Primer campeón invicto de la Bundesliga</a:t>
            </a:r>
          </a:p>
        </p:txBody>
      </p:sp>
      <p:sp>
        <p:nvSpPr>
          <p:cNvPr id="9" name="">
            <a:extLst xmlns:a="http://schemas.openxmlformats.org/drawingml/2006/main">
              <a:ext uri="{FF2B5EF4-FFF2-40B4-BE49-F238E27FC236}">
                <a16:creationId xmlns:a16="http://schemas.microsoft.com/office/drawing/2014/main" id="{9AF0EF14-D47A-48AA-BDCA-484B5FB6EAE7}"/>
              </a:ext>
            </a:extLst>
          </p:cNvPr>
          <p:cNvSpPr>
            <a:spLocks xmlns:a="http://schemas.openxmlformats.org/drawingml/2006/main" noGrp="1"/>
          </p:cNvSpPr>
          <p:nvPr/>
        </p:nvSpPr>
        <p:spPr>
          <a:xfrm xmlns:a="http://schemas.openxmlformats.org/drawingml/2006/main">
            <a:off x="609600" y="5000625"/>
            <a:ext cx="10763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Fin de once títulos consecutivos del Bayern</a:t>
            </a:r>
          </a:p>
        </p:txBody>
      </p:sp>
    </p:spTree>
    <p:extLst>
      <p:ext uri="{BB962C8B-B14F-4D97-AF65-F5344CB8AC3E}">
        <p14:creationId xmlns:p14="http://schemas.microsoft.com/office/powerpoint/2010/main" val="1246594298"/>
      </p:ext>
    </p:extLst>
  </p:cSld>
  <p:transition spd="slow" advClick="1">
    <p:fade/>
  </p:transition>
</p:sld>
</file>

<file path=ppt/slides/slide8.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D7CDDC-5E11-476D-A169-8D415E80494C}"/>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8EEF2480-EE70-43A0-BB4D-F7253EF2E4B8}"/>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Un campeón distinto del Bayern</a:t>
            </a:r>
          </a:p>
        </p:txBody>
      </p:sp>
      <p:sp>
        <p:nvSpPr>
          <p:cNvPr id="3" name="">
            <a:extLst xmlns:a="http://schemas.openxmlformats.org/drawingml/2006/main">
              <a:ext uri="{FF2B5EF4-FFF2-40B4-BE49-F238E27FC236}">
                <a16:creationId xmlns:a16="http://schemas.microsoft.com/office/drawing/2014/main" id="{B7CB3B3F-FFC1-4A13-A601-781E1F2F92FB}"/>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CB793073-C482-4867-BE14-5A8205271D0C}"/>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87B9BB67-0E5A-4AF1-A956-EB73CC298BF5}"/>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8230D3C9-508E-4C16-B4F8-B9D524ED3043}"/>
              </a:ext>
            </a:extLst>
          </p:cNvPr>
          <p:cNvSpPr>
            <a:spLocks xmlns:a="http://schemas.openxmlformats.org/drawingml/2006/main" noGrp="1"/>
          </p:cNvSpPr>
          <p:nvPr/>
        </p:nvSpPr>
        <p:spPr>
          <a:xfrm xmlns:a="http://schemas.openxmlformats.org/drawingml/2006/main">
            <a:off x="628650" y="18002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62835"/>
                </a:solidFill>
                <a:latin typeface="Arial"/>
                <a:ea typeface="Arial"/>
                <a:cs typeface="Arial"/>
              </a:defRPr>
            </a:pPr>
            <a:r>
              <a:rPr sz="1500" b="1">
                <a:solidFill>
                  <a:srgbClr val="B62835"/>
                </a:solidFill>
                <a:latin typeface="Arial"/>
                <a:ea typeface="Arial"/>
                <a:cs typeface="Arial"/>
              </a:rPr>
              <a:t>Probabilidad (%)</a:t>
            </a:r>
          </a:p>
        </p:txBody>
      </p:sp>
      <p:graphicFrame>
        <p:nvGraphicFramePr>
          <p:cNvPr id="15" name="Chart"/>
          <p:cNvGraphicFramePr/>
          <p:nvPr/>
        </p:nvGraphicFramePr>
        <p:xfrm>
          <a:off xmlns:a="http://schemas.openxmlformats.org/drawingml/2006/main" x="619125" y="2219325"/>
          <a:ext xmlns:a="http://schemas.openxmlformats.org/drawingml/2006/main" cx="10858500" cy="3238500"/>
        </p:xfrm>
        <a:graphic xmlns:a="http://schemas.openxmlformats.org/drawingml/2006/main">
          <a:graphicData uri="http://schemas.openxmlformats.org/drawingml/2006/chart">
            <c:chart xmlns:r="http://schemas.openxmlformats.org/officeDocument/2006/relationships" xmlns:c="http://schemas.openxmlformats.org/drawingml/2006/chart" r:id="R4fa179fbbb134f90"/>
          </a:graphicData>
        </a:graphic>
      </p:graphicFrame>
      <p:sp>
        <p:nvSpPr>
          <p:cNvPr id="8" name="">
            <a:extLst xmlns:a="http://schemas.openxmlformats.org/drawingml/2006/main">
              <a:ext uri="{FF2B5EF4-FFF2-40B4-BE49-F238E27FC236}">
                <a16:creationId xmlns:a16="http://schemas.microsoft.com/office/drawing/2014/main" id="{17D78AA1-1C19-419B-85DB-56A30AB94010}"/>
              </a:ext>
            </a:extLst>
          </p:cNvPr>
          <p:cNvSpPr>
            <a:spLocks xmlns:a="http://schemas.openxmlformats.org/drawingml/2006/main" noGrp="1"/>
          </p:cNvSpPr>
          <p:nvPr/>
        </p:nvSpPr>
        <p:spPr>
          <a:xfrm xmlns:a="http://schemas.openxmlformats.org/drawingml/2006/main">
            <a:off x="714375" y="5762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La referencia reciente baja 25.61 puntos porcentuales</a:t>
            </a:r>
          </a:p>
        </p:txBody>
      </p:sp>
    </p:spTree>
    <p:extLst>
      <p:ext uri="{BB962C8B-B14F-4D97-AF65-F5344CB8AC3E}">
        <p14:creationId xmlns:p14="http://schemas.microsoft.com/office/powerpoint/2010/main" val="1998967885"/>
      </p:ext>
    </p:extLst>
  </p:cSld>
  <p:transition spd="slow" advClick="1">
    <p:fade/>
  </p:transition>
</p:sld>
</file>

<file path=ppt/slides/slide9.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3A06B6D-CEF0-4082-BB7F-A9F4D3135FDE}"/>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B4C1C674-0101-4D49-9963-AF11C164F0BE}"/>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Qué datos entran al modelo</a:t>
            </a:r>
          </a:p>
        </p:txBody>
      </p:sp>
      <p:sp>
        <p:nvSpPr>
          <p:cNvPr id="3" name="">
            <a:extLst xmlns:a="http://schemas.openxmlformats.org/drawingml/2006/main">
              <a:ext uri="{FF2B5EF4-FFF2-40B4-BE49-F238E27FC236}">
                <a16:creationId xmlns:a16="http://schemas.microsoft.com/office/drawing/2014/main" id="{9BD90B97-D563-4506-87EA-6BB9458377BD}"/>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698EF2B6-0D22-4D73-A15E-CF956CEF4AD6}"/>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9A0A7503-956E-48FF-AB09-7448E606D0CD}"/>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645A0CCB-014C-4C90-92CC-9345B9E44775}"/>
              </a:ext>
            </a:extLst>
          </p:cNvPr>
          <p:cNvSpPr>
            <a:spLocks xmlns:a="http://schemas.openxmlformats.org/drawingml/2006/main" noGrp="1"/>
          </p:cNvSpPr>
          <p:nvPr/>
        </p:nvSpPr>
        <p:spPr>
          <a:xfrm xmlns:a="http://schemas.openxmlformats.org/drawingml/2006/main">
            <a:off x="609600" y="1990725"/>
            <a:ext cx="10763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C"/>
                </a:solidFill>
                <a:latin typeface="Arial"/>
                <a:ea typeface="Arial"/>
                <a:cs typeface="Arial"/>
              </a:defRPr>
            </a:pPr>
            <a:r>
              <a:rPr sz="2100" b="0">
                <a:solidFill>
                  <a:srgbClr val="17242C"/>
                </a:solidFill>
                <a:latin typeface="Arial"/>
                <a:ea typeface="Arial"/>
                <a:cs typeface="Arial"/>
              </a:rPr>
              <a:t>60 temporadas de campeones, sin incluir 2023/24</a:t>
            </a:r>
          </a:p>
        </p:txBody>
      </p:sp>
      <p:sp>
        <p:nvSpPr>
          <p:cNvPr id="7" name="">
            <a:extLst xmlns:a="http://schemas.openxmlformats.org/drawingml/2006/main">
              <a:ext uri="{FF2B5EF4-FFF2-40B4-BE49-F238E27FC236}">
                <a16:creationId xmlns:a16="http://schemas.microsoft.com/office/drawing/2014/main" id="{25805FF5-679F-4F7D-A3F6-55F3BCEECFA4}"/>
              </a:ext>
            </a:extLst>
          </p:cNvPr>
          <p:cNvSpPr>
            <a:spLocks xmlns:a="http://schemas.openxmlformats.org/drawingml/2006/main" noGrp="1"/>
          </p:cNvSpPr>
          <p:nvPr/>
        </p:nvSpPr>
        <p:spPr>
          <a:xfrm xmlns:a="http://schemas.openxmlformats.org/drawingml/2006/main">
            <a:off x="609600" y="2981325"/>
            <a:ext cx="10763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C"/>
                </a:solidFill>
                <a:latin typeface="Arial"/>
                <a:ea typeface="Arial"/>
                <a:cs typeface="Arial"/>
              </a:defRPr>
            </a:pPr>
            <a:r>
              <a:rPr sz="2100" b="0">
                <a:solidFill>
                  <a:srgbClr val="17242C"/>
                </a:solidFill>
                <a:latin typeface="Arial"/>
                <a:ea typeface="Arial"/>
                <a:cs typeface="Arial"/>
              </a:rPr>
              <a:t>18 valoraciones ClubElo previas al torneo</a:t>
            </a:r>
          </a:p>
        </p:txBody>
      </p:sp>
      <p:sp>
        <p:nvSpPr>
          <p:cNvPr id="8" name="">
            <a:extLst xmlns:a="http://schemas.openxmlformats.org/drawingml/2006/main">
              <a:ext uri="{FF2B5EF4-FFF2-40B4-BE49-F238E27FC236}">
                <a16:creationId xmlns:a16="http://schemas.microsoft.com/office/drawing/2014/main" id="{C43A4250-B349-4248-8F3F-4D9066C66D43}"/>
              </a:ext>
            </a:extLst>
          </p:cNvPr>
          <p:cNvSpPr>
            <a:spLocks xmlns:a="http://schemas.openxmlformats.org/drawingml/2006/main" noGrp="1"/>
          </p:cNvSpPr>
          <p:nvPr/>
        </p:nvSpPr>
        <p:spPr>
          <a:xfrm xmlns:a="http://schemas.openxmlformats.org/drawingml/2006/main">
            <a:off x="609600" y="3971925"/>
            <a:ext cx="10763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C"/>
                </a:solidFill>
                <a:latin typeface="Arial"/>
                <a:ea typeface="Arial"/>
                <a:cs typeface="Arial"/>
              </a:defRPr>
            </a:pPr>
            <a:r>
              <a:rPr sz="2100" b="0">
                <a:solidFill>
                  <a:srgbClr val="17242C"/>
                </a:solidFill>
                <a:latin typeface="Arial"/>
                <a:ea typeface="Arial"/>
                <a:cs typeface="Arial"/>
              </a:rPr>
              <a:t>34 partidos y sus eventos para identificar rescates</a:t>
            </a:r>
          </a:p>
        </p:txBody>
      </p:sp>
      <p:sp>
        <p:nvSpPr>
          <p:cNvPr id="9" name="">
            <a:extLst xmlns:a="http://schemas.openxmlformats.org/drawingml/2006/main">
              <a:ext uri="{FF2B5EF4-FFF2-40B4-BE49-F238E27FC236}">
                <a16:creationId xmlns:a16="http://schemas.microsoft.com/office/drawing/2014/main" id="{D7CF2F6B-0B2A-4575-B955-29306B02EDE3}"/>
              </a:ext>
            </a:extLst>
          </p:cNvPr>
          <p:cNvSpPr>
            <a:spLocks xmlns:a="http://schemas.openxmlformats.org/drawingml/2006/main" noGrp="1"/>
          </p:cNvSpPr>
          <p:nvPr/>
        </p:nvSpPr>
        <p:spPr>
          <a:xfrm xmlns:a="http://schemas.openxmlformats.org/drawingml/2006/main">
            <a:off x="609600" y="4962525"/>
            <a:ext cx="10763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C"/>
                </a:solidFill>
                <a:latin typeface="Arial"/>
                <a:ea typeface="Arial"/>
                <a:cs typeface="Arial"/>
              </a:defRPr>
            </a:pPr>
            <a:r>
              <a:rPr sz="2100" b="0">
                <a:solidFill>
                  <a:srgbClr val="17242C"/>
                </a:solidFill>
                <a:latin typeface="Arial"/>
                <a:ea typeface="Arial"/>
                <a:cs typeface="Arial"/>
              </a:rPr>
              <a:t>Historiales Elo de selecciones antes de cada competición</a:t>
            </a:r>
          </a:p>
        </p:txBody>
      </p:sp>
    </p:spTree>
    <p:extLst>
      <p:ext uri="{BB962C8B-B14F-4D97-AF65-F5344CB8AC3E}">
        <p14:creationId xmlns:p14="http://schemas.microsoft.com/office/powerpoint/2010/main" val="801744932"/>
      </p:ext>
    </p:extLst>
  </p:cSld>
  <p:transition spd="slow" advClick="1">
    <p:fade/>
  </p:transition>
</p:sld>
</file>

<file path=ppt/slides/slide10.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E1C06BD-52B7-423C-A844-8764854829EB}"/>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BF4D7BBA-A4C5-4FFA-8323-03A49E05A812}"/>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Elo de pretemporada</a:t>
            </a:r>
          </a:p>
        </p:txBody>
      </p:sp>
      <p:sp>
        <p:nvSpPr>
          <p:cNvPr id="3" name="">
            <a:extLst xmlns:a="http://schemas.openxmlformats.org/drawingml/2006/main">
              <a:ext uri="{FF2B5EF4-FFF2-40B4-BE49-F238E27FC236}">
                <a16:creationId xmlns:a16="http://schemas.microsoft.com/office/drawing/2014/main" id="{6ED6AAD1-6F7B-42BD-880C-580AECD3DF41}"/>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82F6BB92-DCF3-452B-A976-DC7AE425944D}"/>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D148CCBC-A14B-429C-A9DE-0C211D6E50D8}"/>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18E4AFDE-1101-4627-B6E1-8D5C53BB1C57}"/>
              </a:ext>
            </a:extLst>
          </p:cNvPr>
          <p:cNvSpPr>
            <a:spLocks xmlns:a="http://schemas.openxmlformats.org/drawingml/2006/main" noGrp="1"/>
          </p:cNvSpPr>
          <p:nvPr/>
        </p:nvSpPr>
        <p:spPr>
          <a:xfrm xmlns:a="http://schemas.openxmlformats.org/drawingml/2006/main">
            <a:off x="628650" y="18002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62835"/>
                </a:solidFill>
                <a:latin typeface="Arial"/>
                <a:ea typeface="Arial"/>
                <a:cs typeface="Arial"/>
              </a:defRPr>
            </a:pPr>
            <a:r>
              <a:rPr sz="1500" b="1">
                <a:solidFill>
                  <a:srgbClr val="B62835"/>
                </a:solidFill>
                <a:latin typeface="Arial"/>
                <a:ea typeface="Arial"/>
                <a:cs typeface="Arial"/>
              </a:rPr>
              <a:t>Elo al 15 de agosto de 2023</a:t>
            </a:r>
          </a:p>
        </p:txBody>
      </p:sp>
      <p:graphicFrame>
        <p:nvGraphicFramePr>
          <p:cNvPr id="15" name="Chart"/>
          <p:cNvGraphicFramePr/>
          <p:nvPr/>
        </p:nvGraphicFramePr>
        <p:xfrm>
          <a:off xmlns:a="http://schemas.openxmlformats.org/drawingml/2006/main" x="619125" y="2219325"/>
          <a:ext xmlns:a="http://schemas.openxmlformats.org/drawingml/2006/main" cx="10858500" cy="3238500"/>
        </p:xfrm>
        <a:graphic xmlns:a="http://schemas.openxmlformats.org/drawingml/2006/main">
          <a:graphicData uri="http://schemas.openxmlformats.org/drawingml/2006/chart">
            <c:chart xmlns:r="http://schemas.openxmlformats.org/officeDocument/2006/relationships" xmlns:c="http://schemas.openxmlformats.org/drawingml/2006/chart" r:id="Rcf342793203247a9"/>
          </a:graphicData>
        </a:graphic>
      </p:graphicFrame>
      <p:sp>
        <p:nvSpPr>
          <p:cNvPr id="8" name="">
            <a:extLst xmlns:a="http://schemas.openxmlformats.org/drawingml/2006/main">
              <a:ext uri="{FF2B5EF4-FFF2-40B4-BE49-F238E27FC236}">
                <a16:creationId xmlns:a16="http://schemas.microsoft.com/office/drawing/2014/main" id="{D48C8A35-302F-4B86-84B7-CE9D91A369AD}"/>
              </a:ext>
            </a:extLst>
          </p:cNvPr>
          <p:cNvSpPr>
            <a:spLocks xmlns:a="http://schemas.openxmlformats.org/drawingml/2006/main" noGrp="1"/>
          </p:cNvSpPr>
          <p:nvPr/>
        </p:nvSpPr>
        <p:spPr>
          <a:xfrm xmlns:a="http://schemas.openxmlformats.org/drawingml/2006/main">
            <a:off x="619125" y="57626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Se congelan las fuerzas para evitar usar resultados futuros</a:t>
            </a:r>
          </a:p>
        </p:txBody>
      </p:sp>
    </p:spTree>
    <p:extLst>
      <p:ext uri="{BB962C8B-B14F-4D97-AF65-F5344CB8AC3E}">
        <p14:creationId xmlns:p14="http://schemas.microsoft.com/office/powerpoint/2010/main" val="49527988"/>
      </p:ext>
    </p:extLst>
  </p:cSld>
  <p:transition spd="slow" advClick="1">
    <p:fade/>
  </p:transition>
</p:sld>
</file>

<file path=ppt/slides/slide11.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9C7E2CC-962B-4E29-9CA5-581AC90148DF}"/>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7EE283F5-721C-4EF3-9D8E-5304175CC938}"/>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Leverkusen · lenguaje de probabilidad</a:t>
            </a:r>
          </a:p>
        </p:txBody>
      </p:sp>
      <p:sp>
        <p:nvSpPr>
          <p:cNvPr id="3" name="">
            <a:extLst xmlns:a="http://schemas.openxmlformats.org/drawingml/2006/main">
              <a:ext uri="{FF2B5EF4-FFF2-40B4-BE49-F238E27FC236}">
                <a16:creationId xmlns:a16="http://schemas.microsoft.com/office/drawing/2014/main" id="{05886B02-AE85-4D2D-B4EF-A14C14414DEE}"/>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90471ADE-8EC3-40AC-B66B-8609C1510376}"/>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F0E7AD31-A5CC-48DB-948B-1678603D1EB5}"/>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9EA32B1E-32E6-43A8-B58F-2BEA19B2779B}"/>
              </a:ext>
            </a:extLst>
          </p:cNvPr>
          <p:cNvSpPr>
            <a:spLocks xmlns:a="http://schemas.openxmlformats.org/drawingml/2006/main" noGrp="1"/>
          </p:cNvSpPr>
          <p:nvPr/>
        </p:nvSpPr>
        <p:spPr>
          <a:xfrm xmlns:a="http://schemas.openxmlformats.org/drawingml/2006/main">
            <a:off x="666750" y="17430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NOTACIÓN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b5acd905a1b4317"/>
          <a:stretch xmlns:a="http://schemas.openxmlformats.org/drawingml/2006/main"/>
        </p:blipFill>
        <p:spPr>
          <a:xfrm xmlns:a="http://schemas.openxmlformats.org/drawingml/2006/main">
            <a:off x="1578505" y="2247553"/>
            <a:ext cx="1795989" cy="31502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9BAC901-5280-4CC0-B60A-962643D2EA6B}"/>
              </a:ext>
            </a:extLst>
          </p:cNvPr>
          <p:cNvSpPr>
            <a:spLocks xmlns:a="http://schemas.openxmlformats.org/drawingml/2006/main" noGrp="1"/>
          </p:cNvSpPr>
          <p:nvPr/>
        </p:nvSpPr>
        <p:spPr>
          <a:xfrm xmlns:a="http://schemas.openxmlformats.org/drawingml/2006/main">
            <a:off x="4572000" y="21145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Probabilidad de B; probabilidad de B condicionada a que ocurre C.</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56b2e66cdf3484a"/>
          <a:stretch xmlns:a="http://schemas.openxmlformats.org/drawingml/2006/main"/>
        </p:blipFill>
        <p:spPr>
          <a:xfrm xmlns:a="http://schemas.openxmlformats.org/drawingml/2006/main">
            <a:off x="1596704" y="3000476"/>
            <a:ext cx="1759592" cy="390323"/>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272AD5D-03A1-4AA5-AE2D-F3F02B695EE3}"/>
              </a:ext>
            </a:extLst>
          </p:cNvPr>
          <p:cNvSpPr>
            <a:spLocks xmlns:a="http://schemas.openxmlformats.org/drawingml/2006/main" noGrp="1"/>
          </p:cNvSpPr>
          <p:nvPr/>
        </p:nvSpPr>
        <p:spPr>
          <a:xfrm xmlns:a="http://schemas.openxmlformats.org/drawingml/2006/main">
            <a:off x="4572000" y="290512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Intersección de eventos, intersección múltiple, producto y suma.</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50b5aabbbdd41b0"/>
          <a:stretch xmlns:a="http://schemas.openxmlformats.org/drawingml/2006/main"/>
        </p:blipFill>
        <p:spPr>
          <a:xfrm xmlns:a="http://schemas.openxmlformats.org/drawingml/2006/main">
            <a:off x="1763627" y="3829958"/>
            <a:ext cx="1425747" cy="31251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E8B1656-38FA-4575-9C95-E867A3C8C3EB}"/>
              </a:ext>
            </a:extLst>
          </p:cNvPr>
          <p:cNvSpPr>
            <a:spLocks xmlns:a="http://schemas.openxmlformats.org/drawingml/2006/main" noGrp="1"/>
          </p:cNvSpPr>
          <p:nvPr/>
        </p:nvSpPr>
        <p:spPr>
          <a:xfrm xmlns:a="http://schemas.openxmlformats.org/drawingml/2006/main">
            <a:off x="4572000" y="369570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Independencia; distribución de una variable; independientes e idénticamente distribuidas.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1c974ec1f2d49cc"/>
          <a:stretch xmlns:a="http://schemas.openxmlformats.org/drawingml/2006/main"/>
        </p:blipFill>
        <p:spPr>
          <a:xfrm xmlns:a="http://schemas.openxmlformats.org/drawingml/2006/main">
            <a:off x="1191320" y="4620533"/>
            <a:ext cx="2570360" cy="31251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50E4ADD-74DA-4C37-940F-B79195E4BA80}"/>
              </a:ext>
            </a:extLst>
          </p:cNvPr>
          <p:cNvSpPr>
            <a:spLocks xmlns:a="http://schemas.openxmlformats.org/drawingml/2006/main" noGrp="1"/>
          </p:cNvSpPr>
          <p:nvPr/>
        </p:nvSpPr>
        <p:spPr>
          <a:xfrm xmlns:a="http://schemas.openxmlformats.org/drawingml/2006/main">
            <a:off x="4572000" y="448627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Indicador: vale 1 si ocurre B y 0 si no; esperanza y varianza de X.</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1d147937b0624a9a"/>
          <a:stretch xmlns:a="http://schemas.openxmlformats.org/drawingml/2006/main"/>
        </p:blipFill>
        <p:spPr>
          <a:xfrm xmlns:a="http://schemas.openxmlformats.org/drawingml/2006/main">
            <a:off x="1837675" y="5376594"/>
            <a:ext cx="1277650" cy="381538"/>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E63561C5-1877-4E4E-BECC-92D3583D8FB9}"/>
              </a:ext>
            </a:extLst>
          </p:cNvPr>
          <p:cNvSpPr>
            <a:spLocks xmlns:a="http://schemas.openxmlformats.org/drawingml/2006/main" noGrp="1"/>
          </p:cNvSpPr>
          <p:nvPr/>
        </p:nvSpPr>
        <p:spPr>
          <a:xfrm xmlns:a="http://schemas.openxmlformats.org/drawingml/2006/main">
            <a:off x="4572000" y="52768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Estimación de θ; igualdad aproximada; proporcionalidad. El sombrero distingue estimador y parámetro.</a:t>
            </a:r>
          </a:p>
        </p:txBody>
      </p:sp>
    </p:spTree>
    <p:extLst>
      <p:ext uri="{BB962C8B-B14F-4D97-AF65-F5344CB8AC3E}">
        <p14:creationId xmlns:p14="http://schemas.microsoft.com/office/powerpoint/2010/main" val="895106096"/>
      </p:ext>
    </p:extLst>
  </p:cSld>
  <p:transition spd="slow" advClick="1">
    <p:fade/>
  </p:transition>
</p:sld>
</file>

<file path=ppt/slides/slide12.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58E5B40-3C3C-45C6-BDE2-6AD61453D7E0}"/>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F24874A1-E1F0-42C0-8FF5-B2B3B9E6C5E9}"/>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Leverkusen · partidos y fuerzas</a:t>
            </a:r>
          </a:p>
        </p:txBody>
      </p:sp>
      <p:sp>
        <p:nvSpPr>
          <p:cNvPr id="3" name="">
            <a:extLst xmlns:a="http://schemas.openxmlformats.org/drawingml/2006/main">
              <a:ext uri="{FF2B5EF4-FFF2-40B4-BE49-F238E27FC236}">
                <a16:creationId xmlns:a16="http://schemas.microsoft.com/office/drawing/2014/main" id="{42AA529E-E665-400E-BED6-0543BBC8AAD4}"/>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3B757C5F-A6D5-4AD3-9FEF-608EE9561665}"/>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E2B9328B-BFBB-4787-A69E-B1DB87B2CCBD}"/>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D3AA5CE1-A874-4655-95BB-525B92914441}"/>
              </a:ext>
            </a:extLst>
          </p:cNvPr>
          <p:cNvSpPr>
            <a:spLocks xmlns:a="http://schemas.openxmlformats.org/drawingml/2006/main" noGrp="1"/>
          </p:cNvSpPr>
          <p:nvPr/>
        </p:nvSpPr>
        <p:spPr>
          <a:xfrm xmlns:a="http://schemas.openxmlformats.org/drawingml/2006/main">
            <a:off x="666750" y="17430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NOTACIÓN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94d3a8da7aa4c37"/>
          <a:stretch xmlns:a="http://schemas.openxmlformats.org/drawingml/2006/main"/>
        </p:blipFill>
        <p:spPr>
          <a:xfrm xmlns:a="http://schemas.openxmlformats.org/drawingml/2006/main">
            <a:off x="1705894" y="2241277"/>
            <a:ext cx="1541212" cy="32757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6BD3F50-C394-43E2-848B-3304CCA73B26}"/>
              </a:ext>
            </a:extLst>
          </p:cNvPr>
          <p:cNvSpPr>
            <a:spLocks xmlns:a="http://schemas.openxmlformats.org/drawingml/2006/main" noGrp="1"/>
          </p:cNvSpPr>
          <p:nvPr/>
        </p:nvSpPr>
        <p:spPr>
          <a:xfrm xmlns:a="http://schemas.openxmlformats.org/drawingml/2006/main">
            <a:off x="4572000" y="21145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j y k identifican partidos distintos. Los dos conteos son los goles de Leverkusen y su rival en j.</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8ef0f4066ed4dda"/>
          <a:stretch xmlns:a="http://schemas.openxmlformats.org/drawingml/2006/main"/>
        </p:blipFill>
        <p:spPr>
          <a:xfrm xmlns:a="http://schemas.openxmlformats.org/drawingml/2006/main">
            <a:off x="1845833" y="3040010"/>
            <a:ext cx="1261334" cy="31125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174A294-6D3B-4A12-AABA-55644AB3CD1B}"/>
              </a:ext>
            </a:extLst>
          </p:cNvPr>
          <p:cNvSpPr>
            <a:spLocks xmlns:a="http://schemas.openxmlformats.org/drawingml/2006/main" noGrp="1"/>
          </p:cNvSpPr>
          <p:nvPr/>
        </p:nvSpPr>
        <p:spPr>
          <a:xfrm xmlns:a="http://schemas.openxmlformats.org/drawingml/2006/main">
            <a:off x="4572000" y="290512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A: invicto en 34 partidos. I₀: información inicial. probabilidad del invicto = P(A | I₀).</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f80463f02b6486a"/>
          <a:stretch xmlns:a="http://schemas.openxmlformats.org/drawingml/2006/main"/>
        </p:blipFill>
        <p:spPr>
          <a:xfrm xmlns:a="http://schemas.openxmlformats.org/drawingml/2006/main">
            <a:off x="1774922" y="3823055"/>
            <a:ext cx="1403156" cy="32631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5879339-7045-4BDB-ABB3-6BF2D662E472}"/>
              </a:ext>
            </a:extLst>
          </p:cNvPr>
          <p:cNvSpPr>
            <a:spLocks xmlns:a="http://schemas.openxmlformats.org/drawingml/2006/main" noGrp="1"/>
          </p:cNvSpPr>
          <p:nvPr/>
        </p:nvSpPr>
        <p:spPr>
          <a:xfrm xmlns:a="http://schemas.openxmlformats.org/drawingml/2006/main">
            <a:off x="4572000" y="369570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pⱼ: probabilidad de no perder el partido j. 1 y 2 identifican los dos equipos de un encuentro.</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3278fc94e284827"/>
          <a:stretch xmlns:a="http://schemas.openxmlformats.org/drawingml/2006/main"/>
        </p:blipFill>
        <p:spPr>
          <a:xfrm xmlns:a="http://schemas.openxmlformats.org/drawingml/2006/main">
            <a:off x="1970084" y="4620533"/>
            <a:ext cx="1012832" cy="31251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7E534564-097B-4B29-9497-A06EBD607407}"/>
              </a:ext>
            </a:extLst>
          </p:cNvPr>
          <p:cNvSpPr>
            <a:spLocks xmlns:a="http://schemas.openxmlformats.org/drawingml/2006/main" noGrp="1"/>
          </p:cNvSpPr>
          <p:nvPr/>
        </p:nvSpPr>
        <p:spPr>
          <a:xfrm xmlns:a="http://schemas.openxmlformats.org/drawingml/2006/main">
            <a:off x="4572000" y="448627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Δ: diferencia Elo más localía h, en puntos Elo. E sin corchetes: puntuación esperada Elo.</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6bc3013fe2e4698"/>
          <a:stretch xmlns:a="http://schemas.openxmlformats.org/drawingml/2006/main"/>
        </p:blipFill>
        <p:spPr>
          <a:xfrm xmlns:a="http://schemas.openxmlformats.org/drawingml/2006/main">
            <a:off x="1779942" y="5403577"/>
            <a:ext cx="1393115" cy="32757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D7AF008F-BF5F-4C3A-A4B7-E7FFEBC56E6A}"/>
              </a:ext>
            </a:extLst>
          </p:cNvPr>
          <p:cNvSpPr>
            <a:spLocks xmlns:a="http://schemas.openxmlformats.org/drawingml/2006/main" noGrp="1"/>
          </p:cNvSpPr>
          <p:nvPr/>
        </p:nvSpPr>
        <p:spPr>
          <a:xfrm xmlns:a="http://schemas.openxmlformats.org/drawingml/2006/main">
            <a:off x="4572000" y="52768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Tasas de goles por encuentro; τ: goles a igualdad de fuerzas; t: parámetro ajustado numéricamente.</a:t>
            </a:r>
          </a:p>
        </p:txBody>
      </p:sp>
    </p:spTree>
    <p:extLst>
      <p:ext uri="{BB962C8B-B14F-4D97-AF65-F5344CB8AC3E}">
        <p14:creationId xmlns:p14="http://schemas.microsoft.com/office/powerpoint/2010/main" val="967276827"/>
      </p:ext>
    </p:extLst>
  </p:cSld>
  <p:transition spd="slow" advClick="1">
    <p:fade/>
  </p:transition>
</p:sld>
</file>

<file path=ppt/slides/slide13.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0A7618C-26C6-4141-96F0-D046FE53FE41}"/>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0F4F87E5-343C-4D96-8ECA-3A41C52BF092}"/>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Leverkusen · marcadores y simulaciones</a:t>
            </a:r>
          </a:p>
        </p:txBody>
      </p:sp>
      <p:sp>
        <p:nvSpPr>
          <p:cNvPr id="3" name="">
            <a:extLst xmlns:a="http://schemas.openxmlformats.org/drawingml/2006/main">
              <a:ext uri="{FF2B5EF4-FFF2-40B4-BE49-F238E27FC236}">
                <a16:creationId xmlns:a16="http://schemas.microsoft.com/office/drawing/2014/main" id="{E828E0B9-C29C-4E80-A9D0-F579490CE6E8}"/>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0026906B-F9E1-4CBA-855B-5ECF900B943A}"/>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EE164EB6-2A2E-4F9A-8965-3047E71A60DA}"/>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AF5FCE2F-1953-4ACA-AFC0-B3A944AEDEA1}"/>
              </a:ext>
            </a:extLst>
          </p:cNvPr>
          <p:cNvSpPr>
            <a:spLocks xmlns:a="http://schemas.openxmlformats.org/drawingml/2006/main" noGrp="1"/>
          </p:cNvSpPr>
          <p:nvPr/>
        </p:nvSpPr>
        <p:spPr>
          <a:xfrm xmlns:a="http://schemas.openxmlformats.org/drawingml/2006/main">
            <a:off x="666750" y="17430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NOTACIÓN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bd5b211b3be4971"/>
          <a:stretch xmlns:a="http://schemas.openxmlformats.org/drawingml/2006/main"/>
        </p:blipFill>
        <p:spPr>
          <a:xfrm xmlns:a="http://schemas.openxmlformats.org/drawingml/2006/main">
            <a:off x="1250308" y="2248808"/>
            <a:ext cx="2452385" cy="31251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17D320A-0990-4AB3-BB07-2FAF30108717}"/>
              </a:ext>
            </a:extLst>
          </p:cNvPr>
          <p:cNvSpPr>
            <a:spLocks xmlns:a="http://schemas.openxmlformats.org/drawingml/2006/main" noGrp="1"/>
          </p:cNvSpPr>
          <p:nvPr/>
        </p:nvSpPr>
        <p:spPr>
          <a:xfrm xmlns:a="http://schemas.openxmlformats.org/drawingml/2006/main">
            <a:off x="4572000" y="21145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x,y: posibles goles enteros. Factorial; número e; función exponencial.</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4155d5750af43e8"/>
          <a:stretch xmlns:a="http://schemas.openxmlformats.org/drawingml/2006/main"/>
        </p:blipFill>
        <p:spPr>
          <a:xfrm xmlns:a="http://schemas.openxmlformats.org/drawingml/2006/main">
            <a:off x="1370793" y="3039383"/>
            <a:ext cx="2211414" cy="31251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0858230-4E78-42A0-B353-536982FBE38D}"/>
              </a:ext>
            </a:extLst>
          </p:cNvPr>
          <p:cNvSpPr>
            <a:spLocks xmlns:a="http://schemas.openxmlformats.org/drawingml/2006/main" noGrp="1"/>
          </p:cNvSpPr>
          <p:nvPr/>
        </p:nvSpPr>
        <p:spPr>
          <a:xfrm xmlns:a="http://schemas.openxmlformats.org/drawingml/2006/main">
            <a:off x="4572000" y="290512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Poisson modela conteos de goles; Skellam, la diferencia entre dos conteos Poisson independientes.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b4c37894ca84fbc"/>
          <a:stretch xmlns:a="http://schemas.openxmlformats.org/drawingml/2006/main"/>
        </p:blipFill>
        <p:spPr>
          <a:xfrm xmlns:a="http://schemas.openxmlformats.org/drawingml/2006/main">
            <a:off x="1744801" y="3829958"/>
            <a:ext cx="1463399" cy="31251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73BE1C54-5257-4B09-BAF5-AD10A7F26A13}"/>
              </a:ext>
            </a:extLst>
          </p:cNvPr>
          <p:cNvSpPr>
            <a:spLocks xmlns:a="http://schemas.openxmlformats.org/drawingml/2006/main" noGrp="1"/>
          </p:cNvSpPr>
          <p:nvPr/>
        </p:nvSpPr>
        <p:spPr>
          <a:xfrm xmlns:a="http://schemas.openxmlformats.org/drawingml/2006/main">
            <a:off x="4572000" y="369570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b: repetición; N = 10 000 temporadas; indicador de la repetición b: indicador de invicto; K: total de invictos simulados.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cf56a7969c554c5f"/>
          <a:stretch xmlns:a="http://schemas.openxmlformats.org/drawingml/2006/main"/>
        </p:blipFill>
        <p:spPr>
          <a:xfrm xmlns:a="http://schemas.openxmlformats.org/drawingml/2006/main">
            <a:off x="1272899" y="4620533"/>
            <a:ext cx="2407203" cy="31251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B808306A-10C1-421D-9755-DEACFDE49912}"/>
              </a:ext>
            </a:extLst>
          </p:cNvPr>
          <p:cNvSpPr>
            <a:spLocks xmlns:a="http://schemas.openxmlformats.org/drawingml/2006/main" noGrp="1"/>
          </p:cNvSpPr>
          <p:nvPr/>
        </p:nvSpPr>
        <p:spPr>
          <a:xfrm xmlns:a="http://schemas.openxmlformats.org/drawingml/2006/main">
            <a:off x="4572000" y="448627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Bernoulli: un indicador de éxito; binomial: número de éxitos en N repeticiones independientes.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8117e73a357c471a"/>
          <a:stretch xmlns:a="http://schemas.openxmlformats.org/drawingml/2006/main"/>
        </p:blipFill>
        <p:spPr>
          <a:xfrm xmlns:a="http://schemas.openxmlformats.org/drawingml/2006/main">
            <a:off x="991765" y="5404205"/>
            <a:ext cx="2969469" cy="32631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50A5CF22-5CE7-4E24-9B2D-AE9009D25A42}"/>
              </a:ext>
            </a:extLst>
          </p:cNvPr>
          <p:cNvSpPr>
            <a:spLocks xmlns:a="http://schemas.openxmlformats.org/drawingml/2006/main" noGrp="1"/>
          </p:cNvSpPr>
          <p:nvPr/>
        </p:nvSpPr>
        <p:spPr>
          <a:xfrm xmlns:a="http://schemas.openxmlformats.org/drawingml/2006/main">
            <a:off x="4572000" y="52768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U uniforme determina el resultado simulado; p̂ es la proporción de temporadas exitosas.</a:t>
            </a:r>
          </a:p>
        </p:txBody>
      </p:sp>
    </p:spTree>
    <p:extLst>
      <p:ext uri="{BB962C8B-B14F-4D97-AF65-F5344CB8AC3E}">
        <p14:creationId xmlns:p14="http://schemas.microsoft.com/office/powerpoint/2010/main" val="255002375"/>
      </p:ext>
    </p:extLst>
  </p:cSld>
  <p:transition spd="slow" advClick="1">
    <p:fade/>
  </p:transition>
</p:sld>
</file>

<file path=ppt/slides/slide14.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912C774-D61C-4CEB-AAD5-BA71EAAE2CDF}"/>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DB993C7B-7EAB-4F0C-8FCC-62ACE58A8AA4}"/>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Leverkusen · precisión de la estimación</a:t>
            </a:r>
          </a:p>
        </p:txBody>
      </p:sp>
      <p:sp>
        <p:nvSpPr>
          <p:cNvPr id="3" name="">
            <a:extLst xmlns:a="http://schemas.openxmlformats.org/drawingml/2006/main">
              <a:ext uri="{FF2B5EF4-FFF2-40B4-BE49-F238E27FC236}">
                <a16:creationId xmlns:a16="http://schemas.microsoft.com/office/drawing/2014/main" id="{36BEFB35-D4C1-4513-80B3-5B7CF1830B3E}"/>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C16C5F5A-A143-4270-BA23-203A752A596A}"/>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BCEBD909-CF1A-4A09-848E-1B3D2EE87124}"/>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A5C7BD3D-3E00-47F9-A972-4C010CD73177}"/>
              </a:ext>
            </a:extLst>
          </p:cNvPr>
          <p:cNvSpPr>
            <a:spLocks xmlns:a="http://schemas.openxmlformats.org/drawingml/2006/main" noGrp="1"/>
          </p:cNvSpPr>
          <p:nvPr/>
        </p:nvSpPr>
        <p:spPr>
          <a:xfrm xmlns:a="http://schemas.openxmlformats.org/drawingml/2006/main">
            <a:off x="666750" y="17430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NOTACIÓN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4e74b4ae76b4eae"/>
          <a:stretch xmlns:a="http://schemas.openxmlformats.org/drawingml/2006/main"/>
        </p:blipFill>
        <p:spPr>
          <a:xfrm xmlns:a="http://schemas.openxmlformats.org/drawingml/2006/main">
            <a:off x="1639376" y="2241905"/>
            <a:ext cx="1674248" cy="32631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5776FC8-E702-4F94-AD5F-0E319B5F34B8}"/>
              </a:ext>
            </a:extLst>
          </p:cNvPr>
          <p:cNvSpPr>
            <a:spLocks xmlns:a="http://schemas.openxmlformats.org/drawingml/2006/main" noGrp="1"/>
          </p:cNvSpPr>
          <p:nvPr/>
        </p:nvSpPr>
        <p:spPr>
          <a:xfrm xmlns:a="http://schemas.openxmlformats.org/drawingml/2006/main">
            <a:off x="4572000" y="21145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Error estándar de la proporción e intervalo de confianza del 95 %, solo para variación Monte Carlo.</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190cb48b4af42d9"/>
          <a:stretch xmlns:a="http://schemas.openxmlformats.org/drawingml/2006/main"/>
        </p:blipFill>
        <p:spPr>
          <a:xfrm xmlns:a="http://schemas.openxmlformats.org/drawingml/2006/main">
            <a:off x="1607999" y="3039383"/>
            <a:ext cx="1737001" cy="31251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105C87E-6FDD-4D7B-980E-F929548B1BD5}"/>
              </a:ext>
            </a:extLst>
          </p:cNvPr>
          <p:cNvSpPr>
            <a:spLocks xmlns:a="http://schemas.openxmlformats.org/drawingml/2006/main" noGrp="1"/>
          </p:cNvSpPr>
          <p:nvPr/>
        </p:nvSpPr>
        <p:spPr>
          <a:xfrm xmlns:a="http://schemas.openxmlformats.org/drawingml/2006/main">
            <a:off x="4572000" y="290512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α = 0.05: nivel de error del intervalo. Beta: distribución cuyos cuantiles dan los límites exactos.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9569b42465f41ae"/>
          <a:stretch xmlns:a="http://schemas.openxmlformats.org/drawingml/2006/main"/>
        </p:blipFill>
        <p:spPr>
          <a:xfrm xmlns:a="http://schemas.openxmlformats.org/drawingml/2006/main">
            <a:off x="2116926" y="3830585"/>
            <a:ext cx="719149" cy="31125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D8AD262B-0C19-4DE7-898E-DDB0C818C632}"/>
              </a:ext>
            </a:extLst>
          </p:cNvPr>
          <p:cNvSpPr>
            <a:spLocks xmlns:a="http://schemas.openxmlformats.org/drawingml/2006/main" noGrp="1"/>
          </p:cNvSpPr>
          <p:nvPr/>
        </p:nvSpPr>
        <p:spPr>
          <a:xfrm xmlns:a="http://schemas.openxmlformats.org/drawingml/2006/main">
            <a:off x="4572000" y="369570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Límite superior del intervalo si no hubo éxitos. Es distinto del uniforme U usado al simular.</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c7e6a7175924623"/>
          <a:stretch xmlns:a="http://schemas.openxmlformats.org/drawingml/2006/main"/>
        </p:blipFill>
        <p:spPr>
          <a:xfrm xmlns:a="http://schemas.openxmlformats.org/drawingml/2006/main">
            <a:off x="1630590" y="4621160"/>
            <a:ext cx="1691819" cy="31125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F6153285-16F0-4EE1-8423-9766AE08AB45}"/>
              </a:ext>
            </a:extLst>
          </p:cNvPr>
          <p:cNvSpPr>
            <a:spLocks xmlns:a="http://schemas.openxmlformats.org/drawingml/2006/main" noGrp="1"/>
          </p:cNvSpPr>
          <p:nvPr/>
        </p:nvSpPr>
        <p:spPr>
          <a:xfrm xmlns:a="http://schemas.openxmlformats.org/drawingml/2006/main">
            <a:off x="4572000" y="448627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Cuantiles que dejan 2.5 % y 97.5 % de probabilidad acumulada, respectivamente.</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c017e12c41d64663"/>
          <a:stretch xmlns:a="http://schemas.openxmlformats.org/drawingml/2006/main"/>
        </p:blipFill>
        <p:spPr>
          <a:xfrm xmlns:a="http://schemas.openxmlformats.org/drawingml/2006/main">
            <a:off x="1680165" y="5389144"/>
            <a:ext cx="1592670" cy="356437"/>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C0DFD984-D9AC-41D9-B2B2-B32CC6C6C6E6}"/>
              </a:ext>
            </a:extLst>
          </p:cNvPr>
          <p:cNvSpPr>
            <a:spLocks xmlns:a="http://schemas.openxmlformats.org/drawingml/2006/main" noGrp="1"/>
          </p:cNvSpPr>
          <p:nvPr/>
        </p:nvSpPr>
        <p:spPr>
          <a:xfrm xmlns:a="http://schemas.openxmlformats.org/drawingml/2006/main">
            <a:off x="4572000" y="52768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Logaritmo natural en las derivaciones; 10 elevado a −7 equivale a 0.0000001.</a:t>
            </a:r>
          </a:p>
        </p:txBody>
      </p:sp>
    </p:spTree>
    <p:extLst>
      <p:ext uri="{BB962C8B-B14F-4D97-AF65-F5344CB8AC3E}">
        <p14:creationId xmlns:p14="http://schemas.microsoft.com/office/powerpoint/2010/main" val="760133431"/>
      </p:ext>
    </p:extLst>
  </p:cSld>
  <p:transition spd="slow" advClick="1">
    <p:fade/>
  </p:transition>
</p:sld>
</file>

<file path=ppt/slides/slide15.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257569A-B688-4222-A362-22E9D450D6AA}"/>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9057581F-E2BA-4FFA-BEE3-2D12BACB6AFD}"/>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Leverkusen · campeones históricos</a:t>
            </a:r>
          </a:p>
        </p:txBody>
      </p:sp>
      <p:sp>
        <p:nvSpPr>
          <p:cNvPr id="3" name="">
            <a:extLst xmlns:a="http://schemas.openxmlformats.org/drawingml/2006/main">
              <a:ext uri="{FF2B5EF4-FFF2-40B4-BE49-F238E27FC236}">
                <a16:creationId xmlns:a16="http://schemas.microsoft.com/office/drawing/2014/main" id="{B9C9DFF6-B2BC-4169-A40C-DB7FB2891B62}"/>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40ED3609-DDA9-4504-9C63-838346CA449B}"/>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133B7081-5F07-4CFB-95A0-1EA2D019FD17}"/>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22104CFF-4AB9-4076-819E-6C724229948A}"/>
              </a:ext>
            </a:extLst>
          </p:cNvPr>
          <p:cNvSpPr>
            <a:spLocks xmlns:a="http://schemas.openxmlformats.org/drawingml/2006/main" noGrp="1"/>
          </p:cNvSpPr>
          <p:nvPr/>
        </p:nvSpPr>
        <p:spPr>
          <a:xfrm xmlns:a="http://schemas.openxmlformats.org/drawingml/2006/main">
            <a:off x="666750" y="17430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NOTACIÓN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9caabe34a694b87"/>
          <a:stretch xmlns:a="http://schemas.openxmlformats.org/drawingml/2006/main"/>
        </p:blipFill>
        <p:spPr>
          <a:xfrm xmlns:a="http://schemas.openxmlformats.org/drawingml/2006/main">
            <a:off x="1759861" y="2249435"/>
            <a:ext cx="1433277" cy="31125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714C85F-A3EA-482B-999D-CF96CBB738C0}"/>
              </a:ext>
            </a:extLst>
          </p:cNvPr>
          <p:cNvSpPr>
            <a:spLocks xmlns:a="http://schemas.openxmlformats.org/drawingml/2006/main" noGrp="1"/>
          </p:cNvSpPr>
          <p:nvPr/>
        </p:nvSpPr>
        <p:spPr>
          <a:xfrm xmlns:a="http://schemas.openxmlformats.org/drawingml/2006/main">
            <a:off x="4572000" y="21145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s: temporada histórica; n: número de campeones. Yₛ indica campeón no Bayern; Dₛ cuenta sus derrotas.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ea5220911574862"/>
          <a:stretch xmlns:a="http://schemas.openxmlformats.org/drawingml/2006/main"/>
        </p:blipFill>
        <p:spPr>
          <a:xfrm xmlns:a="http://schemas.openxmlformats.org/drawingml/2006/main">
            <a:off x="1903566" y="2984160"/>
            <a:ext cx="1145869" cy="42295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5A70022-8B76-4ACA-87C8-F608494B2072}"/>
              </a:ext>
            </a:extLst>
          </p:cNvPr>
          <p:cNvSpPr>
            <a:spLocks xmlns:a="http://schemas.openxmlformats.org/drawingml/2006/main" noGrp="1"/>
          </p:cNvSpPr>
          <p:nvPr/>
        </p:nvSpPr>
        <p:spPr>
          <a:xfrm xmlns:a="http://schemas.openxmlformats.org/drawingml/2006/main">
            <a:off x="4572000" y="290512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Media y varianza muestral de derrotas; estimación de la media Poisson, igual a la media observada.</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08285d1dfe345d7"/>
          <a:stretch xmlns:a="http://schemas.openxmlformats.org/drawingml/2006/main"/>
        </p:blipFill>
        <p:spPr>
          <a:xfrm xmlns:a="http://schemas.openxmlformats.org/drawingml/2006/main">
            <a:off x="1869679" y="3829958"/>
            <a:ext cx="1213642" cy="31251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65464655-05E6-45FD-A049-C122CF0F88B6}"/>
              </a:ext>
            </a:extLst>
          </p:cNvPr>
          <p:cNvSpPr>
            <a:spLocks xmlns:a="http://schemas.openxmlformats.org/drawingml/2006/main" noGrp="1"/>
          </p:cNvSpPr>
          <p:nvPr/>
        </p:nvSpPr>
        <p:spPr>
          <a:xfrm xmlns:a="http://schemas.openxmlformats.org/drawingml/2006/main">
            <a:off x="4572000" y="369570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Log-verosimilitud como función de λ; factorial del número de derrotas.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e67e3c47ac44004"/>
          <a:stretch xmlns:a="http://schemas.openxmlformats.org/drawingml/2006/main"/>
        </p:blipFill>
        <p:spPr>
          <a:xfrm xmlns:a="http://schemas.openxmlformats.org/drawingml/2006/main">
            <a:off x="1965691" y="4613002"/>
            <a:ext cx="1021618" cy="32757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47FF3138-D21F-44AA-8B40-0E02B1C619E5}"/>
              </a:ext>
            </a:extLst>
          </p:cNvPr>
          <p:cNvSpPr>
            <a:spLocks xmlns:a="http://schemas.openxmlformats.org/drawingml/2006/main" noGrp="1"/>
          </p:cNvSpPr>
          <p:nvPr/>
        </p:nvSpPr>
        <p:spPr>
          <a:xfrm xmlns:a="http://schemas.openxmlformats.org/drawingml/2006/main">
            <a:off x="4572000" y="448627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mₛ: partidos en temporada s; ρ: derrotas esperadas por partido; ρ̂: tasa estimada.</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992258e32234da9"/>
          <a:stretch xmlns:a="http://schemas.openxmlformats.org/drawingml/2006/main"/>
        </p:blipFill>
        <p:spPr>
          <a:xfrm xmlns:a="http://schemas.openxmlformats.org/drawingml/2006/main">
            <a:off x="2261257" y="5411735"/>
            <a:ext cx="430485" cy="31125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FFE82416-2F83-4CDD-AA9B-2AD0E6C976E2}"/>
              </a:ext>
            </a:extLst>
          </p:cNvPr>
          <p:cNvSpPr>
            <a:spLocks xmlns:a="http://schemas.openxmlformats.org/drawingml/2006/main" noGrp="1"/>
          </p:cNvSpPr>
          <p:nvPr/>
        </p:nvSpPr>
        <p:spPr>
          <a:xfrm xmlns:a="http://schemas.openxmlformats.org/drawingml/2006/main">
            <a:off x="4572000" y="52768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Parámetro de dispersión r de la binomial negativa: varianza λ + λ²/r. No es una tasa de goles.</a:t>
            </a:r>
          </a:p>
        </p:txBody>
      </p:sp>
    </p:spTree>
    <p:extLst>
      <p:ext uri="{BB962C8B-B14F-4D97-AF65-F5344CB8AC3E}">
        <p14:creationId xmlns:p14="http://schemas.microsoft.com/office/powerpoint/2010/main" val="2041733302"/>
      </p:ext>
    </p:extLst>
  </p:cSld>
  <p:transition spd="slow" advClick="1">
    <p:fade/>
  </p:transition>
</p:sld>
</file>

<file path=ppt/slides/slide16.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CB110A5-D18B-4CB0-BBD1-F55F63BE4824}"/>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3DBFD9F8-12DB-49A9-BBD2-C4B4C923973B}"/>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Leverkusen · rescates tardíos</a:t>
            </a:r>
          </a:p>
        </p:txBody>
      </p:sp>
      <p:sp>
        <p:nvSpPr>
          <p:cNvPr id="3" name="">
            <a:extLst xmlns:a="http://schemas.openxmlformats.org/drawingml/2006/main">
              <a:ext uri="{FF2B5EF4-FFF2-40B4-BE49-F238E27FC236}">
                <a16:creationId xmlns:a16="http://schemas.microsoft.com/office/drawing/2014/main" id="{39747B1D-3497-43CA-896C-C7C32E030457}"/>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72A7009B-AC61-4B22-A70E-8A02337DAEBA}"/>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50732FD0-B6C1-4553-815C-FEED1B79E38E}"/>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BC726714-8844-481D-985A-6CE2F8040D39}"/>
              </a:ext>
            </a:extLst>
          </p:cNvPr>
          <p:cNvSpPr>
            <a:spLocks xmlns:a="http://schemas.openxmlformats.org/drawingml/2006/main" noGrp="1"/>
          </p:cNvSpPr>
          <p:nvPr/>
        </p:nvSpPr>
        <p:spPr>
          <a:xfrm xmlns:a="http://schemas.openxmlformats.org/drawingml/2006/main">
            <a:off x="666750" y="17430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NOTACIÓN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62fb0c94e784f99"/>
          <a:stretch xmlns:a="http://schemas.openxmlformats.org/drawingml/2006/main"/>
        </p:blipFill>
        <p:spPr>
          <a:xfrm xmlns:a="http://schemas.openxmlformats.org/drawingml/2006/main">
            <a:off x="1863404" y="2248808"/>
            <a:ext cx="1226192" cy="31251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DA2E96F-7F81-44AB-B261-E070C5715914}"/>
              </a:ext>
            </a:extLst>
          </p:cNvPr>
          <p:cNvSpPr>
            <a:spLocks xmlns:a="http://schemas.openxmlformats.org/drawingml/2006/main" noGrp="1"/>
          </p:cNvSpPr>
          <p:nvPr/>
        </p:nvSpPr>
        <p:spPr>
          <a:xfrm xmlns:a="http://schemas.openxmlformats.org/drawingml/2006/main">
            <a:off x="4572000" y="21145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i: partido rescatado; k = 4 rescates; dᵢ: déficit inicial; Tᵢ: minutos restantes observados.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cd89d6f7f7f492c"/>
          <a:stretch xmlns:a="http://schemas.openxmlformats.org/drawingml/2006/main"/>
        </p:blipFill>
        <p:spPr>
          <a:xfrm xmlns:a="http://schemas.openxmlformats.org/drawingml/2006/main">
            <a:off x="1757979" y="3040010"/>
            <a:ext cx="1437042" cy="31125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E555B52-4BE3-45B2-8B2F-B016FB9701A7}"/>
              </a:ext>
            </a:extLst>
          </p:cNvPr>
          <p:cNvSpPr>
            <a:spLocks xmlns:a="http://schemas.openxmlformats.org/drawingml/2006/main" noGrp="1"/>
          </p:cNvSpPr>
          <p:nvPr/>
        </p:nvSpPr>
        <p:spPr>
          <a:xfrm xmlns:a="http://schemas.openxmlformats.org/drawingml/2006/main">
            <a:off x="4572000" y="290512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Tasas de goles a favor y en contra por 90 minutos; futuros goles propios y rivales en el tiempo restante.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4b6303cbd8c4d67"/>
          <a:stretch xmlns:a="http://schemas.openxmlformats.org/drawingml/2006/main"/>
        </p:blipFill>
        <p:spPr>
          <a:xfrm xmlns:a="http://schemas.openxmlformats.org/drawingml/2006/main">
            <a:off x="1317453" y="3829958"/>
            <a:ext cx="2318094" cy="31251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F33C0F1F-CC52-46FF-AD5D-F53F9D1A3A1C}"/>
              </a:ext>
            </a:extLst>
          </p:cNvPr>
          <p:cNvSpPr>
            <a:spLocks xmlns:a="http://schemas.openxmlformats.org/drawingml/2006/main" noGrp="1"/>
          </p:cNvSpPr>
          <p:nvPr/>
        </p:nvSpPr>
        <p:spPr>
          <a:xfrm xmlns:a="http://schemas.openxmlformats.org/drawingml/2006/main">
            <a:off x="4572000" y="369570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Probabilidad condicional de compensar el déficit y terminar sin derrota en el rescate i.</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2040b50a39a4065"/>
          <a:stretch xmlns:a="http://schemas.openxmlformats.org/drawingml/2006/main"/>
        </p:blipFill>
        <p:spPr>
          <a:xfrm xmlns:a="http://schemas.openxmlformats.org/drawingml/2006/main">
            <a:off x="1695983" y="4486275"/>
            <a:ext cx="1561033" cy="581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3B62426F-7BBC-4A0E-B018-D29FED318049}"/>
              </a:ext>
            </a:extLst>
          </p:cNvPr>
          <p:cNvSpPr>
            <a:spLocks xmlns:a="http://schemas.openxmlformats.org/drawingml/2006/main" noGrp="1"/>
          </p:cNvSpPr>
          <p:nvPr/>
        </p:nvSpPr>
        <p:spPr>
          <a:xfrm xmlns:a="http://schemas.openxmlformats.org/drawingml/2006/main">
            <a:off x="4572000" y="448627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Probabilidad conjunta bajo independencia e inverso de esa probabilidad.</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8a3be8a9911445c"/>
          <a:stretch xmlns:a="http://schemas.openxmlformats.org/drawingml/2006/main"/>
        </p:blipFill>
        <p:spPr>
          <a:xfrm xmlns:a="http://schemas.openxmlformats.org/drawingml/2006/main">
            <a:off x="2072999" y="5411108"/>
            <a:ext cx="807003" cy="31251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2EB42EEA-62D1-48A7-B74B-0587F91435D9}"/>
              </a:ext>
            </a:extLst>
          </p:cNvPr>
          <p:cNvSpPr>
            <a:spLocks xmlns:a="http://schemas.openxmlformats.org/drawingml/2006/main" noGrp="1"/>
          </p:cNvSpPr>
          <p:nvPr/>
        </p:nvSpPr>
        <p:spPr>
          <a:xfrm xmlns:a="http://schemas.openxmlformats.org/drawingml/2006/main">
            <a:off x="4572000" y="52768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Índice heurístico solicitado. No identifica por sí mismo una probabilidad causal del invicto sin suerte.</a:t>
            </a:r>
          </a:p>
        </p:txBody>
      </p:sp>
    </p:spTree>
    <p:extLst>
      <p:ext uri="{BB962C8B-B14F-4D97-AF65-F5344CB8AC3E}">
        <p14:creationId xmlns:p14="http://schemas.microsoft.com/office/powerpoint/2010/main" val="1909241826"/>
      </p:ext>
    </p:extLst>
  </p:cSld>
  <p:transition spd="slow" advClick="1">
    <p:fade/>
  </p:transition>
</p:sld>
</file>

<file path=ppt/slides/slide17.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88598C-E0A7-407D-A23B-7AAC4384094A}"/>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A0476BAC-635E-4C0D-AEC6-1082CA38561E}"/>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Leverkusen: variables discretas del análisis</a:t>
            </a:r>
          </a:p>
        </p:txBody>
      </p:sp>
      <p:sp>
        <p:nvSpPr>
          <p:cNvPr id="3" name="">
            <a:extLst xmlns:a="http://schemas.openxmlformats.org/drawingml/2006/main">
              <a:ext uri="{FF2B5EF4-FFF2-40B4-BE49-F238E27FC236}">
                <a16:creationId xmlns:a16="http://schemas.microsoft.com/office/drawing/2014/main" id="{20641EA2-AA97-429E-A6D9-B54FF0810A40}"/>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F11AD6E1-210C-493B-9773-C95394D879CE}"/>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C1FF5EE6-2E91-4EB5-AD94-B32A7705CB06}"/>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DF4BF10D-9900-4E96-9FC6-F42F22E73B6E}"/>
              </a:ext>
            </a:extLst>
          </p:cNvPr>
          <p:cNvSpPr>
            <a:spLocks xmlns:a="http://schemas.openxmlformats.org/drawingml/2006/main" noGrp="1"/>
          </p:cNvSpPr>
          <p:nvPr/>
        </p:nvSpPr>
        <p:spPr>
          <a:xfrm xmlns:a="http://schemas.openxmlformats.org/drawingml/2006/main">
            <a:off x="666750" y="20193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Los goles a favor y en contra por partido son conteos enteros no negativos; se modelan con Poisson. Su diferencia es un entero, positivo, cero o negativo, y se modela con Skellam. El resultado es una categoría ordenada —derrota, empate o victoria— obtenida al comparar esos goles.</a:t>
            </a:r>
          </a:p>
        </p:txBody>
      </p:sp>
      <p:sp>
        <p:nvSpPr>
          <p:cNvPr id="7" name="">
            <a:extLst xmlns:a="http://schemas.openxmlformats.org/drawingml/2006/main">
              <a:ext uri="{FF2B5EF4-FFF2-40B4-BE49-F238E27FC236}">
                <a16:creationId xmlns:a16="http://schemas.microsoft.com/office/drawing/2014/main" id="{982E2A0D-3710-448F-80AB-9F192990FB3A}"/>
              </a:ext>
            </a:extLst>
          </p:cNvPr>
          <p:cNvSpPr>
            <a:spLocks xmlns:a="http://schemas.openxmlformats.org/drawingml/2006/main" noGrp="1"/>
          </p:cNvSpPr>
          <p:nvPr/>
        </p:nvSpPr>
        <p:spPr>
          <a:xfrm xmlns:a="http://schemas.openxmlformats.org/drawingml/2006/main">
            <a:off x="666750" y="40386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Las derrotas de Leverkusen en 34 jornadas toman valores de 0 a 34. El indicador de invicto toma 0 o 1; el total de invictos entre N temporadas es un conteo de 0 a N. Para campeones históricos, las derrotas tienen un límite real dado por los partidos jugados; Poisson es una aproximación con soporte no acotado, no una identidad del torneo.</a:t>
            </a:r>
          </a:p>
        </p:txBody>
      </p:sp>
    </p:spTree>
    <p:extLst>
      <p:ext uri="{BB962C8B-B14F-4D97-AF65-F5344CB8AC3E}">
        <p14:creationId xmlns:p14="http://schemas.microsoft.com/office/powerpoint/2010/main" val="492180287"/>
      </p:ext>
    </p:extLst>
  </p:cSld>
  <p:transition spd="slow" advClick="1">
    <p:fade/>
  </p:transition>
</p:sld>
</file>

<file path=ppt/slides/slide18.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7696C1-B2B6-4E2B-9525-DE057B7CF6C5}"/>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5BB28BED-9C0A-4B78-AE92-E380420D209E}"/>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Leverkusen: tiempos, parámetros y estimadores</a:t>
            </a:r>
          </a:p>
        </p:txBody>
      </p:sp>
      <p:sp>
        <p:nvSpPr>
          <p:cNvPr id="3" name="">
            <a:extLst xmlns:a="http://schemas.openxmlformats.org/drawingml/2006/main">
              <a:ext uri="{FF2B5EF4-FFF2-40B4-BE49-F238E27FC236}">
                <a16:creationId xmlns:a16="http://schemas.microsoft.com/office/drawing/2014/main" id="{6E3D920E-CBF3-4DE3-9981-DB50DABD4676}"/>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2549F6A8-A5A9-467E-B5C2-6763927619B8}"/>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A4849E25-980A-42FA-BA96-AC9AC1C5E1B1}"/>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90180C71-F2AE-4685-AA5A-7A2A76DEBAF2}"/>
              </a:ext>
            </a:extLst>
          </p:cNvPr>
          <p:cNvSpPr>
            <a:spLocks xmlns:a="http://schemas.openxmlformats.org/drawingml/2006/main" noGrp="1"/>
          </p:cNvSpPr>
          <p:nvPr/>
        </p:nvSpPr>
        <p:spPr>
          <a:xfrm xmlns:a="http://schemas.openxmlformats.org/drawingml/2006/main">
            <a:off x="666750" y="20193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El instante del gol y el tiempo restante se miden en minutos y segundos: conceptualmente son magnitudes continuas, observadas sobre una rejilla temporal. El déficit de goles y el número de rescates son discretos. Equipo y temporada identifican observaciones; no suponemos que temporadas de distintas épocas tengan idénticas condiciones.</a:t>
            </a:r>
          </a:p>
        </p:txBody>
      </p:sp>
      <p:sp>
        <p:nvSpPr>
          <p:cNvPr id="7" name="">
            <a:extLst xmlns:a="http://schemas.openxmlformats.org/drawingml/2006/main">
              <a:ext uri="{FF2B5EF4-FFF2-40B4-BE49-F238E27FC236}">
                <a16:creationId xmlns:a16="http://schemas.microsoft.com/office/drawing/2014/main" id="{A90DDA6B-966B-43EB-881B-825061E922C4}"/>
              </a:ext>
            </a:extLst>
          </p:cNvPr>
          <p:cNvSpPr>
            <a:spLocks xmlns:a="http://schemas.openxmlformats.org/drawingml/2006/main" noGrp="1"/>
          </p:cNvSpPr>
          <p:nvPr/>
        </p:nvSpPr>
        <p:spPr>
          <a:xfrm xmlns:a="http://schemas.openxmlformats.org/drawingml/2006/main">
            <a:off x="666750" y="40386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Las tasas Poisson, la ventaja local, los Elo y las probabilidades p y q son parámetros o entradas numéricas fijadas en el cálculo; no reciben una distribución aleatoria propia. La proporción simulada K/N sí es un estimador discreto, con incrementos de 1/N. Que se escriba con decimales no la convierte en continua; por eso usamos un intervalo binomial exacto.</a:t>
            </a:r>
          </a:p>
        </p:txBody>
      </p:sp>
    </p:spTree>
    <p:extLst>
      <p:ext uri="{BB962C8B-B14F-4D97-AF65-F5344CB8AC3E}">
        <p14:creationId xmlns:p14="http://schemas.microsoft.com/office/powerpoint/2010/main" val="2107415073"/>
      </p:ext>
    </p:extLst>
  </p:cSld>
  <p:transition spd="slow" advClick="1">
    <p:fade/>
  </p:transition>
</p:sld>
</file>

<file path=ppt/slides/slide19.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286B70-A099-4FCB-A2BF-7FFF5E65D1CF}"/>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1A7A48AE-69C5-43D7-973D-45CB557BE947}"/>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De Elo a victoria, empate y derrota</a:t>
            </a:r>
          </a:p>
        </p:txBody>
      </p:sp>
      <p:sp>
        <p:nvSpPr>
          <p:cNvPr id="3" name="">
            <a:extLst xmlns:a="http://schemas.openxmlformats.org/drawingml/2006/main">
              <a:ext uri="{FF2B5EF4-FFF2-40B4-BE49-F238E27FC236}">
                <a16:creationId xmlns:a16="http://schemas.microsoft.com/office/drawing/2014/main" id="{0135CF0F-A165-46F5-B3FE-0D2432EE34C4}"/>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75CD02CC-945F-490C-B900-92D6EEE701FE}"/>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BB817683-0D2D-4A67-8DB3-0F9B3E2A7F8D}"/>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CD95D161-574F-41A2-A5B2-2F34C82E1F9F}"/>
              </a:ext>
            </a:extLst>
          </p:cNvPr>
          <p:cNvSpPr>
            <a:spLocks xmlns:a="http://schemas.openxmlformats.org/drawingml/2006/main" noGrp="1"/>
          </p:cNvSpPr>
          <p:nvPr/>
        </p:nvSpPr>
        <p:spPr>
          <a:xfrm xmlns:a="http://schemas.openxmlformats.org/drawingml/2006/main">
            <a:off x="609600" y="28575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42C"/>
                </a:solidFill>
                <a:latin typeface="Arial"/>
                <a:ea typeface="Arial"/>
                <a:cs typeface="Arial"/>
              </a:defRPr>
            </a:pPr>
            <a:r>
              <a:rPr sz="2325" b="0">
                <a:solidFill>
                  <a:srgbClr val="17242C"/>
                </a:solidFill>
                <a:latin typeface="Arial"/>
                <a:ea typeface="Arial"/>
                <a:cs typeface="Arial"/>
              </a:rPr>
              <a:t>E = P(victoria) + ½ P(empate)</a:t>
            </a:r>
          </a:p>
        </p:txBody>
      </p:sp>
      <p:sp>
        <p:nvSpPr>
          <p:cNvPr id="7" name="">
            <a:extLst xmlns:a="http://schemas.openxmlformats.org/drawingml/2006/main">
              <a:ext uri="{FF2B5EF4-FFF2-40B4-BE49-F238E27FC236}">
                <a16:creationId xmlns:a16="http://schemas.microsoft.com/office/drawing/2014/main" id="{157E226C-6008-45E5-AD57-F943A33FF9E8}"/>
              </a:ext>
            </a:extLst>
          </p:cNvPr>
          <p:cNvSpPr>
            <a:spLocks xmlns:a="http://schemas.openxmlformats.org/drawingml/2006/main" noGrp="1"/>
          </p:cNvSpPr>
          <p:nvPr/>
        </p:nvSpPr>
        <p:spPr>
          <a:xfrm xmlns:a="http://schemas.openxmlformats.org/drawingml/2006/main">
            <a:off x="609600" y="37433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42C"/>
                </a:solidFill>
                <a:latin typeface="Arial"/>
                <a:ea typeface="Arial"/>
                <a:cs typeface="Arial"/>
              </a:defRPr>
            </a:pPr>
            <a:r>
              <a:rPr sz="2325" b="0">
                <a:solidFill>
                  <a:srgbClr val="17242C"/>
                </a:solidFill>
                <a:latin typeface="Arial"/>
                <a:ea typeface="Arial"/>
                <a:cs typeface="Arial"/>
              </a:rPr>
              <a:t>Goles independientes con distribuciones Poisson</a:t>
            </a:r>
          </a:p>
        </p:txBody>
      </p:sp>
      <p:sp>
        <p:nvSpPr>
          <p:cNvPr id="8" name="">
            <a:extLst xmlns:a="http://schemas.openxmlformats.org/drawingml/2006/main">
              <a:ext uri="{FF2B5EF4-FFF2-40B4-BE49-F238E27FC236}">
                <a16:creationId xmlns:a16="http://schemas.microsoft.com/office/drawing/2014/main" id="{39458F1B-225B-4982-842E-34F3A8B9E6FC}"/>
              </a:ext>
            </a:extLst>
          </p:cNvPr>
          <p:cNvSpPr>
            <a:spLocks xmlns:a="http://schemas.openxmlformats.org/drawingml/2006/main" noGrp="1"/>
          </p:cNvSpPr>
          <p:nvPr/>
        </p:nvSpPr>
        <p:spPr>
          <a:xfrm xmlns:a="http://schemas.openxmlformats.org/drawingml/2006/main">
            <a:off x="609600" y="462915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42C"/>
                </a:solidFill>
                <a:latin typeface="Arial"/>
                <a:ea typeface="Arial"/>
                <a:cs typeface="Arial"/>
              </a:defRPr>
            </a:pPr>
            <a:r>
              <a:rPr sz="2325" b="0">
                <a:solidFill>
                  <a:srgbClr val="17242C"/>
                </a:solidFill>
                <a:latin typeface="Arial"/>
                <a:ea typeface="Arial"/>
                <a:cs typeface="Arial"/>
              </a:rPr>
              <a:t>Se ajustan las tasas para reproducir la expectativa Elo</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4267ed329c64fc5"/>
          <a:stretch xmlns:a="http://schemas.openxmlformats.org/drawingml/2006/main"/>
        </p:blipFill>
        <p:spPr>
          <a:xfrm xmlns:a="http://schemas.openxmlformats.org/drawingml/2006/main">
            <a:off x="5052643" y="2085538"/>
            <a:ext cx="1896215" cy="467599"/>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378EF9B3-0F19-4227-8C61-492856350B93}"/>
              </a:ext>
            </a:extLst>
          </p:cNvPr>
          <p:cNvSpPr>
            <a:spLocks xmlns:a="http://schemas.openxmlformats.org/drawingml/2006/main" noGrp="1"/>
          </p:cNvSpPr>
          <p:nvPr/>
        </p:nvSpPr>
        <p:spPr>
          <a:xfrm xmlns:a="http://schemas.openxmlformats.org/drawingml/2006/main">
            <a:off x="619125" y="58864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τ Bundesliga = 3.142 · τ selecciones = 2.7 · localía Elo = 60 / 100</a:t>
            </a:r>
          </a:p>
        </p:txBody>
      </p:sp>
    </p:spTree>
    <p:extLst>
      <p:ext uri="{BB962C8B-B14F-4D97-AF65-F5344CB8AC3E}">
        <p14:creationId xmlns:p14="http://schemas.microsoft.com/office/powerpoint/2010/main" val="849401764"/>
      </p:ext>
    </p:extLst>
  </p:cSld>
  <p:transition spd="slow" advClick="1">
    <p:fade/>
  </p:transition>
</p:sld>
</file>

<file path=ppt/slides/slide20.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70D6323-BB95-4DC1-8DE6-3C1404F46A69}"/>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B519CA14-C7BB-4D8B-AC51-893492EEFF4D}"/>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Eventos y cantidades que se estiman</a:t>
            </a:r>
          </a:p>
        </p:txBody>
      </p:sp>
      <p:sp>
        <p:nvSpPr>
          <p:cNvPr id="3" name="">
            <a:extLst xmlns:a="http://schemas.openxmlformats.org/drawingml/2006/main">
              <a:ext uri="{FF2B5EF4-FFF2-40B4-BE49-F238E27FC236}">
                <a16:creationId xmlns:a16="http://schemas.microsoft.com/office/drawing/2014/main" id="{0E17451C-98A0-467F-8E34-8FA2790D35EC}"/>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48D5953C-10C4-4113-8E71-C5DD79EFBD4E}"/>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EE6317D7-8C47-46A5-8BC9-AD5FFC238C46}"/>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8BBE45EE-9679-42D3-AC4D-927A3A4DFFFF}"/>
              </a:ext>
            </a:extLst>
          </p:cNvPr>
          <p:cNvSpPr>
            <a:spLocks xmlns:a="http://schemas.openxmlformats.org/drawingml/2006/main" noGrp="1"/>
          </p:cNvSpPr>
          <p:nvPr/>
        </p:nvSpPr>
        <p:spPr>
          <a:xfrm xmlns:a="http://schemas.openxmlformats.org/drawingml/2006/main">
            <a:off x="666750" y="20383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La pregunta de partidos se formaliza mediante el evento A: Leverkusen termina sus 34 jornadas sin derrotas. Los dos conteos de goles representan sus goles y los del rival en el partido j. La información inicial I₀ reúne la valoración de pretemporada, el calendario, la localía y los parámetros del modelo. El estimando P(A) es condicional a esa información; no es una frecuencia observada del torneo 2023/24.</a:t>
            </a:r>
          </a:p>
        </p:txBody>
      </p:sp>
      <p:sp>
        <p:nvSpPr>
          <p:cNvPr id="7" name="">
            <a:extLst xmlns:a="http://schemas.openxmlformats.org/drawingml/2006/main">
              <a:ext uri="{FF2B5EF4-FFF2-40B4-BE49-F238E27FC236}">
                <a16:creationId xmlns:a16="http://schemas.microsoft.com/office/drawing/2014/main" id="{C2C1CF2A-47BB-4D89-916A-03BDF4AD763C}"/>
              </a:ext>
            </a:extLst>
          </p:cNvPr>
          <p:cNvSpPr>
            <a:spLocks xmlns:a="http://schemas.openxmlformats.org/drawingml/2006/main" noGrp="1"/>
          </p:cNvSpPr>
          <p:nvPr/>
        </p:nvSpPr>
        <p:spPr>
          <a:xfrm xmlns:a="http://schemas.openxmlformats.org/drawingml/2006/main">
            <a:off x="666750" y="40386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Para el análisis histórico, Yₛ indica si el campeón de la temporada s no fue Bayern. Su promedio describe la proporción de títulos de esa categoría en una ventana específica. Para el modelo de derrotas, Dₛ corresponde exclusivamente al campeón de cada temporada. Por ello P(Dₛ=0 | campeón) y P(A | I₀) no son el mismo estimando.</a:t>
            </a:r>
          </a:p>
        </p:txBody>
      </p:sp>
    </p:spTree>
    <p:extLst>
      <p:ext uri="{BB962C8B-B14F-4D97-AF65-F5344CB8AC3E}">
        <p14:creationId xmlns:p14="http://schemas.microsoft.com/office/powerpoint/2010/main" val="203076486"/>
      </p:ext>
    </p:extLst>
  </p:cSld>
  <p:transition spd="slow" advClick="1">
    <p:fade/>
  </p:transition>
</p:sld>
</file>

<file path=ppt/slides/slide21.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7748C00-7F34-4888-B6BD-DE10E9507651}"/>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946C156D-6E80-493F-BF15-86C4D2203540}"/>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Eventos y cantidades que se estiman · desarrollo</a:t>
            </a:r>
          </a:p>
        </p:txBody>
      </p:sp>
      <p:sp>
        <p:nvSpPr>
          <p:cNvPr id="3" name="">
            <a:extLst xmlns:a="http://schemas.openxmlformats.org/drawingml/2006/main">
              <a:ext uri="{FF2B5EF4-FFF2-40B4-BE49-F238E27FC236}">
                <a16:creationId xmlns:a16="http://schemas.microsoft.com/office/drawing/2014/main" id="{D2E26874-1867-4385-A021-7F585ECF9592}"/>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23</a:t>
            </a:r>
          </a:p>
        </p:txBody>
      </p:sp>
      <p:sp>
        <p:nvSpPr>
          <p:cNvPr id="4" name="">
            <a:extLst xmlns:a="http://schemas.openxmlformats.org/drawingml/2006/main">
              <a:ext uri="{FF2B5EF4-FFF2-40B4-BE49-F238E27FC236}">
                <a16:creationId xmlns:a16="http://schemas.microsoft.com/office/drawing/2014/main" id="{FAEB50A6-5915-4110-B435-7410A4202256}"/>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1EB77B84-A3A5-4675-8DCE-3A4B2342BF45}"/>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881abf4ae054829"/>
          <a:stretch xmlns:a="http://schemas.openxmlformats.org/drawingml/2006/main"/>
        </p:blipFill>
        <p:spPr>
          <a:xfrm xmlns:a="http://schemas.openxmlformats.org/drawingml/2006/main">
            <a:off x="3355064" y="1821987"/>
            <a:ext cx="5424723" cy="92802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84ED8C3-72B8-43CF-8A26-3306275947CB}"/>
              </a:ext>
            </a:extLst>
          </p:cNvPr>
          <p:cNvSpPr>
            <a:spLocks xmlns:a="http://schemas.openxmlformats.org/drawingml/2006/main" noGrp="1"/>
          </p:cNvSpPr>
          <p:nvPr/>
        </p:nvSpPr>
        <p:spPr>
          <a:xfrm xmlns:a="http://schemas.openxmlformats.org/drawingml/2006/main">
            <a:off x="666750" y="609600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Desarrollo del modelo · fundamentos: Goldsman, caps. 1, 4–6; Skellam: SciPy</a:t>
            </a:r>
          </a:p>
        </p:txBody>
      </p:sp>
      <p:sp>
        <p:nvSpPr>
          <p:cNvPr id="8" name="">
            <a:extLst xmlns:a="http://schemas.openxmlformats.org/drawingml/2006/main">
              <a:ext uri="{FF2B5EF4-FFF2-40B4-BE49-F238E27FC236}">
                <a16:creationId xmlns:a16="http://schemas.microsoft.com/office/drawing/2014/main" id="{35670ECF-22F1-457F-A446-D09977DF32D9}"/>
              </a:ext>
            </a:extLst>
          </p:cNvPr>
          <p:cNvSpPr>
            <a:spLocks xmlns:a="http://schemas.openxmlformats.org/drawingml/2006/main" noGrp="1"/>
          </p:cNvSpPr>
          <p:nvPr/>
        </p:nvSpPr>
        <p:spPr>
          <a:xfrm xmlns:a="http://schemas.openxmlformats.org/drawingml/2006/main">
            <a:off x="666750" y="30099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Esta distinción determina qué se calcula y evita una multiplicación injustificada: la frecuencia de campeones distintos de Bayern no puede combinarse directamente con P(A) para producir la probabilidad de que Leverkusen sea campeón invicto. Haría falta modelar conjuntamente la tabla completa de la liga.</a:t>
            </a:r>
          </a:p>
        </p:txBody>
      </p:sp>
    </p:spTree>
    <p:extLst>
      <p:ext uri="{BB962C8B-B14F-4D97-AF65-F5344CB8AC3E}">
        <p14:creationId xmlns:p14="http://schemas.microsoft.com/office/powerpoint/2010/main" val="1000367369"/>
      </p:ext>
    </p:extLst>
  </p:cSld>
  <p:transition spd="slow" advClick="1">
    <p:fade/>
  </p:transition>
</p:sld>
</file>

<file path=ppt/slides/slide22.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6F1B67-75BF-4E58-8EF7-B570E2725FEA}"/>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F19B1BCB-5D56-44A9-9E6F-7A4ED18AAF70}"/>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Supuestos del modelo de partidos</a:t>
            </a:r>
          </a:p>
        </p:txBody>
      </p:sp>
      <p:sp>
        <p:nvSpPr>
          <p:cNvPr id="3" name="">
            <a:extLst xmlns:a="http://schemas.openxmlformats.org/drawingml/2006/main">
              <a:ext uri="{FF2B5EF4-FFF2-40B4-BE49-F238E27FC236}">
                <a16:creationId xmlns:a16="http://schemas.microsoft.com/office/drawing/2014/main" id="{7D3AAE93-BB1E-45E2-B34F-C7832231EF67}"/>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24</a:t>
            </a:r>
          </a:p>
        </p:txBody>
      </p:sp>
      <p:sp>
        <p:nvSpPr>
          <p:cNvPr id="4" name="">
            <a:extLst xmlns:a="http://schemas.openxmlformats.org/drawingml/2006/main">
              <a:ext uri="{FF2B5EF4-FFF2-40B4-BE49-F238E27FC236}">
                <a16:creationId xmlns:a16="http://schemas.microsoft.com/office/drawing/2014/main" id="{D25D845C-55E5-42EC-8B40-22190DDA73E5}"/>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22EF971F-1C43-43F4-982C-47FACF5D871D}"/>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524A35EE-3233-451E-8714-D2F9873B9077}"/>
              </a:ext>
            </a:extLst>
          </p:cNvPr>
          <p:cNvSpPr>
            <a:spLocks xmlns:a="http://schemas.openxmlformats.org/drawingml/2006/main" noGrp="1"/>
          </p:cNvSpPr>
          <p:nvPr/>
        </p:nvSpPr>
        <p:spPr>
          <a:xfrm xmlns:a="http://schemas.openxmlformats.org/drawingml/2006/main">
            <a:off x="666750" y="20383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La independencia dentro de cada partido permite obtener su distribución conjunta multiplicando las probabilidades marginales de goles. La independencia entre encuentros, condicionada a las fuerzas fijas, permite multiplicar las probabilidades de no perder. Son supuestos distintos y ambos son necesarios para la construcción elegida.</a:t>
            </a:r>
          </a:p>
        </p:txBody>
      </p:sp>
      <p:sp>
        <p:nvSpPr>
          <p:cNvPr id="7" name="">
            <a:extLst xmlns:a="http://schemas.openxmlformats.org/drawingml/2006/main">
              <a:ext uri="{FF2B5EF4-FFF2-40B4-BE49-F238E27FC236}">
                <a16:creationId xmlns:a16="http://schemas.microsoft.com/office/drawing/2014/main" id="{9201699D-9A49-4910-AF2F-6109D1AA31DB}"/>
              </a:ext>
            </a:extLst>
          </p:cNvPr>
          <p:cNvSpPr>
            <a:spLocks xmlns:a="http://schemas.openxmlformats.org/drawingml/2006/main" noGrp="1"/>
          </p:cNvSpPr>
          <p:nvPr/>
        </p:nvSpPr>
        <p:spPr>
          <a:xfrm xmlns:a="http://schemas.openxmlformats.org/drawingml/2006/main">
            <a:off x="666750" y="40386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Los goles Poisson tienen media igual a varianza. No se incorporan efectos de marcador, expulsiones, lesiones, alineaciones ni correlaciones de forma. La independencia y la estabilidad de fuerzas simplifican una temporada real, donde esos factores pueden generar dependencia y cambiar la probabilidad del invicto.</a:t>
            </a:r>
          </a:p>
        </p:txBody>
      </p:sp>
    </p:spTree>
    <p:extLst>
      <p:ext uri="{BB962C8B-B14F-4D97-AF65-F5344CB8AC3E}">
        <p14:creationId xmlns:p14="http://schemas.microsoft.com/office/powerpoint/2010/main" val="1145713127"/>
      </p:ext>
    </p:extLst>
  </p:cSld>
  <p:transition spd="slow" advClick="1">
    <p:fade/>
  </p:transition>
</p:sld>
</file>

<file path=ppt/slides/slide23.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30A3D5-69BD-4DB6-890B-EE52766E62C5}"/>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E14037F2-960C-4F8D-A1B0-C3E60B722FCD}"/>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Supuestos del modelo de partidos · desarrollo</a:t>
            </a:r>
          </a:p>
        </p:txBody>
      </p:sp>
      <p:sp>
        <p:nvSpPr>
          <p:cNvPr id="3" name="">
            <a:extLst xmlns:a="http://schemas.openxmlformats.org/drawingml/2006/main">
              <a:ext uri="{FF2B5EF4-FFF2-40B4-BE49-F238E27FC236}">
                <a16:creationId xmlns:a16="http://schemas.microsoft.com/office/drawing/2014/main" id="{373543AA-C43F-4324-8B7F-23919FA6BDBF}"/>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25</a:t>
            </a:r>
          </a:p>
        </p:txBody>
      </p:sp>
      <p:sp>
        <p:nvSpPr>
          <p:cNvPr id="4" name="">
            <a:extLst xmlns:a="http://schemas.openxmlformats.org/drawingml/2006/main">
              <a:ext uri="{FF2B5EF4-FFF2-40B4-BE49-F238E27FC236}">
                <a16:creationId xmlns:a16="http://schemas.microsoft.com/office/drawing/2014/main" id="{185876E8-06E7-47EB-8EA4-056242B4F024}"/>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64B82D4D-4BD6-4447-9BF2-59E20C0F90E8}"/>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41bf58406b54f14"/>
          <a:stretch xmlns:a="http://schemas.openxmlformats.org/drawingml/2006/main"/>
        </p:blipFill>
        <p:spPr>
          <a:xfrm xmlns:a="http://schemas.openxmlformats.org/drawingml/2006/main">
            <a:off x="2001752" y="2097383"/>
            <a:ext cx="8131347" cy="37723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32BFB2F-6795-458C-B038-8417634C1EB6}"/>
              </a:ext>
            </a:extLst>
          </p:cNvPr>
          <p:cNvSpPr>
            <a:spLocks xmlns:a="http://schemas.openxmlformats.org/drawingml/2006/main" noGrp="1"/>
          </p:cNvSpPr>
          <p:nvPr/>
        </p:nvSpPr>
        <p:spPr>
          <a:xfrm xmlns:a="http://schemas.openxmlformats.org/drawingml/2006/main">
            <a:off x="666750" y="609600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Desarrollo del modelo · fundamentos: Goldsman, caps. 1, 4–6; Skellam: SciPy</a:t>
            </a:r>
          </a:p>
        </p:txBody>
      </p:sp>
      <p:sp>
        <p:nvSpPr>
          <p:cNvPr id="8" name="">
            <a:extLst xmlns:a="http://schemas.openxmlformats.org/drawingml/2006/main">
              <a:ext uri="{FF2B5EF4-FFF2-40B4-BE49-F238E27FC236}">
                <a16:creationId xmlns:a16="http://schemas.microsoft.com/office/drawing/2014/main" id="{16A2AFF4-E397-427F-B9B6-CA2BA98110F1}"/>
              </a:ext>
            </a:extLst>
          </p:cNvPr>
          <p:cNvSpPr>
            <a:spLocks xmlns:a="http://schemas.openxmlformats.org/drawingml/2006/main" noGrp="1"/>
          </p:cNvSpPr>
          <p:nvPr/>
        </p:nvSpPr>
        <p:spPr>
          <a:xfrm xmlns:a="http://schemas.openxmlformats.org/drawingml/2006/main">
            <a:off x="666750" y="30099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El parámetro τ es 3.14248 para Bundesliga, estimado con goles de 2018/19–2022/23, y 2.7 para selecciones, adoptado como supuesto. La ventaja local es 60 puntos Elo en Bundesliga y 100 en la eliminatoria africana; en el Mundial es cero. τ representa el total esperado a igualdad de fuerzas, no un total constante para todos los enfrentamientos.</a:t>
            </a:r>
          </a:p>
        </p:txBody>
      </p:sp>
      <p:sp>
        <p:nvSpPr>
          <p:cNvPr id="9" name="">
            <a:extLst xmlns:a="http://schemas.openxmlformats.org/drawingml/2006/main">
              <a:ext uri="{FF2B5EF4-FFF2-40B4-BE49-F238E27FC236}">
                <a16:creationId xmlns:a16="http://schemas.microsoft.com/office/drawing/2014/main" id="{58FC4850-EDC8-432E-BD53-49B9AC3E906C}"/>
              </a:ext>
            </a:extLst>
          </p:cNvPr>
          <p:cNvSpPr>
            <a:spLocks xmlns:a="http://schemas.openxmlformats.org/drawingml/2006/main" noGrp="1"/>
          </p:cNvSpPr>
          <p:nvPr/>
        </p:nvSpPr>
        <p:spPr>
          <a:xfrm xmlns:a="http://schemas.openxmlformats.org/drawingml/2006/main">
            <a:off x="666750" y="46101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Los datos del resultado que se pretende explicar se excluyen del corte inicial de Elo. En cambio, el análisis de rescates sí es retrospectivo y utiliza estados y duración observados. Sus probabilidades deben interpretarse con ese condicionamiento adicional.</a:t>
            </a:r>
          </a:p>
        </p:txBody>
      </p:sp>
    </p:spTree>
    <p:extLst>
      <p:ext uri="{BB962C8B-B14F-4D97-AF65-F5344CB8AC3E}">
        <p14:creationId xmlns:p14="http://schemas.microsoft.com/office/powerpoint/2010/main" val="1014295942"/>
      </p:ext>
    </p:extLst>
  </p:cSld>
  <p:transition spd="slow" advClick="1">
    <p:fade/>
  </p:transition>
</p:sld>
</file>

<file path=ppt/slides/slide24.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53F2ED-B28B-4FF2-9F2D-2FC7D86CDB0C}"/>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79381552-6ECC-4FE8-B086-FF2DCAE48991}"/>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De Elo a las tasas de goles</a:t>
            </a:r>
          </a:p>
        </p:txBody>
      </p:sp>
      <p:sp>
        <p:nvSpPr>
          <p:cNvPr id="3" name="">
            <a:extLst xmlns:a="http://schemas.openxmlformats.org/drawingml/2006/main">
              <a:ext uri="{FF2B5EF4-FFF2-40B4-BE49-F238E27FC236}">
                <a16:creationId xmlns:a16="http://schemas.microsoft.com/office/drawing/2014/main" id="{F59F4836-E766-40E6-88D3-9782C3054C8A}"/>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26</a:t>
            </a:r>
          </a:p>
        </p:txBody>
      </p:sp>
      <p:sp>
        <p:nvSpPr>
          <p:cNvPr id="4" name="">
            <a:extLst xmlns:a="http://schemas.openxmlformats.org/drawingml/2006/main">
              <a:ext uri="{FF2B5EF4-FFF2-40B4-BE49-F238E27FC236}">
                <a16:creationId xmlns:a16="http://schemas.microsoft.com/office/drawing/2014/main" id="{A09A46D6-18ED-4A59-BC66-D0DFBD71B328}"/>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3349B497-B56F-4AF0-87D6-B4075B9DF59C}"/>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FBDDAC0F-28E9-43D6-AF15-53F45A678F94}"/>
              </a:ext>
            </a:extLst>
          </p:cNvPr>
          <p:cNvSpPr>
            <a:spLocks xmlns:a="http://schemas.openxmlformats.org/drawingml/2006/main" noGrp="1"/>
          </p:cNvSpPr>
          <p:nvPr/>
        </p:nvSpPr>
        <p:spPr>
          <a:xfrm xmlns:a="http://schemas.openxmlformats.org/drawingml/2006/main">
            <a:off x="666750" y="20383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Primero se calcula Δ y se transforma mediante E=1/(1+10 elevado a −Δ/400). Este valor corresponde a P(victoria)+½P(empate). Una única ecuación no identifica tres probabilidades de resultados, por lo que es necesario introducir un modelo adicional para los goles.</a:t>
            </a:r>
          </a:p>
        </p:txBody>
      </p:sp>
      <p:sp>
        <p:nvSpPr>
          <p:cNvPr id="7" name="">
            <a:extLst xmlns:a="http://schemas.openxmlformats.org/drawingml/2006/main">
              <a:ext uri="{FF2B5EF4-FFF2-40B4-BE49-F238E27FC236}">
                <a16:creationId xmlns:a16="http://schemas.microsoft.com/office/drawing/2014/main" id="{2C9818AD-FA7A-4A1C-BDD0-7F24577FBF1F}"/>
              </a:ext>
            </a:extLst>
          </p:cNvPr>
          <p:cNvSpPr>
            <a:spLocks xmlns:a="http://schemas.openxmlformats.org/drawingml/2006/main" noGrp="1"/>
          </p:cNvSpPr>
          <p:nvPr/>
        </p:nvSpPr>
        <p:spPr>
          <a:xfrm xmlns:a="http://schemas.openxmlformats.org/drawingml/2006/main">
            <a:off x="666750" y="40386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La parametrización exponencial mantiene ambas tasas positivas y cumple λ₁λ₂=(τ/2)². Se define una función residual: la probabilidad Poisson de victoria más la mitad de la de empate, menos E. Se resuelve su raíz con el método de Brent. Las tasas resultantes generan probabilidades que suman uno y reproducen la expectativa Elo dentro de la tolerancia numérica.</a:t>
            </a:r>
          </a:p>
        </p:txBody>
      </p:sp>
    </p:spTree>
    <p:extLst>
      <p:ext uri="{BB962C8B-B14F-4D97-AF65-F5344CB8AC3E}">
        <p14:creationId xmlns:p14="http://schemas.microsoft.com/office/powerpoint/2010/main" val="357022682"/>
      </p:ext>
    </p:extLst>
  </p:cSld>
  <p:transition spd="slow" advClick="1">
    <p:fade/>
  </p:transition>
</p:sld>
</file>

<file path=ppt/slides/slide25.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897B118-D4DF-48C4-9255-D1E5E27251ED}"/>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F1C8204F-85B7-4084-A605-8404179D924C}"/>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De Elo a las tasas de goles · desarrollo</a:t>
            </a:r>
          </a:p>
        </p:txBody>
      </p:sp>
      <p:sp>
        <p:nvSpPr>
          <p:cNvPr id="3" name="">
            <a:extLst xmlns:a="http://schemas.openxmlformats.org/drawingml/2006/main">
              <a:ext uri="{FF2B5EF4-FFF2-40B4-BE49-F238E27FC236}">
                <a16:creationId xmlns:a16="http://schemas.microsoft.com/office/drawing/2014/main" id="{D8434BFB-9DEA-49D6-9036-6E601CEEB2E9}"/>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27</a:t>
            </a:r>
          </a:p>
        </p:txBody>
      </p:sp>
      <p:sp>
        <p:nvSpPr>
          <p:cNvPr id="4" name="">
            <a:extLst xmlns:a="http://schemas.openxmlformats.org/drawingml/2006/main">
              <a:ext uri="{FF2B5EF4-FFF2-40B4-BE49-F238E27FC236}">
                <a16:creationId xmlns:a16="http://schemas.microsoft.com/office/drawing/2014/main" id="{76272FE5-A75A-488D-98D1-B470670F4C7C}"/>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4CD6EB52-2D7B-472D-ABE1-16BCB24DB95B}"/>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1b899f1034b4524"/>
          <a:stretch xmlns:a="http://schemas.openxmlformats.org/drawingml/2006/main"/>
        </p:blipFill>
        <p:spPr>
          <a:xfrm xmlns:a="http://schemas.openxmlformats.org/drawingml/2006/main">
            <a:off x="2219056" y="2065827"/>
            <a:ext cx="7696738" cy="44034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9AE39A1-9AF0-4530-9D6F-68A003DE3BF9}"/>
              </a:ext>
            </a:extLst>
          </p:cNvPr>
          <p:cNvSpPr>
            <a:spLocks xmlns:a="http://schemas.openxmlformats.org/drawingml/2006/main" noGrp="1"/>
          </p:cNvSpPr>
          <p:nvPr/>
        </p:nvSpPr>
        <p:spPr>
          <a:xfrm xmlns:a="http://schemas.openxmlformats.org/drawingml/2006/main">
            <a:off x="666750" y="609600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Desarrollo del modelo · fundamentos: Goldsman, caps. 1, 4–6; Skellam: SciPy</a:t>
            </a:r>
          </a:p>
        </p:txBody>
      </p:sp>
      <p:sp>
        <p:nvSpPr>
          <p:cNvPr id="8" name="">
            <a:extLst xmlns:a="http://schemas.openxmlformats.org/drawingml/2006/main">
              <a:ext uri="{FF2B5EF4-FFF2-40B4-BE49-F238E27FC236}">
                <a16:creationId xmlns:a16="http://schemas.microsoft.com/office/drawing/2014/main" id="{4E50AEAC-EFF6-4D20-BDE2-8E0C462470EB}"/>
              </a:ext>
            </a:extLst>
          </p:cNvPr>
          <p:cNvSpPr>
            <a:spLocks xmlns:a="http://schemas.openxmlformats.org/drawingml/2006/main" noGrp="1"/>
          </p:cNvSpPr>
          <p:nvPr/>
        </p:nvSpPr>
        <p:spPr>
          <a:xfrm xmlns:a="http://schemas.openxmlformats.org/drawingml/2006/main">
            <a:off x="666750" y="30099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El uso de dos Poisson es una decisión de modelación: no se atribuye al sistema Elo una fórmula directa para la probabilidad de empate. Para calcular las probabilidades del signo de G₁−G₂ se emplea la distribución de Skellam, equivalente a sumar la distribución conjunta de los dos conteos.</a:t>
            </a:r>
          </a:p>
        </p:txBody>
      </p:sp>
    </p:spTree>
    <p:extLst>
      <p:ext uri="{BB962C8B-B14F-4D97-AF65-F5344CB8AC3E}">
        <p14:creationId xmlns:p14="http://schemas.microsoft.com/office/powerpoint/2010/main" val="1101215952"/>
      </p:ext>
    </p:extLst>
  </p:cSld>
  <p:transition spd="slow" advClick="1">
    <p:fade/>
  </p:transition>
</p:sld>
</file>

<file path=ppt/slides/slide26.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4E655D7-DD0D-4484-AA1F-335F958DED2B}"/>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395FC825-A67E-4281-938A-FED67468DE5D}"/>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Distribución de marcadores y ejemplo</a:t>
            </a:r>
          </a:p>
        </p:txBody>
      </p:sp>
      <p:sp>
        <p:nvSpPr>
          <p:cNvPr id="3" name="">
            <a:extLst xmlns:a="http://schemas.openxmlformats.org/drawingml/2006/main">
              <a:ext uri="{FF2B5EF4-FFF2-40B4-BE49-F238E27FC236}">
                <a16:creationId xmlns:a16="http://schemas.microsoft.com/office/drawing/2014/main" id="{A88D47BD-2FA4-4BA8-9E43-A58E655C8632}"/>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28</a:t>
            </a:r>
          </a:p>
        </p:txBody>
      </p:sp>
      <p:sp>
        <p:nvSpPr>
          <p:cNvPr id="4" name="">
            <a:extLst xmlns:a="http://schemas.openxmlformats.org/drawingml/2006/main">
              <a:ext uri="{FF2B5EF4-FFF2-40B4-BE49-F238E27FC236}">
                <a16:creationId xmlns:a16="http://schemas.microsoft.com/office/drawing/2014/main" id="{3F3A5362-F8A2-4A3F-BBB5-05582CC5B69C}"/>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14ACA8AB-0BB1-4934-A0C5-B47EB5BBF0F8}"/>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7E6BA7AE-DA30-4EA8-9F6D-762564E0279C}"/>
              </a:ext>
            </a:extLst>
          </p:cNvPr>
          <p:cNvSpPr>
            <a:spLocks xmlns:a="http://schemas.openxmlformats.org/drawingml/2006/main" noGrp="1"/>
          </p:cNvSpPr>
          <p:nvPr/>
        </p:nvSpPr>
        <p:spPr>
          <a:xfrm xmlns:a="http://schemas.openxmlformats.org/drawingml/2006/main">
            <a:off x="666750" y="20383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La expresión conjunta se deriva al multiplicar las funciones de masa de dos variables Poisson independientes. La suma sobre x&gt;y da la probabilidad de victoria; la suma sobre x=y, la de empate; y la suma sobre x&lt;y, la de derrota. Estas regiones son disjuntas y cubren todos los marcadores posibles.</a:t>
            </a:r>
          </a:p>
        </p:txBody>
      </p:sp>
      <p:sp>
        <p:nvSpPr>
          <p:cNvPr id="7" name="">
            <a:extLst xmlns:a="http://schemas.openxmlformats.org/drawingml/2006/main">
              <a:ext uri="{FF2B5EF4-FFF2-40B4-BE49-F238E27FC236}">
                <a16:creationId xmlns:a16="http://schemas.microsoft.com/office/drawing/2014/main" id="{4C7F62A1-9ADD-4742-95F5-E822725595A4}"/>
              </a:ext>
            </a:extLst>
          </p:cNvPr>
          <p:cNvSpPr>
            <a:spLocks xmlns:a="http://schemas.openxmlformats.org/drawingml/2006/main" noGrp="1"/>
          </p:cNvSpPr>
          <p:nvPr/>
        </p:nvSpPr>
        <p:spPr>
          <a:xfrm xmlns:a="http://schemas.openxmlformats.org/drawingml/2006/main">
            <a:off x="666750" y="40386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Como ejemplo reproducible, ante Leipzig como local, Δ=1748.23−1825.38+60=−17.15. El enlace numérico produce λ₁=1.514991 y λ₂=1.629582. Las probabilidades resultantes son 0.3572455, 0.2361874 y 0.4065671. Su suma es uno; no perder tiene probabilidad 0.5934329.</a:t>
            </a:r>
          </a:p>
        </p:txBody>
      </p:sp>
    </p:spTree>
    <p:extLst>
      <p:ext uri="{BB962C8B-B14F-4D97-AF65-F5344CB8AC3E}">
        <p14:creationId xmlns:p14="http://schemas.microsoft.com/office/powerpoint/2010/main" val="233362865"/>
      </p:ext>
    </p:extLst>
  </p:cSld>
  <p:transition spd="slow" advClick="1">
    <p:fade/>
  </p:transition>
</p:sld>
</file>

<file path=ppt/slides/slide27.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237CB4E-B0CC-415E-B44E-C6B12A59569F}"/>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8A863995-0E28-4C5C-90E9-89F61D6DBCBD}"/>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Distribución de marcadores y ejemplo · desarrollo</a:t>
            </a:r>
          </a:p>
        </p:txBody>
      </p:sp>
      <p:sp>
        <p:nvSpPr>
          <p:cNvPr id="3" name="">
            <a:extLst xmlns:a="http://schemas.openxmlformats.org/drawingml/2006/main">
              <a:ext uri="{FF2B5EF4-FFF2-40B4-BE49-F238E27FC236}">
                <a16:creationId xmlns:a16="http://schemas.microsoft.com/office/drawing/2014/main" id="{B7CF1656-2B07-47E8-A07B-7A3D8B5B5EEE}"/>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29</a:t>
            </a:r>
          </a:p>
        </p:txBody>
      </p:sp>
      <p:sp>
        <p:nvSpPr>
          <p:cNvPr id="4" name="">
            <a:extLst xmlns:a="http://schemas.openxmlformats.org/drawingml/2006/main">
              <a:ext uri="{FF2B5EF4-FFF2-40B4-BE49-F238E27FC236}">
                <a16:creationId xmlns:a16="http://schemas.microsoft.com/office/drawing/2014/main" id="{C9969A29-8552-4370-AE4D-A0FE419CCBA7}"/>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E1C4B5AE-2543-4B3F-8420-5F5A3051ACF4}"/>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3857d253a7c44a0"/>
          <a:stretch xmlns:a="http://schemas.openxmlformats.org/drawingml/2006/main"/>
        </p:blipFill>
        <p:spPr>
          <a:xfrm xmlns:a="http://schemas.openxmlformats.org/drawingml/2006/main">
            <a:off x="2547523" y="1991958"/>
            <a:ext cx="7039804" cy="58808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872C948-0536-4CDB-8D95-E9B06C0EF7B3}"/>
              </a:ext>
            </a:extLst>
          </p:cNvPr>
          <p:cNvSpPr>
            <a:spLocks xmlns:a="http://schemas.openxmlformats.org/drawingml/2006/main" noGrp="1"/>
          </p:cNvSpPr>
          <p:nvPr/>
        </p:nvSpPr>
        <p:spPr>
          <a:xfrm xmlns:a="http://schemas.openxmlformats.org/drawingml/2006/main">
            <a:off x="666750" y="609600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Desarrollo del modelo · fundamentos: Goldsman, caps. 1, 4–6; Skellam: SciPy</a:t>
            </a:r>
          </a:p>
        </p:txBody>
      </p:sp>
      <p:sp>
        <p:nvSpPr>
          <p:cNvPr id="8" name="">
            <a:extLst xmlns:a="http://schemas.openxmlformats.org/drawingml/2006/main">
              <a:ext uri="{FF2B5EF4-FFF2-40B4-BE49-F238E27FC236}">
                <a16:creationId xmlns:a16="http://schemas.microsoft.com/office/drawing/2014/main" id="{DE165300-3FDD-4D56-A818-2C81527B1B33}"/>
              </a:ext>
            </a:extLst>
          </p:cNvPr>
          <p:cNvSpPr>
            <a:spLocks xmlns:a="http://schemas.openxmlformats.org/drawingml/2006/main" noGrp="1"/>
          </p:cNvSpPr>
          <p:nvPr/>
        </p:nvSpPr>
        <p:spPr>
          <a:xfrm xmlns:a="http://schemas.openxmlformats.org/drawingml/2006/main">
            <a:off x="666750" y="30099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Los puntos esperados en ese partido serían 3P(victoria)+P(empate)=1.307924. No se utilizan esos puntos esperados como resultado de un partido: las simulaciones muestrean un resultado aleatorio para conservar su variabilidad.</a:t>
            </a:r>
          </a:p>
        </p:txBody>
      </p:sp>
    </p:spTree>
    <p:extLst>
      <p:ext uri="{BB962C8B-B14F-4D97-AF65-F5344CB8AC3E}">
        <p14:creationId xmlns:p14="http://schemas.microsoft.com/office/powerpoint/2010/main" val="1690191441"/>
      </p:ext>
    </p:extLst>
  </p:cSld>
  <p:transition spd="slow" advClick="1">
    <p:fade/>
  </p:transition>
</p:sld>
</file>

<file path=ppt/slides/slide28.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0EE924-E5A6-4FA2-9977-31730E3BD2CB}"/>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D621EC04-E712-42EE-B50E-DA33595BB737}"/>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Producto de probabilidades y simulación</a:t>
            </a:r>
          </a:p>
        </p:txBody>
      </p:sp>
      <p:sp>
        <p:nvSpPr>
          <p:cNvPr id="3" name="">
            <a:extLst xmlns:a="http://schemas.openxmlformats.org/drawingml/2006/main">
              <a:ext uri="{FF2B5EF4-FFF2-40B4-BE49-F238E27FC236}">
                <a16:creationId xmlns:a16="http://schemas.microsoft.com/office/drawing/2014/main" id="{839AA330-3092-4D3E-8CAD-8A5510749916}"/>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30</a:t>
            </a:r>
          </a:p>
        </p:txBody>
      </p:sp>
      <p:sp>
        <p:nvSpPr>
          <p:cNvPr id="4" name="">
            <a:extLst xmlns:a="http://schemas.openxmlformats.org/drawingml/2006/main">
              <a:ext uri="{FF2B5EF4-FFF2-40B4-BE49-F238E27FC236}">
                <a16:creationId xmlns:a16="http://schemas.microsoft.com/office/drawing/2014/main" id="{7E34E6B5-DB84-4397-A6B0-D4110B7BF44C}"/>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143731B3-2DEA-4E24-9FC5-1786B12F7C28}"/>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59F6CD89-6549-4D8A-8A02-0432FA26C7C8}"/>
              </a:ext>
            </a:extLst>
          </p:cNvPr>
          <p:cNvSpPr>
            <a:spLocks xmlns:a="http://schemas.openxmlformats.org/drawingml/2006/main" noGrp="1"/>
          </p:cNvSpPr>
          <p:nvPr/>
        </p:nvSpPr>
        <p:spPr>
          <a:xfrm xmlns:a="http://schemas.openxmlformats.org/drawingml/2006/main">
            <a:off x="666750" y="20383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Para generar el resultado de un partido se toma un uniforme U entre cero y uno. Si U&lt;P(victoria), se registra victoria; si queda entre P(victoria) y P(victoria)+P(empate), se registra empate; en el resto, derrota. Repetirlo para los 34 partidos genera una temporada. Las repeticiones usan números pseudoaleatorios con semilla 14643.</a:t>
            </a:r>
          </a:p>
        </p:txBody>
      </p:sp>
      <p:sp>
        <p:nvSpPr>
          <p:cNvPr id="7" name="">
            <a:extLst xmlns:a="http://schemas.openxmlformats.org/drawingml/2006/main">
              <a:ext uri="{FF2B5EF4-FFF2-40B4-BE49-F238E27FC236}">
                <a16:creationId xmlns:a16="http://schemas.microsoft.com/office/drawing/2014/main" id="{98CF65D9-2359-46E5-A1E2-669B70491872}"/>
              </a:ext>
            </a:extLst>
          </p:cNvPr>
          <p:cNvSpPr>
            <a:spLocks xmlns:a="http://schemas.openxmlformats.org/drawingml/2006/main" noGrp="1"/>
          </p:cNvSpPr>
          <p:nvPr/>
        </p:nvSpPr>
        <p:spPr>
          <a:xfrm xmlns:a="http://schemas.openxmlformats.org/drawingml/2006/main">
            <a:off x="666750" y="40386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Bajo independencia condicional, P(A)=∏pⱼ. Agrupar los dos términos contra Bayern y los otros 32 no introduce un nuevo supuesto: solo reorganiza el producto. Se obtiene 0.11738495 × 7.891912 × 10⁻⁶ = 9.263917 × 10⁻⁷.</a:t>
            </a:r>
          </a:p>
        </p:txBody>
      </p:sp>
    </p:spTree>
    <p:extLst>
      <p:ext uri="{BB962C8B-B14F-4D97-AF65-F5344CB8AC3E}">
        <p14:creationId xmlns:p14="http://schemas.microsoft.com/office/powerpoint/2010/main" val="1923713591"/>
      </p:ext>
    </p:extLst>
  </p:cSld>
  <p:transition spd="slow" advClick="1">
    <p:fade/>
  </p:transition>
</p:sld>
</file>

<file path=ppt/slides/slide29.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7212F3B-36BE-4265-988B-2DAF7207EA84}"/>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0CEC30FE-DDAD-4A9F-BDAA-DF6529CFB094}"/>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Producto de probabilidades y simulación · desarrollo</a:t>
            </a:r>
          </a:p>
        </p:txBody>
      </p:sp>
      <p:sp>
        <p:nvSpPr>
          <p:cNvPr id="3" name="">
            <a:extLst xmlns:a="http://schemas.openxmlformats.org/drawingml/2006/main">
              <a:ext uri="{FF2B5EF4-FFF2-40B4-BE49-F238E27FC236}">
                <a16:creationId xmlns:a16="http://schemas.microsoft.com/office/drawing/2014/main" id="{70631781-3905-40AD-8140-28AFC1D7DA95}"/>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31</a:t>
            </a:r>
          </a:p>
        </p:txBody>
      </p:sp>
      <p:sp>
        <p:nvSpPr>
          <p:cNvPr id="4" name="">
            <a:extLst xmlns:a="http://schemas.openxmlformats.org/drawingml/2006/main">
              <a:ext uri="{FF2B5EF4-FFF2-40B4-BE49-F238E27FC236}">
                <a16:creationId xmlns:a16="http://schemas.microsoft.com/office/drawing/2014/main" id="{7F65FB28-F0E2-4161-B6B5-DD0A522DE09A}"/>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7DCEB857-16E4-438F-9ABD-07212245DE4E}"/>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36dcb51e8a94a9d"/>
          <a:stretch xmlns:a="http://schemas.openxmlformats.org/drawingml/2006/main"/>
        </p:blipFill>
        <p:spPr>
          <a:xfrm xmlns:a="http://schemas.openxmlformats.org/drawingml/2006/main">
            <a:off x="2253481" y="1821987"/>
            <a:ext cx="7627889" cy="92802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DB92AAF-48B8-49BA-B07F-AA4E0973CE30}"/>
              </a:ext>
            </a:extLst>
          </p:cNvPr>
          <p:cNvSpPr>
            <a:spLocks xmlns:a="http://schemas.openxmlformats.org/drawingml/2006/main" noGrp="1"/>
          </p:cNvSpPr>
          <p:nvPr/>
        </p:nvSpPr>
        <p:spPr>
          <a:xfrm xmlns:a="http://schemas.openxmlformats.org/drawingml/2006/main">
            <a:off x="666750" y="609600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Desarrollo del modelo · fundamentos: Goldsman, caps. 1, 4–6; Skellam: SciPy</a:t>
            </a:r>
          </a:p>
        </p:txBody>
      </p:sp>
      <p:sp>
        <p:nvSpPr>
          <p:cNvPr id="8" name="">
            <a:extLst xmlns:a="http://schemas.openxmlformats.org/drawingml/2006/main">
              <a:ext uri="{FF2B5EF4-FFF2-40B4-BE49-F238E27FC236}">
                <a16:creationId xmlns:a16="http://schemas.microsoft.com/office/drawing/2014/main" id="{31B25526-EB1E-4E5F-8464-BCF904E75347}"/>
              </a:ext>
            </a:extLst>
          </p:cNvPr>
          <p:cNvSpPr>
            <a:spLocks xmlns:a="http://schemas.openxmlformats.org/drawingml/2006/main" noGrp="1"/>
          </p:cNvSpPr>
          <p:nvPr/>
        </p:nvSpPr>
        <p:spPr>
          <a:xfrm xmlns:a="http://schemas.openxmlformats.org/drawingml/2006/main">
            <a:off x="666750" y="30099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Las N temporadas simuladas producen indicadores Bernoulli independientes con parámetro P(A). En consecuencia, el total de invictos K tiene distribución binomial, esperanza NP(A) y varianza NP(A)(1−P(A)). La estimación Monte Carlo es K/N. El producto analítico es más informativo para eventos tan raros, pues 10 000 repeticiones tienen resolución empírica de 0.0001.</a:t>
            </a:r>
          </a:p>
        </p:txBody>
      </p:sp>
      <p:sp>
        <p:nvSpPr>
          <p:cNvPr id="9" name="">
            <a:extLst xmlns:a="http://schemas.openxmlformats.org/drawingml/2006/main">
              <a:ext uri="{FF2B5EF4-FFF2-40B4-BE49-F238E27FC236}">
                <a16:creationId xmlns:a16="http://schemas.microsoft.com/office/drawing/2014/main" id="{DCAB5BA7-C08D-4B4F-BD8C-56B2E82E1129}"/>
              </a:ext>
            </a:extLst>
          </p:cNvPr>
          <p:cNvSpPr>
            <a:spLocks xmlns:a="http://schemas.openxmlformats.org/drawingml/2006/main" noGrp="1"/>
          </p:cNvSpPr>
          <p:nvPr/>
        </p:nvSpPr>
        <p:spPr>
          <a:xfrm xmlns:a="http://schemas.openxmlformats.org/drawingml/2006/main">
            <a:off x="666750" y="46101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Para tener al menos 95 % de probabilidad de observar un invicto con este P(A) se necesitarían aproximadamente 3.23 millones de temporadas: N≥log(0.05)/log(1−P(A)). Esta cantidad describe la resolución necesaria y no supone que se hayan ejecutado esas repeticiones.</a:t>
            </a:r>
          </a:p>
        </p:txBody>
      </p:sp>
    </p:spTree>
    <p:extLst>
      <p:ext uri="{BB962C8B-B14F-4D97-AF65-F5344CB8AC3E}">
        <p14:creationId xmlns:p14="http://schemas.microsoft.com/office/powerpoint/2010/main" val="525052434"/>
      </p:ext>
    </p:extLst>
  </p:cSld>
  <p:transition spd="slow" advClick="1">
    <p:fade/>
  </p:transition>
</p:sld>
</file>

<file path=ppt/slides/slide30.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DA8017-F17B-49C2-9A1B-BB638B417EA8}"/>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162A6F22-932D-4E94-8EEF-C5F7853B2082}"/>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Incertidumbre de Monte Carlo</a:t>
            </a:r>
          </a:p>
        </p:txBody>
      </p:sp>
      <p:sp>
        <p:nvSpPr>
          <p:cNvPr id="3" name="">
            <a:extLst xmlns:a="http://schemas.openxmlformats.org/drawingml/2006/main">
              <a:ext uri="{FF2B5EF4-FFF2-40B4-BE49-F238E27FC236}">
                <a16:creationId xmlns:a16="http://schemas.microsoft.com/office/drawing/2014/main" id="{53176452-FDDD-4887-AB0B-9EC81CD1EF73}"/>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32</a:t>
            </a:r>
          </a:p>
        </p:txBody>
      </p:sp>
      <p:sp>
        <p:nvSpPr>
          <p:cNvPr id="4" name="">
            <a:extLst xmlns:a="http://schemas.openxmlformats.org/drawingml/2006/main">
              <a:ext uri="{FF2B5EF4-FFF2-40B4-BE49-F238E27FC236}">
                <a16:creationId xmlns:a16="http://schemas.microsoft.com/office/drawing/2014/main" id="{AE322D60-5900-44F9-B058-ADFCE56B20FE}"/>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9077153A-28C2-442A-9A6C-C7AE7AC1F739}"/>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B545E9F0-79F7-4CFD-992E-B3289442DB32}"/>
              </a:ext>
            </a:extLst>
          </p:cNvPr>
          <p:cNvSpPr>
            <a:spLocks xmlns:a="http://schemas.openxmlformats.org/drawingml/2006/main" noGrp="1"/>
          </p:cNvSpPr>
          <p:nvPr/>
        </p:nvSpPr>
        <p:spPr>
          <a:xfrm xmlns:a="http://schemas.openxmlformats.org/drawingml/2006/main">
            <a:off x="666750" y="20383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Para 0&lt;K&lt;N, el límite inferior es el cuantil 0.025 de Beta(K,N−K+1), y el superior el cuantil 0.975 de Beta(K+1,N−K). En K=0 se fija el límite inferior en cero; en K=N, el superior en uno. Estos son intervalos binomiales exactos bilaterales del 95 %, con cobertura al menos nominal y posible conservadurismo.</a:t>
            </a:r>
          </a:p>
        </p:txBody>
      </p:sp>
      <p:sp>
        <p:nvSpPr>
          <p:cNvPr id="7" name="">
            <a:extLst xmlns:a="http://schemas.openxmlformats.org/drawingml/2006/main">
              <a:ext uri="{FF2B5EF4-FFF2-40B4-BE49-F238E27FC236}">
                <a16:creationId xmlns:a16="http://schemas.microsoft.com/office/drawing/2014/main" id="{90FAD846-64B1-4373-9F8B-BD481CCA1160}"/>
              </a:ext>
            </a:extLst>
          </p:cNvPr>
          <p:cNvSpPr>
            <a:spLocks xmlns:a="http://schemas.openxmlformats.org/drawingml/2006/main" noGrp="1"/>
          </p:cNvSpPr>
          <p:nvPr/>
        </p:nvSpPr>
        <p:spPr>
          <a:xfrm xmlns:a="http://schemas.openxmlformats.org/drawingml/2006/main">
            <a:off x="666750" y="40386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Cuando K=0, resolver P(K=0 | p=U)=0.025 da U=1−0.025 elevado a 1/N. Con 10 000 repeticiones, U=0.0003688199. El valor analítico 0.0000009264 está dentro del intervalo. No es adecuado usar el intervalo normal con el error estándar calculado en p̂=0 porque degeneraría artificialmente.</a:t>
            </a:r>
          </a:p>
        </p:txBody>
      </p:sp>
    </p:spTree>
    <p:extLst>
      <p:ext uri="{BB962C8B-B14F-4D97-AF65-F5344CB8AC3E}">
        <p14:creationId xmlns:p14="http://schemas.microsoft.com/office/powerpoint/2010/main" val="1412208498"/>
      </p:ext>
    </p:extLst>
  </p:cSld>
  <p:transition spd="slow" advClick="1">
    <p:fade/>
  </p:transition>
</p:sld>
</file>

<file path=ppt/slides/slide31.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D99AC67-63F3-4D38-9A65-9823D8F1F4C1}"/>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29348484-2983-4504-AB33-5B49F12640BA}"/>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Incertidumbre de Monte Carlo · desarrollo</a:t>
            </a:r>
          </a:p>
        </p:txBody>
      </p:sp>
      <p:sp>
        <p:nvSpPr>
          <p:cNvPr id="3" name="">
            <a:extLst xmlns:a="http://schemas.openxmlformats.org/drawingml/2006/main">
              <a:ext uri="{FF2B5EF4-FFF2-40B4-BE49-F238E27FC236}">
                <a16:creationId xmlns:a16="http://schemas.microsoft.com/office/drawing/2014/main" id="{DF800A5A-9667-4641-80B3-FA687ECEA817}"/>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33</a:t>
            </a:r>
          </a:p>
        </p:txBody>
      </p:sp>
      <p:sp>
        <p:nvSpPr>
          <p:cNvPr id="4" name="">
            <a:extLst xmlns:a="http://schemas.openxmlformats.org/drawingml/2006/main">
              <a:ext uri="{FF2B5EF4-FFF2-40B4-BE49-F238E27FC236}">
                <a16:creationId xmlns:a16="http://schemas.microsoft.com/office/drawing/2014/main" id="{ECF23088-1BF6-4825-B701-CCFC25B5AB26}"/>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86B8AF4A-7174-4C93-851E-6CDA50387697}"/>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0648b775a624620"/>
          <a:stretch xmlns:a="http://schemas.openxmlformats.org/drawingml/2006/main"/>
        </p:blipFill>
        <p:spPr>
          <a:xfrm xmlns:a="http://schemas.openxmlformats.org/drawingml/2006/main">
            <a:off x="1634557" y="2050766"/>
            <a:ext cx="8865736" cy="47046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94EB6E0-C96F-41A0-A38E-8EAEC83DA758}"/>
              </a:ext>
            </a:extLst>
          </p:cNvPr>
          <p:cNvSpPr>
            <a:spLocks xmlns:a="http://schemas.openxmlformats.org/drawingml/2006/main" noGrp="1"/>
          </p:cNvSpPr>
          <p:nvPr/>
        </p:nvSpPr>
        <p:spPr>
          <a:xfrm xmlns:a="http://schemas.openxmlformats.org/drawingml/2006/main">
            <a:off x="666750" y="609600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Desarrollo del modelo · fundamentos: Goldsman, caps. 1, 4–6; Skellam: SciPy</a:t>
            </a:r>
          </a:p>
        </p:txBody>
      </p:sp>
      <p:sp>
        <p:nvSpPr>
          <p:cNvPr id="8" name="">
            <a:extLst xmlns:a="http://schemas.openxmlformats.org/drawingml/2006/main">
              <a:ext uri="{FF2B5EF4-FFF2-40B4-BE49-F238E27FC236}">
                <a16:creationId xmlns:a16="http://schemas.microsoft.com/office/drawing/2014/main" id="{31A88756-D8E7-4792-BCE8-BD49407F3EE7}"/>
              </a:ext>
            </a:extLst>
          </p:cNvPr>
          <p:cNvSpPr>
            <a:spLocks xmlns:a="http://schemas.openxmlformats.org/drawingml/2006/main" noGrp="1"/>
          </p:cNvSpPr>
          <p:nvPr/>
        </p:nvSpPr>
        <p:spPr>
          <a:xfrm xmlns:a="http://schemas.openxmlformats.org/drawingml/2006/main">
            <a:off x="666750" y="30099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La cobertura del 95 % se refiere a repeticiones del procedimiento bajo un parámetro fijo. No significa que el parámetro tenga una probabilidad posterior de 95 % de estar dentro de este intervalo. Tampoco convierte la simulación en evidencia empírica independiente de los supuestos usados para producirla.</a:t>
            </a:r>
          </a:p>
        </p:txBody>
      </p:sp>
      <p:sp>
        <p:nvSpPr>
          <p:cNvPr id="9" name="">
            <a:extLst xmlns:a="http://schemas.openxmlformats.org/drawingml/2006/main">
              <a:ext uri="{FF2B5EF4-FFF2-40B4-BE49-F238E27FC236}">
                <a16:creationId xmlns:a16="http://schemas.microsoft.com/office/drawing/2014/main" id="{ABE40E66-68AD-46D8-8EF9-365A73C90373}"/>
              </a:ext>
            </a:extLst>
          </p:cNvPr>
          <p:cNvSpPr>
            <a:spLocks xmlns:a="http://schemas.openxmlformats.org/drawingml/2006/main" noGrp="1"/>
          </p:cNvSpPr>
          <p:nvPr/>
        </p:nvSpPr>
        <p:spPr>
          <a:xfrm xmlns:a="http://schemas.openxmlformats.org/drawingml/2006/main">
            <a:off x="666750" y="46101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Las frecuencias de campeones de las ventanas históricas describen todas las temporadas seleccionadas, no una muestra aleatoria de una liga estacionaria. No se les atribuye automáticamente un intervalo binomial ni se contrasta la diferencia entre ventanas como si fueran dos muestras independientes: la ventana reciente está contenida en la larga.</a:t>
            </a:r>
          </a:p>
        </p:txBody>
      </p:sp>
    </p:spTree>
    <p:extLst>
      <p:ext uri="{BB962C8B-B14F-4D97-AF65-F5344CB8AC3E}">
        <p14:creationId xmlns:p14="http://schemas.microsoft.com/office/powerpoint/2010/main" val="1244616449"/>
      </p:ext>
    </p:extLst>
  </p:cSld>
  <p:transition spd="slow" advClick="1">
    <p:fade/>
  </p:transition>
</p:sld>
</file>

<file path=ppt/slides/slide32.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3D2590-2DF5-4F44-A51F-BE7E005859BD}"/>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AE7DE898-6564-44A3-9951-C8D1C14B4776}"/>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Estimación Poisson y diagnóstico</a:t>
            </a:r>
          </a:p>
        </p:txBody>
      </p:sp>
      <p:sp>
        <p:nvSpPr>
          <p:cNvPr id="3" name="">
            <a:extLst xmlns:a="http://schemas.openxmlformats.org/drawingml/2006/main">
              <a:ext uri="{FF2B5EF4-FFF2-40B4-BE49-F238E27FC236}">
                <a16:creationId xmlns:a16="http://schemas.microsoft.com/office/drawing/2014/main" id="{194D994C-13A0-4A5E-B07A-D236BDF44206}"/>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34</a:t>
            </a:r>
          </a:p>
        </p:txBody>
      </p:sp>
      <p:sp>
        <p:nvSpPr>
          <p:cNvPr id="4" name="">
            <a:extLst xmlns:a="http://schemas.openxmlformats.org/drawingml/2006/main">
              <a:ext uri="{FF2B5EF4-FFF2-40B4-BE49-F238E27FC236}">
                <a16:creationId xmlns:a16="http://schemas.microsoft.com/office/drawing/2014/main" id="{8F1D04E4-B686-43B4-BF93-A6CD543CB41F}"/>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AE9ED40D-3B85-4974-9184-2C1CD54D784E}"/>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DEEF82DE-AEE3-4A1F-BC85-2D0FEE0FE5FF}"/>
              </a:ext>
            </a:extLst>
          </p:cNvPr>
          <p:cNvSpPr>
            <a:spLocks xmlns:a="http://schemas.openxmlformats.org/drawingml/2006/main" noGrp="1"/>
          </p:cNvSpPr>
          <p:nvPr/>
        </p:nvSpPr>
        <p:spPr>
          <a:xfrm xmlns:a="http://schemas.openxmlformats.org/drawingml/2006/main">
            <a:off x="666750" y="20383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Para D₁,…,Dₙ independientes y Poisson con una media común λ, la verosimilitud es el producto de sus funciones de masa. Al tomar logaritmos se obtiene la expresión de log-verosimilitud. Su derivada es ∑Dₛ/λ−n; igualarla a cero produce λ̂=∑Dₛ/n. La segunda derivada es negativa para ∑Dₛ&gt;0, de modo que se trata de un máximo.</a:t>
            </a:r>
          </a:p>
        </p:txBody>
      </p:sp>
      <p:sp>
        <p:nvSpPr>
          <p:cNvPr id="7" name="">
            <a:extLst xmlns:a="http://schemas.openxmlformats.org/drawingml/2006/main">
              <a:ext uri="{FF2B5EF4-FFF2-40B4-BE49-F238E27FC236}">
                <a16:creationId xmlns:a16="http://schemas.microsoft.com/office/drawing/2014/main" id="{7454F98D-10E2-422C-ACB1-00715EAA59A2}"/>
              </a:ext>
            </a:extLst>
          </p:cNvPr>
          <p:cNvSpPr>
            <a:spLocks xmlns:a="http://schemas.openxmlformats.org/drawingml/2006/main" noGrp="1"/>
          </p:cNvSpPr>
          <p:nvPr/>
        </p:nvSpPr>
        <p:spPr>
          <a:xfrm xmlns:a="http://schemas.openxmlformats.org/drawingml/2006/main">
            <a:off x="666750" y="40386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La estimación por sustitución de P(D=0) es e elevado a −λ̂. Para todos los campeones se obtiene 1.05672 %; para Bayern, 1.61635 %; y para otros campeones, 0.65016 %. Son probabilidades ajustadas condicionadas a la categoría del campeón. El cociente entre las dos últimas es aproximadamente 2.49 y no es una prueba de significación estadística.</a:t>
            </a:r>
          </a:p>
        </p:txBody>
      </p:sp>
    </p:spTree>
    <p:extLst>
      <p:ext uri="{BB962C8B-B14F-4D97-AF65-F5344CB8AC3E}">
        <p14:creationId xmlns:p14="http://schemas.microsoft.com/office/powerpoint/2010/main" val="566047615"/>
      </p:ext>
    </p:extLst>
  </p:cSld>
  <p:transition spd="slow" advClick="1">
    <p:fade/>
  </p:transition>
</p:sld>
</file>

<file path=ppt/slides/slide33.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F148ED3-F2FD-4195-A7C8-CC59A3374F17}"/>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5D2697A4-8C14-43FE-A8A3-CE1601F66E65}"/>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Estimación Poisson y diagnóstico · desarrollo</a:t>
            </a:r>
          </a:p>
        </p:txBody>
      </p:sp>
      <p:sp>
        <p:nvSpPr>
          <p:cNvPr id="3" name="">
            <a:extLst xmlns:a="http://schemas.openxmlformats.org/drawingml/2006/main">
              <a:ext uri="{FF2B5EF4-FFF2-40B4-BE49-F238E27FC236}">
                <a16:creationId xmlns:a16="http://schemas.microsoft.com/office/drawing/2014/main" id="{CFB77FF7-5AC6-45AF-9479-E9B676A78F81}"/>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35</a:t>
            </a:r>
          </a:p>
        </p:txBody>
      </p:sp>
      <p:sp>
        <p:nvSpPr>
          <p:cNvPr id="4" name="">
            <a:extLst xmlns:a="http://schemas.openxmlformats.org/drawingml/2006/main">
              <a:ext uri="{FF2B5EF4-FFF2-40B4-BE49-F238E27FC236}">
                <a16:creationId xmlns:a16="http://schemas.microsoft.com/office/drawing/2014/main" id="{AE652320-607F-43F0-99FF-75C166DE60A6}"/>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8EBA0959-D180-4A2B-B9E7-54B100DA94A1}"/>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61b993bad674aec"/>
          <a:stretch xmlns:a="http://schemas.openxmlformats.org/drawingml/2006/main"/>
        </p:blipFill>
        <p:spPr>
          <a:xfrm xmlns:a="http://schemas.openxmlformats.org/drawingml/2006/main">
            <a:off x="1677588" y="1961119"/>
            <a:ext cx="8779674" cy="64976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BA0CA46-D200-4938-819B-28BDC2138C5D}"/>
              </a:ext>
            </a:extLst>
          </p:cNvPr>
          <p:cNvSpPr>
            <a:spLocks xmlns:a="http://schemas.openxmlformats.org/drawingml/2006/main" noGrp="1"/>
          </p:cNvSpPr>
          <p:nvPr/>
        </p:nvSpPr>
        <p:spPr>
          <a:xfrm xmlns:a="http://schemas.openxmlformats.org/drawingml/2006/main">
            <a:off x="666750" y="609600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Desarrollo del modelo · fundamentos: Goldsman, caps. 1, 4–6; Skellam: SciPy</a:t>
            </a:r>
          </a:p>
        </p:txBody>
      </p:sp>
      <p:sp>
        <p:nvSpPr>
          <p:cNvPr id="8" name="">
            <a:extLst xmlns:a="http://schemas.openxmlformats.org/drawingml/2006/main">
              <a:ext uri="{FF2B5EF4-FFF2-40B4-BE49-F238E27FC236}">
                <a16:creationId xmlns:a16="http://schemas.microsoft.com/office/drawing/2014/main" id="{E03D2B7E-5003-4FE7-977E-EA6AC3B9C207}"/>
              </a:ext>
            </a:extLst>
          </p:cNvPr>
          <p:cNvSpPr>
            <a:spLocks xmlns:a="http://schemas.openxmlformats.org/drawingml/2006/main" noGrp="1"/>
          </p:cNvSpPr>
          <p:nvPr/>
        </p:nvSpPr>
        <p:spPr>
          <a:xfrm xmlns:a="http://schemas.openxmlformats.org/drawingml/2006/main">
            <a:off x="666750" y="30099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Poisson supone igualdad entre media y varianza, mientras que el cociente observado s²/media es 0.6364 en la muestra global. Se informa como diagnóstico descriptivo, sin asignar un valor p no calculado. La binomial negativa estándar tiene varianza λ+λ²/r, superior a la media: su uso no solucionaría este patrón de subdispersión.</a:t>
            </a:r>
          </a:p>
        </p:txBody>
      </p:sp>
      <p:sp>
        <p:nvSpPr>
          <p:cNvPr id="9" name="">
            <a:extLst xmlns:a="http://schemas.openxmlformats.org/drawingml/2006/main">
              <a:ext uri="{FF2B5EF4-FFF2-40B4-BE49-F238E27FC236}">
                <a16:creationId xmlns:a16="http://schemas.microsoft.com/office/drawing/2014/main" id="{197D3181-E6E7-485E-8DA7-5D512887CE90}"/>
              </a:ext>
            </a:extLst>
          </p:cNvPr>
          <p:cNvSpPr>
            <a:spLocks xmlns:a="http://schemas.openxmlformats.org/drawingml/2006/main" noGrp="1"/>
          </p:cNvSpPr>
          <p:nvPr/>
        </p:nvSpPr>
        <p:spPr>
          <a:xfrm xmlns:a="http://schemas.openxmlformats.org/drawingml/2006/main">
            <a:off x="666750" y="46101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Para considerar temporadas de distinta duración se modela Dₛ como Poisson(ρ mₛ), donde mₛ son los partidos. La estimación de la tasa es ρ̂=∑Dₛ/∑mₛ y la probabilidad para una temporada de 34 partidos es exp(−34ρ̂). La base incluye 30, 34 y 38 jornadas, por lo que esta comprobación de exposición es pertinente.</a:t>
            </a:r>
          </a:p>
        </p:txBody>
      </p:sp>
    </p:spTree>
    <p:extLst>
      <p:ext uri="{BB962C8B-B14F-4D97-AF65-F5344CB8AC3E}">
        <p14:creationId xmlns:p14="http://schemas.microsoft.com/office/powerpoint/2010/main" val="2071546656"/>
      </p:ext>
    </p:extLst>
  </p:cSld>
  <p:transition spd="slow" advClick="1">
    <p:fade/>
  </p:transition>
</p:sld>
</file>

<file path=ppt/slides/slide34.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C8458C-F211-4C2A-80D0-C9C9EE0199A3}"/>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7BF5C035-0636-4ABF-B7AE-701669821A6F}"/>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Modelo condicional de los rescates</a:t>
            </a:r>
          </a:p>
        </p:txBody>
      </p:sp>
      <p:sp>
        <p:nvSpPr>
          <p:cNvPr id="3" name="">
            <a:extLst xmlns:a="http://schemas.openxmlformats.org/drawingml/2006/main">
              <a:ext uri="{FF2B5EF4-FFF2-40B4-BE49-F238E27FC236}">
                <a16:creationId xmlns:a16="http://schemas.microsoft.com/office/drawing/2014/main" id="{90CD4E0F-6AAA-4063-A42B-1C0416F1695F}"/>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36</a:t>
            </a:r>
          </a:p>
        </p:txBody>
      </p:sp>
      <p:sp>
        <p:nvSpPr>
          <p:cNvPr id="4" name="">
            <a:extLst xmlns:a="http://schemas.openxmlformats.org/drawingml/2006/main">
              <a:ext uri="{FF2B5EF4-FFF2-40B4-BE49-F238E27FC236}">
                <a16:creationId xmlns:a16="http://schemas.microsoft.com/office/drawing/2014/main" id="{411879E3-0E63-4CAE-A577-F3742D04600C}"/>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F7D3D500-AC3A-485F-A534-8EB5644C3393}"/>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28F7297A-7DF8-4C71-B080-A3E186B706C6}"/>
              </a:ext>
            </a:extLst>
          </p:cNvPr>
          <p:cNvSpPr>
            <a:spLocks xmlns:a="http://schemas.openxmlformats.org/drawingml/2006/main" noGrp="1"/>
          </p:cNvSpPr>
          <p:nvPr/>
        </p:nvSpPr>
        <p:spPr>
          <a:xfrm xmlns:a="http://schemas.openxmlformats.org/drawingml/2006/main">
            <a:off x="666750" y="20383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Se reconstruye el marcador por orden temporal. Un partido es rescatado si existe una desventaja después del minuto 85 y el marcador final deja a Leverkusen sin derrota. Si ya pierde al minuto 85, se inicia allí; si empieza a perder más tarde, se usa ese primer estado desfavorable. El déficit dᵢ es positivo.</a:t>
            </a:r>
          </a:p>
        </p:txBody>
      </p:sp>
      <p:sp>
        <p:nvSpPr>
          <p:cNvPr id="7" name="">
            <a:extLst xmlns:a="http://schemas.openxmlformats.org/drawingml/2006/main">
              <a:ext uri="{FF2B5EF4-FFF2-40B4-BE49-F238E27FC236}">
                <a16:creationId xmlns:a16="http://schemas.microsoft.com/office/drawing/2014/main" id="{6C68D81D-5032-4D8D-93E4-9307D3035354}"/>
              </a:ext>
            </a:extLst>
          </p:cNvPr>
          <p:cNvSpPr>
            <a:spLocks xmlns:a="http://schemas.openxmlformats.org/drawingml/2006/main" noGrp="1"/>
          </p:cNvSpPr>
          <p:nvPr/>
        </p:nvSpPr>
        <p:spPr>
          <a:xfrm xmlns:a="http://schemas.openxmlformats.org/drawingml/2006/main">
            <a:off x="666750" y="40386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Las tasas rₐ y rᵣ son goles por 90 minutos para la condición local o visitante, estimadas con partidos históricos de liga. Escalarlas por Tᵢ/90 supone intensidad constante. La diferencia entre los futuros goles de ambos equipos sigue una Skellam; su cola desde dᵢ calcula la probabilidad de alcanzar al menos un empate final, permitiendo también nuevos goles del adversario.</a:t>
            </a:r>
          </a:p>
        </p:txBody>
      </p:sp>
    </p:spTree>
    <p:extLst>
      <p:ext uri="{BB962C8B-B14F-4D97-AF65-F5344CB8AC3E}">
        <p14:creationId xmlns:p14="http://schemas.microsoft.com/office/powerpoint/2010/main" val="1915163216"/>
      </p:ext>
    </p:extLst>
  </p:cSld>
  <p:transition spd="slow" advClick="1">
    <p:fade/>
  </p:transition>
</p:sld>
</file>

<file path=ppt/slides/slide35.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901DF57-1BE0-4CB5-87C2-40E60CFF6E8D}"/>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E16579AF-0B54-4DCB-9D74-7550F2AE8189}"/>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Modelo condicional de los rescates · desarrollo</a:t>
            </a:r>
          </a:p>
        </p:txBody>
      </p:sp>
      <p:sp>
        <p:nvSpPr>
          <p:cNvPr id="3" name="">
            <a:extLst xmlns:a="http://schemas.openxmlformats.org/drawingml/2006/main">
              <a:ext uri="{FF2B5EF4-FFF2-40B4-BE49-F238E27FC236}">
                <a16:creationId xmlns:a16="http://schemas.microsoft.com/office/drawing/2014/main" id="{C3353E28-4EF7-4271-876B-5624B5B18643}"/>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37</a:t>
            </a:r>
          </a:p>
        </p:txBody>
      </p:sp>
      <p:sp>
        <p:nvSpPr>
          <p:cNvPr id="4" name="">
            <a:extLst xmlns:a="http://schemas.openxmlformats.org/drawingml/2006/main">
              <a:ext uri="{FF2B5EF4-FFF2-40B4-BE49-F238E27FC236}">
                <a16:creationId xmlns:a16="http://schemas.microsoft.com/office/drawing/2014/main" id="{1C624085-1350-45E1-B7F3-F8AFAA97CB9D}"/>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1BB7740A-48B2-4901-839C-21FB39AA7879}"/>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04bbb304b144b55"/>
          <a:stretch xmlns:a="http://schemas.openxmlformats.org/drawingml/2006/main"/>
        </p:blipFill>
        <p:spPr>
          <a:xfrm xmlns:a="http://schemas.openxmlformats.org/drawingml/2006/main">
            <a:off x="1823175" y="2107423"/>
            <a:ext cx="8488501" cy="35715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BA5DB32-DA65-4BEA-A291-FF739406967A}"/>
              </a:ext>
            </a:extLst>
          </p:cNvPr>
          <p:cNvSpPr>
            <a:spLocks xmlns:a="http://schemas.openxmlformats.org/drawingml/2006/main" noGrp="1"/>
          </p:cNvSpPr>
          <p:nvPr/>
        </p:nvSpPr>
        <p:spPr>
          <a:xfrm xmlns:a="http://schemas.openxmlformats.org/drawingml/2006/main">
            <a:off x="666750" y="609600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Desarrollo del modelo · fundamentos: Goldsman, caps. 1, 4–6; Skellam: SciPy</a:t>
            </a:r>
          </a:p>
        </p:txBody>
      </p:sp>
      <p:sp>
        <p:nvSpPr>
          <p:cNvPr id="8" name="">
            <a:extLst xmlns:a="http://schemas.openxmlformats.org/drawingml/2006/main">
              <a:ext uri="{FF2B5EF4-FFF2-40B4-BE49-F238E27FC236}">
                <a16:creationId xmlns:a16="http://schemas.microsoft.com/office/drawing/2014/main" id="{E1F8A72B-F455-432E-9CDA-8CA96A305D10}"/>
              </a:ext>
            </a:extLst>
          </p:cNvPr>
          <p:cNvSpPr>
            <a:spLocks xmlns:a="http://schemas.openxmlformats.org/drawingml/2006/main" noGrp="1"/>
          </p:cNvSpPr>
          <p:nvPr/>
        </p:nvSpPr>
        <p:spPr>
          <a:xfrm xmlns:a="http://schemas.openxmlformats.org/drawingml/2006/main">
            <a:off x="666750" y="30099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El tiempo Tᵢ incluye el añadido efectivamente observado. Por tanto, qᵢ es un diagnóstico retrospectivo condicionado a esa duración, no un pronóstico realizado en el minuto 85 sin conocer el final. Las sensibilidades con añadido fijo muestran cómo cambia el cálculo si se modifica esa información.</a:t>
            </a:r>
          </a:p>
        </p:txBody>
      </p:sp>
      <p:sp>
        <p:nvSpPr>
          <p:cNvPr id="9" name="">
            <a:extLst xmlns:a="http://schemas.openxmlformats.org/drawingml/2006/main">
              <a:ext uri="{FF2B5EF4-FFF2-40B4-BE49-F238E27FC236}">
                <a16:creationId xmlns:a16="http://schemas.microsoft.com/office/drawing/2014/main" id="{96D9710E-B50D-44DC-803F-48170A62D906}"/>
              </a:ext>
            </a:extLst>
          </p:cNvPr>
          <p:cNvSpPr>
            <a:spLocks xmlns:a="http://schemas.openxmlformats.org/drawingml/2006/main" noGrp="1"/>
          </p:cNvSpPr>
          <p:nvPr/>
        </p:nvSpPr>
        <p:spPr>
          <a:xfrm xmlns:a="http://schemas.openxmlformats.org/drawingml/2006/main">
            <a:off x="666750" y="46101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El producto Q=0.0006781737 y su inverso 1474.55 resumen la rareza conjunta de esos estados bajo independencia. Multiplicar P(A) por Q produce el índice solicitado 6.282545 × 10⁻¹⁰, pero puede volver a ponderar dificultades ya incluidas en los partidos. No es una probabilidad causal identificada del invicto sin suerte, ni permite concluir que sin goles tardíos todos los encuentros habrían terminado necesariamente en derrota.</a:t>
            </a:r>
          </a:p>
        </p:txBody>
      </p:sp>
    </p:spTree>
    <p:extLst>
      <p:ext uri="{BB962C8B-B14F-4D97-AF65-F5344CB8AC3E}">
        <p14:creationId xmlns:p14="http://schemas.microsoft.com/office/powerpoint/2010/main" val="1276678793"/>
      </p:ext>
    </p:extLst>
  </p:cSld>
  <p:transition spd="slow" advClick="1">
    <p:fade/>
  </p:transition>
</p:sld>
</file>

<file path=ppt/slides/slide36.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867A8E-9F13-4BC5-A250-2870D265A274}"/>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7207118F-EEA9-4721-944F-316528AA5211}"/>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Historia: sustituir los conteos</a:t>
            </a:r>
          </a:p>
        </p:txBody>
      </p:sp>
      <p:sp>
        <p:nvSpPr>
          <p:cNvPr id="3" name="">
            <a:extLst xmlns:a="http://schemas.openxmlformats.org/drawingml/2006/main">
              <a:ext uri="{FF2B5EF4-FFF2-40B4-BE49-F238E27FC236}">
                <a16:creationId xmlns:a16="http://schemas.microsoft.com/office/drawing/2014/main" id="{D70189BC-E8BA-44C1-B48C-F7F3F53FCCE6}"/>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38</a:t>
            </a:r>
          </a:p>
        </p:txBody>
      </p:sp>
      <p:sp>
        <p:nvSpPr>
          <p:cNvPr id="4" name="">
            <a:extLst xmlns:a="http://schemas.openxmlformats.org/drawingml/2006/main">
              <a:ext uri="{FF2B5EF4-FFF2-40B4-BE49-F238E27FC236}">
                <a16:creationId xmlns:a16="http://schemas.microsoft.com/office/drawing/2014/main" id="{5D5E5293-01AB-4280-8C1A-D238C9CDE5D9}"/>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6B4C7A21-9033-481E-9AB1-3A9C5E1E74B9}"/>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271f5d6d7d544a5"/>
          <a:stretch xmlns:a="http://schemas.openxmlformats.org/drawingml/2006/main"/>
        </p:blipFill>
        <p:spPr>
          <a:xfrm xmlns:a="http://schemas.openxmlformats.org/drawingml/2006/main">
            <a:off x="3081416" y="2183713"/>
            <a:ext cx="5933918" cy="433175"/>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4ee7f34e5a64be8"/>
          <a:stretch xmlns:a="http://schemas.openxmlformats.org/drawingml/2006/main"/>
        </p:blipFill>
        <p:spPr>
          <a:xfrm xmlns:a="http://schemas.openxmlformats.org/drawingml/2006/main">
            <a:off x="3081416" y="3367681"/>
            <a:ext cx="5933918" cy="42743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A3F13CA-5398-4503-B7DB-DAA6341DD152}"/>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Se cuentan temporadas cuyo campeón no fue Bayern. La diferencia es 21.0526 − 46.6667 = −25.6140 puntos porcentuales. Describe las ventanas históricas; no es la probabilidad de invicto de Leverkusen.</a:t>
            </a:r>
          </a:p>
        </p:txBody>
      </p:sp>
    </p:spTree>
    <p:extLst>
      <p:ext uri="{BB962C8B-B14F-4D97-AF65-F5344CB8AC3E}">
        <p14:creationId xmlns:p14="http://schemas.microsoft.com/office/powerpoint/2010/main" val="274468956"/>
      </p:ext>
    </p:extLst>
  </p:cSld>
  <p:transition spd="slow" advClick="1">
    <p:fade/>
  </p:transition>
</p:sld>
</file>

<file path=ppt/slides/slide37.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80BFD9-0E14-4667-9AA4-4225BF38CCC0}"/>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4AED30B1-FA60-4239-A0AB-AE86F65F0B70}"/>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Ejemplo: Leverkusen recibe a Leipzig</a:t>
            </a:r>
          </a:p>
        </p:txBody>
      </p:sp>
      <p:sp>
        <p:nvSpPr>
          <p:cNvPr id="3" name="">
            <a:extLst xmlns:a="http://schemas.openxmlformats.org/drawingml/2006/main">
              <a:ext uri="{FF2B5EF4-FFF2-40B4-BE49-F238E27FC236}">
                <a16:creationId xmlns:a16="http://schemas.microsoft.com/office/drawing/2014/main" id="{457BFF20-B28B-479D-A36C-0C4B9AB820DF}"/>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39</a:t>
            </a:r>
          </a:p>
        </p:txBody>
      </p:sp>
      <p:sp>
        <p:nvSpPr>
          <p:cNvPr id="4" name="">
            <a:extLst xmlns:a="http://schemas.openxmlformats.org/drawingml/2006/main">
              <a:ext uri="{FF2B5EF4-FFF2-40B4-BE49-F238E27FC236}">
                <a16:creationId xmlns:a16="http://schemas.microsoft.com/office/drawing/2014/main" id="{81CFAFB9-47EC-42FD-8142-D9653A7D41A4}"/>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C59A9C04-2024-49D0-B51A-DCB24ADD52B8}"/>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9694d7003584ed1"/>
          <a:stretch xmlns:a="http://schemas.openxmlformats.org/drawingml/2006/main"/>
        </p:blipFill>
        <p:spPr>
          <a:xfrm xmlns:a="http://schemas.openxmlformats.org/drawingml/2006/main">
            <a:off x="3150982" y="2222440"/>
            <a:ext cx="5794786" cy="35572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d7fc4d04f2947fe"/>
          <a:stretch xmlns:a="http://schemas.openxmlformats.org/drawingml/2006/main"/>
        </p:blipFill>
        <p:spPr>
          <a:xfrm xmlns:a="http://schemas.openxmlformats.org/drawingml/2006/main">
            <a:off x="4085463" y="3347600"/>
            <a:ext cx="3925824" cy="46759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0929E64-ADED-4B49-8DF8-8B63E8116BF1}"/>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Se usan las valoraciones del 15 de agosto de 2023 y 60 puntos Elo de localía. E es el resultado esperado —victoria más medio empate—, por lo que todavía falta convertirlo en probabilidades de marcador.</a:t>
            </a:r>
          </a:p>
        </p:txBody>
      </p:sp>
    </p:spTree>
    <p:extLst>
      <p:ext uri="{BB962C8B-B14F-4D97-AF65-F5344CB8AC3E}">
        <p14:creationId xmlns:p14="http://schemas.microsoft.com/office/powerpoint/2010/main" val="1103983162"/>
      </p:ext>
    </p:extLst>
  </p:cSld>
  <p:transition spd="slow" advClick="1">
    <p:fade/>
  </p:transition>
</p:sld>
</file>

<file path=ppt/slides/slide38.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83000D-1DCA-4704-ACCB-6256960C5A9F}"/>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561D46E5-E4FE-44D7-B594-4A51629766FF}"/>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Leipzig: tasas y probabilidad de no perder</a:t>
            </a:r>
          </a:p>
        </p:txBody>
      </p:sp>
      <p:sp>
        <p:nvSpPr>
          <p:cNvPr id="3" name="">
            <a:extLst xmlns:a="http://schemas.openxmlformats.org/drawingml/2006/main">
              <a:ext uri="{FF2B5EF4-FFF2-40B4-BE49-F238E27FC236}">
                <a16:creationId xmlns:a16="http://schemas.microsoft.com/office/drawing/2014/main" id="{76F525FF-C917-4B89-A28A-331AB1F67F8E}"/>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40</a:t>
            </a:r>
          </a:p>
        </p:txBody>
      </p:sp>
      <p:sp>
        <p:nvSpPr>
          <p:cNvPr id="4" name="">
            <a:extLst xmlns:a="http://schemas.openxmlformats.org/drawingml/2006/main">
              <a:ext uri="{FF2B5EF4-FFF2-40B4-BE49-F238E27FC236}">
                <a16:creationId xmlns:a16="http://schemas.microsoft.com/office/drawing/2014/main" id="{1586D4A4-04B1-470A-8EEA-1F9851408C6B}"/>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188317BF-66FE-4AD5-AB8A-6476AED70CA1}"/>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f3045a8d1464d9c"/>
          <a:stretch xmlns:a="http://schemas.openxmlformats.org/drawingml/2006/main"/>
        </p:blipFill>
        <p:spPr>
          <a:xfrm xmlns:a="http://schemas.openxmlformats.org/drawingml/2006/main">
            <a:off x="2412290" y="2221723"/>
            <a:ext cx="7272169" cy="357154"/>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7a106d2e1794b6a"/>
          <a:stretch xmlns:a="http://schemas.openxmlformats.org/drawingml/2006/main"/>
        </p:blipFill>
        <p:spPr>
          <a:xfrm xmlns:a="http://schemas.openxmlformats.org/drawingml/2006/main">
            <a:off x="2147652" y="3402823"/>
            <a:ext cx="7801446" cy="35715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7F760F6-ADBB-483F-AAD5-8895CA902D73}"/>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Las tasas se obtienen resolviendo numéricamente la ecuación Elo–Poisson. Al sumar victoria y empate se obtiene la probabilidad de superar este partido sin derrota. Los cálculos internos conservan la precisión completa; las cifras mostradas se redondean.</a:t>
            </a:r>
          </a:p>
        </p:txBody>
      </p:sp>
    </p:spTree>
    <p:extLst>
      <p:ext uri="{BB962C8B-B14F-4D97-AF65-F5344CB8AC3E}">
        <p14:creationId xmlns:p14="http://schemas.microsoft.com/office/powerpoint/2010/main" val="1843124855"/>
      </p:ext>
    </p:extLst>
  </p:cSld>
  <p:transition spd="slow" advClick="1">
    <p:fade/>
  </p:transition>
</p:sld>
</file>

<file path=ppt/slides/slide39.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9598B0B-9E25-40D8-866B-C6D2F0D9DB78}"/>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FFE7AB7F-ECF9-4A63-AE71-D47AD1626760}"/>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Temporada completa: producto con datos</a:t>
            </a:r>
          </a:p>
        </p:txBody>
      </p:sp>
      <p:sp>
        <p:nvSpPr>
          <p:cNvPr id="3" name="">
            <a:extLst xmlns:a="http://schemas.openxmlformats.org/drawingml/2006/main">
              <a:ext uri="{FF2B5EF4-FFF2-40B4-BE49-F238E27FC236}">
                <a16:creationId xmlns:a16="http://schemas.microsoft.com/office/drawing/2014/main" id="{2BC18819-67BB-4FAD-A086-30AA20D81C0F}"/>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41</a:t>
            </a:r>
          </a:p>
        </p:txBody>
      </p:sp>
      <p:sp>
        <p:nvSpPr>
          <p:cNvPr id="4" name="">
            <a:extLst xmlns:a="http://schemas.openxmlformats.org/drawingml/2006/main">
              <a:ext uri="{FF2B5EF4-FFF2-40B4-BE49-F238E27FC236}">
                <a16:creationId xmlns:a16="http://schemas.microsoft.com/office/drawing/2014/main" id="{B011BA5C-9C24-4992-BE40-545324334E83}"/>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32253EC2-E1C3-4BF7-8291-2990C1B74738}"/>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1902d7fca8a4f4f"/>
          <a:stretch xmlns:a="http://schemas.openxmlformats.org/drawingml/2006/main"/>
        </p:blipFill>
        <p:spPr>
          <a:xfrm xmlns:a="http://schemas.openxmlformats.org/drawingml/2006/main">
            <a:off x="2993203" y="2195188"/>
            <a:ext cx="6110344" cy="410225"/>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b35ec22227f4500"/>
          <a:stretch xmlns:a="http://schemas.openxmlformats.org/drawingml/2006/main"/>
        </p:blipFill>
        <p:spPr>
          <a:xfrm xmlns:a="http://schemas.openxmlformats.org/drawingml/2006/main">
            <a:off x="2435957" y="3377722"/>
            <a:ext cx="7224836" cy="407356"/>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9472DB9-6538-4D0F-94FD-3170B187777F}"/>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El primer factor corresponde a los dos partidos contra Bayern; el segundo, al producto de los otros 32. El inverso equivale aproximadamente a una temporada invicta por 1.08 millones de temporadas bajo este modelo, sin implicar un tiempo real de espera histórico.</a:t>
            </a:r>
          </a:p>
        </p:txBody>
      </p:sp>
    </p:spTree>
    <p:extLst>
      <p:ext uri="{BB962C8B-B14F-4D97-AF65-F5344CB8AC3E}">
        <p14:creationId xmlns:p14="http://schemas.microsoft.com/office/powerpoint/2010/main" val="1374150651"/>
      </p:ext>
    </p:extLst>
  </p:cSld>
  <p:transition spd="slow" advClick="1">
    <p:fade/>
  </p:transition>
</p:sld>
</file>

<file path=ppt/slides/slide40.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C06C9B-48A3-4DBE-82FB-327D35C54E51}"/>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6DCE2336-75BA-4EF0-A032-698D99E2DD38}"/>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Monte Carlo: cero éxitos e incertidumbre</a:t>
            </a:r>
          </a:p>
        </p:txBody>
      </p:sp>
      <p:sp>
        <p:nvSpPr>
          <p:cNvPr id="3" name="">
            <a:extLst xmlns:a="http://schemas.openxmlformats.org/drawingml/2006/main">
              <a:ext uri="{FF2B5EF4-FFF2-40B4-BE49-F238E27FC236}">
                <a16:creationId xmlns:a16="http://schemas.microsoft.com/office/drawing/2014/main" id="{23891073-908A-4B47-B8F5-8C880CA3EE6A}"/>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42</a:t>
            </a:r>
          </a:p>
        </p:txBody>
      </p:sp>
      <p:sp>
        <p:nvSpPr>
          <p:cNvPr id="4" name="">
            <a:extLst xmlns:a="http://schemas.openxmlformats.org/drawingml/2006/main">
              <a:ext uri="{FF2B5EF4-FFF2-40B4-BE49-F238E27FC236}">
                <a16:creationId xmlns:a16="http://schemas.microsoft.com/office/drawing/2014/main" id="{D3A9BA34-70BB-447E-968C-6138667C7D2E}"/>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371527F4-6CE1-4501-983C-927FFB90D292}"/>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8d7f6d0533848e8"/>
          <a:stretch xmlns:a="http://schemas.openxmlformats.org/drawingml/2006/main"/>
        </p:blipFill>
        <p:spPr>
          <a:xfrm xmlns:a="http://schemas.openxmlformats.org/drawingml/2006/main">
            <a:off x="2537079" y="2196622"/>
            <a:ext cx="7022592" cy="407356"/>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50fb51cf4574645"/>
          <a:stretch xmlns:a="http://schemas.openxmlformats.org/drawingml/2006/main"/>
        </p:blipFill>
        <p:spPr>
          <a:xfrm xmlns:a="http://schemas.openxmlformats.org/drawingml/2006/main">
            <a:off x="2077369" y="3355489"/>
            <a:ext cx="7942012" cy="451821"/>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D7B846F-C2C4-46C2-8F79-9CFBD601346D}"/>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Para el intervalo binomial exacto bilateral del 95 %, el límite inferior es cero y el superior equivale a 0.036882 %. La probabilidad de observar cero invictos es (1 − P(A)) elevado a 10 000, aproximadamente 99.08 %. Por eso la simulación es compatible con el producto analítico.</a:t>
            </a:r>
          </a:p>
        </p:txBody>
      </p:sp>
    </p:spTree>
    <p:extLst>
      <p:ext uri="{BB962C8B-B14F-4D97-AF65-F5344CB8AC3E}">
        <p14:creationId xmlns:p14="http://schemas.microsoft.com/office/powerpoint/2010/main" val="278197081"/>
      </p:ext>
    </p:extLst>
  </p:cSld>
  <p:transition spd="slow" advClick="1">
    <p:fade/>
  </p:transition>
</p:sld>
</file>

<file path=ppt/slides/slide41.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BE1921D-772F-48BA-9C7C-EE3699C846BE}"/>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53FD4E1B-B1D2-45BD-93B5-E8AE670B2A7E}"/>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Poisson: medias históricas sustituidas</a:t>
            </a:r>
          </a:p>
        </p:txBody>
      </p:sp>
      <p:sp>
        <p:nvSpPr>
          <p:cNvPr id="3" name="">
            <a:extLst xmlns:a="http://schemas.openxmlformats.org/drawingml/2006/main">
              <a:ext uri="{FF2B5EF4-FFF2-40B4-BE49-F238E27FC236}">
                <a16:creationId xmlns:a16="http://schemas.microsoft.com/office/drawing/2014/main" id="{023C93AC-5BC5-47C3-A8F8-118D07831DB2}"/>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43</a:t>
            </a:r>
          </a:p>
        </p:txBody>
      </p:sp>
      <p:sp>
        <p:nvSpPr>
          <p:cNvPr id="4" name="">
            <a:extLst xmlns:a="http://schemas.openxmlformats.org/drawingml/2006/main">
              <a:ext uri="{FF2B5EF4-FFF2-40B4-BE49-F238E27FC236}">
                <a16:creationId xmlns:a16="http://schemas.microsoft.com/office/drawing/2014/main" id="{E63AEDC4-8DA5-4342-9574-9AA4B4A96090}"/>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422621E6-7185-450F-80D1-A0433ADA1E38}"/>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02ab17d36a54b2e"/>
          <a:stretch xmlns:a="http://schemas.openxmlformats.org/drawingml/2006/main"/>
        </p:blipFill>
        <p:spPr>
          <a:xfrm xmlns:a="http://schemas.openxmlformats.org/drawingml/2006/main">
            <a:off x="2527039" y="2150723"/>
            <a:ext cx="7042673" cy="499155"/>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e8d9bd66e6f4cf3"/>
          <a:stretch xmlns:a="http://schemas.openxmlformats.org/drawingml/2006/main"/>
        </p:blipFill>
        <p:spPr>
          <a:xfrm xmlns:a="http://schemas.openxmlformats.org/drawingml/2006/main">
            <a:off x="2537079" y="3376288"/>
            <a:ext cx="7022592" cy="4102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2713502-699B-42AE-87C4-7927F82739EF}"/>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Los 60 campeones suman 273 derrotas: Bayern aporta 132 en 32 títulos y los demás 141 en 28. Los resultados equivalen a 1.05672 %, 1.61635 % y 0.65016 %. Son probabilidades ajustadas para campeones históricos, no para un club cualquiera antes de comenzar la liga.</a:t>
            </a:r>
          </a:p>
        </p:txBody>
      </p:sp>
    </p:spTree>
    <p:extLst>
      <p:ext uri="{BB962C8B-B14F-4D97-AF65-F5344CB8AC3E}">
        <p14:creationId xmlns:p14="http://schemas.microsoft.com/office/powerpoint/2010/main" val="627440839"/>
      </p:ext>
    </p:extLst>
  </p:cSld>
  <p:transition spd="slow" advClick="1">
    <p:fade/>
  </p:transition>
</p:sld>
</file>

<file path=ppt/slides/slide42.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6C4CCC-E0C1-49DF-8108-8C5CFA7F4A4E}"/>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0F8268DB-51FD-4BD0-9E07-288B270D7B0F}"/>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Rescate ante Bayern: tiempo y tasas</a:t>
            </a:r>
          </a:p>
        </p:txBody>
      </p:sp>
      <p:sp>
        <p:nvSpPr>
          <p:cNvPr id="3" name="">
            <a:extLst xmlns:a="http://schemas.openxmlformats.org/drawingml/2006/main">
              <a:ext uri="{FF2B5EF4-FFF2-40B4-BE49-F238E27FC236}">
                <a16:creationId xmlns:a16="http://schemas.microsoft.com/office/drawing/2014/main" id="{45F3DCB2-9806-47BB-8424-8ADF9B168DA3}"/>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44</a:t>
            </a:r>
          </a:p>
        </p:txBody>
      </p:sp>
      <p:sp>
        <p:nvSpPr>
          <p:cNvPr id="4" name="">
            <a:extLst xmlns:a="http://schemas.openxmlformats.org/drawingml/2006/main">
              <a:ext uri="{FF2B5EF4-FFF2-40B4-BE49-F238E27FC236}">
                <a16:creationId xmlns:a16="http://schemas.microsoft.com/office/drawing/2014/main" id="{8E13B4FA-FC1F-4757-812C-8253FE05ECE9}"/>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19BA9C9C-C53E-439F-AD08-1C1575635CC9}"/>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57eef99c73804246"/>
          <a:stretch xmlns:a="http://schemas.openxmlformats.org/drawingml/2006/main"/>
        </p:blipFill>
        <p:spPr>
          <a:xfrm xmlns:a="http://schemas.openxmlformats.org/drawingml/2006/main">
            <a:off x="1518688" y="2183713"/>
            <a:ext cx="9059373" cy="433175"/>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196ec4852a74889"/>
          <a:stretch xmlns:a="http://schemas.openxmlformats.org/drawingml/2006/main"/>
        </p:blipFill>
        <p:spPr>
          <a:xfrm xmlns:a="http://schemas.openxmlformats.org/drawingml/2006/main">
            <a:off x="1318596" y="3364813"/>
            <a:ext cx="9459558" cy="4331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1943817-AED8-47CA-919F-42224D95BF35}"/>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Leverkusen pasa a perder en el minuto 85.35; el final observado fue 98.40. Se escalan las medias históricas de goles visitantes y locales a los 13.05 minutos restantes. La cola Skellam permite goles de ambos equipos y mide la probabilidad de compensar el déficit de uno.</a:t>
            </a:r>
          </a:p>
        </p:txBody>
      </p:sp>
    </p:spTree>
    <p:extLst>
      <p:ext uri="{BB962C8B-B14F-4D97-AF65-F5344CB8AC3E}">
        <p14:creationId xmlns:p14="http://schemas.microsoft.com/office/powerpoint/2010/main" val="1600924372"/>
      </p:ext>
    </p:extLst>
  </p:cSld>
  <p:transition spd="slow" advClick="1">
    <p:fade/>
  </p:transition>
</p:sld>
</file>

<file path=ppt/slides/slide43.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E91656-49F1-478B-865E-D4E4A0D57BA2}"/>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BA490EDC-BDE2-42B8-B6AF-C1D461748EE8}"/>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Cuatro rescates: producto y ajuste</a:t>
            </a:r>
          </a:p>
        </p:txBody>
      </p:sp>
      <p:sp>
        <p:nvSpPr>
          <p:cNvPr id="3" name="">
            <a:extLst xmlns:a="http://schemas.openxmlformats.org/drawingml/2006/main">
              <a:ext uri="{FF2B5EF4-FFF2-40B4-BE49-F238E27FC236}">
                <a16:creationId xmlns:a16="http://schemas.microsoft.com/office/drawing/2014/main" id="{54F9800C-F78D-40A0-A9CC-1C5F2F383836}"/>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45</a:t>
            </a:r>
          </a:p>
        </p:txBody>
      </p:sp>
      <p:sp>
        <p:nvSpPr>
          <p:cNvPr id="4" name="">
            <a:extLst xmlns:a="http://schemas.openxmlformats.org/drawingml/2006/main">
              <a:ext uri="{FF2B5EF4-FFF2-40B4-BE49-F238E27FC236}">
                <a16:creationId xmlns:a16="http://schemas.microsoft.com/office/drawing/2014/main" id="{08D4845E-8B62-4916-BF5B-597B1FC8F451}"/>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BE178C0A-879C-4DC1-934E-41C8D95E7AC7}"/>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539bb2d8acd4549"/>
          <a:stretch xmlns:a="http://schemas.openxmlformats.org/drawingml/2006/main"/>
        </p:blipFill>
        <p:spPr>
          <a:xfrm xmlns:a="http://schemas.openxmlformats.org/drawingml/2006/main">
            <a:off x="787168" y="2196622"/>
            <a:ext cx="10522413" cy="407356"/>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0a4bb4360154fde"/>
          <a:stretch xmlns:a="http://schemas.openxmlformats.org/drawingml/2006/main"/>
        </p:blipFill>
        <p:spPr>
          <a:xfrm xmlns:a="http://schemas.openxmlformats.org/drawingml/2006/main">
            <a:off x="1094120" y="3376288"/>
            <a:ext cx="9908510" cy="4102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5B10A2F9-7AF5-466B-8250-FFDA349EA275}"/>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El orden es Bayern, Hoffenheim, Dortmund y Stuttgart. El inverso de Q es aproximadamente 1474.55. El último producto es el índice heurístico pedido en el ejercicio; no debe interpretarse como una probabilidad causal del invicto sin suerte.</a:t>
            </a:r>
          </a:p>
        </p:txBody>
      </p:sp>
    </p:spTree>
    <p:extLst>
      <p:ext uri="{BB962C8B-B14F-4D97-AF65-F5344CB8AC3E}">
        <p14:creationId xmlns:p14="http://schemas.microsoft.com/office/powerpoint/2010/main" val="640713400"/>
      </p:ext>
    </p:extLst>
  </p:cSld>
  <p:transition spd="slow" advClick="1">
    <p:fade/>
  </p:transition>
</p:sld>
</file>

<file path=ppt/slides/slide44.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18F50AA-7C52-4762-8319-A68BD4D1A12F}"/>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467CF7D7-7EC7-4BD3-880A-1442A2A95373}"/>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Despeje de Elo: de E a la diferencia</a:t>
            </a:r>
          </a:p>
        </p:txBody>
      </p:sp>
      <p:sp>
        <p:nvSpPr>
          <p:cNvPr id="3" name="">
            <a:extLst xmlns:a="http://schemas.openxmlformats.org/drawingml/2006/main">
              <a:ext uri="{FF2B5EF4-FFF2-40B4-BE49-F238E27FC236}">
                <a16:creationId xmlns:a16="http://schemas.microsoft.com/office/drawing/2014/main" id="{E34DB87B-60C3-4DDE-A9D6-59760AD9A3B7}"/>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46</a:t>
            </a:r>
          </a:p>
        </p:txBody>
      </p:sp>
      <p:sp>
        <p:nvSpPr>
          <p:cNvPr id="4" name="">
            <a:extLst xmlns:a="http://schemas.openxmlformats.org/drawingml/2006/main">
              <a:ext uri="{FF2B5EF4-FFF2-40B4-BE49-F238E27FC236}">
                <a16:creationId xmlns:a16="http://schemas.microsoft.com/office/drawing/2014/main" id="{D27FD76B-9849-412F-8096-ECE5746E9A74}"/>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4D8BA61B-D496-4146-B8EC-5F8D55F3FDF7}"/>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6ca2bc496b14ecc"/>
          <a:stretch xmlns:a="http://schemas.openxmlformats.org/drawingml/2006/main"/>
        </p:blipFill>
        <p:spPr>
          <a:xfrm xmlns:a="http://schemas.openxmlformats.org/drawingml/2006/main">
            <a:off x="3014001" y="2177258"/>
            <a:ext cx="6068747" cy="446084"/>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deb4bf1ac684928"/>
          <a:stretch xmlns:a="http://schemas.openxmlformats.org/drawingml/2006/main"/>
        </p:blipFill>
        <p:spPr>
          <a:xfrm xmlns:a="http://schemas.openxmlformats.org/drawingml/2006/main">
            <a:off x="3181103" y="3364813"/>
            <a:ext cx="5734543" cy="4331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EF24601-7A9A-49DA-A877-7C28F5C57197}"/>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Se parte de la ecuación logística, se invierte E y se resta uno. Después se aplica logaritmo base diez y se multiplica por −400. Este despeje recupera la diferencia de fuerza, incluida la localía; no convierte E en probabilidad de victoria.</a:t>
            </a:r>
          </a:p>
        </p:txBody>
      </p:sp>
    </p:spTree>
    <p:extLst>
      <p:ext uri="{BB962C8B-B14F-4D97-AF65-F5344CB8AC3E}">
        <p14:creationId xmlns:p14="http://schemas.microsoft.com/office/powerpoint/2010/main" val="1739505725"/>
      </p:ext>
    </p:extLst>
  </p:cSld>
  <p:transition spd="slow" advClick="1">
    <p:fade/>
  </p:transition>
</p:sld>
</file>

<file path=ppt/slides/slide45.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C6FC5FE-EA89-437C-A1F9-F09AC7568D57}"/>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E9AD7DD9-41A2-4DDD-A80F-580BEE298CF0}"/>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Tasas Poisson: solución numérica del enlace</a:t>
            </a:r>
          </a:p>
        </p:txBody>
      </p:sp>
      <p:sp>
        <p:nvSpPr>
          <p:cNvPr id="3" name="">
            <a:extLst xmlns:a="http://schemas.openxmlformats.org/drawingml/2006/main">
              <a:ext uri="{FF2B5EF4-FFF2-40B4-BE49-F238E27FC236}">
                <a16:creationId xmlns:a16="http://schemas.microsoft.com/office/drawing/2014/main" id="{9A0646C2-F00A-403D-AFC8-3F737EC3F637}"/>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47</a:t>
            </a:r>
          </a:p>
        </p:txBody>
      </p:sp>
      <p:sp>
        <p:nvSpPr>
          <p:cNvPr id="4" name="">
            <a:extLst xmlns:a="http://schemas.openxmlformats.org/drawingml/2006/main">
              <a:ext uri="{FF2B5EF4-FFF2-40B4-BE49-F238E27FC236}">
                <a16:creationId xmlns:a16="http://schemas.microsoft.com/office/drawing/2014/main" id="{200B4B18-DD6D-4224-A352-15083183AB26}"/>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9AF2710E-369E-42D6-99BA-0826176D427F}"/>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3fc40b4c6e043d8"/>
          <a:stretch xmlns:a="http://schemas.openxmlformats.org/drawingml/2006/main"/>
        </p:blipFill>
        <p:spPr>
          <a:xfrm xmlns:a="http://schemas.openxmlformats.org/drawingml/2006/main">
            <a:off x="3570530" y="2188016"/>
            <a:ext cx="4955689" cy="424568"/>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22e8895b9cd46c7"/>
          <a:stretch xmlns:a="http://schemas.openxmlformats.org/drawingml/2006/main"/>
        </p:blipFill>
        <p:spPr>
          <a:xfrm xmlns:a="http://schemas.openxmlformats.org/drawingml/2006/main">
            <a:off x="666750" y="3378382"/>
            <a:ext cx="10763250" cy="406036"/>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9EFE6C8E-512E-4DB1-882E-12176CDC4D14}"/>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Para cada valor de t se evalúan las probabilidades Skellam con tasas (τ/2)exp(t) y (τ/2)exp(−t). Brent busca una raíz en el intervalo [−8, 8]. La solución iguala el resultado esperado del marcador con el Elo; se comprueba el residuo en lugar de presentar un supuesto despeje algebraico.</a:t>
            </a:r>
          </a:p>
        </p:txBody>
      </p:sp>
    </p:spTree>
    <p:extLst>
      <p:ext uri="{BB962C8B-B14F-4D97-AF65-F5344CB8AC3E}">
        <p14:creationId xmlns:p14="http://schemas.microsoft.com/office/powerpoint/2010/main" val="585823174"/>
      </p:ext>
    </p:extLst>
  </p:cSld>
  <p:transition spd="slow" advClick="1">
    <p:fade/>
  </p:transition>
</p:sld>
</file>

<file path=ppt/slides/slide46.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6A2BF60-7C58-49CB-BC5D-45786A4A6134}"/>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54286DA3-D6B7-4317-8195-6A8185EE2F15}"/>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Derivación del estimador Poisson</a:t>
            </a:r>
          </a:p>
        </p:txBody>
      </p:sp>
      <p:sp>
        <p:nvSpPr>
          <p:cNvPr id="3" name="">
            <a:extLst xmlns:a="http://schemas.openxmlformats.org/drawingml/2006/main">
              <a:ext uri="{FF2B5EF4-FFF2-40B4-BE49-F238E27FC236}">
                <a16:creationId xmlns:a16="http://schemas.microsoft.com/office/drawing/2014/main" id="{E2D10662-1C96-492D-AD65-F2E6DBBE0652}"/>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48</a:t>
            </a:r>
          </a:p>
        </p:txBody>
      </p:sp>
      <p:sp>
        <p:nvSpPr>
          <p:cNvPr id="4" name="">
            <a:extLst xmlns:a="http://schemas.openxmlformats.org/drawingml/2006/main">
              <a:ext uri="{FF2B5EF4-FFF2-40B4-BE49-F238E27FC236}">
                <a16:creationId xmlns:a16="http://schemas.microsoft.com/office/drawing/2014/main" id="{7F17700D-B7E0-4696-8A9F-844DBEC3C6D6}"/>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8B93DABF-2A30-4D37-BC22-FFA78784EDBD}"/>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0fe35846c734363"/>
          <a:stretch xmlns:a="http://schemas.openxmlformats.org/drawingml/2006/main"/>
        </p:blipFill>
        <p:spPr>
          <a:xfrm xmlns:a="http://schemas.openxmlformats.org/drawingml/2006/main">
            <a:off x="3268599" y="2087611"/>
            <a:ext cx="5559552" cy="625378"/>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0f69eff20dd423d"/>
          <a:stretch xmlns:a="http://schemas.openxmlformats.org/drawingml/2006/main"/>
        </p:blipFill>
        <p:spPr>
          <a:xfrm xmlns:a="http://schemas.openxmlformats.org/drawingml/2006/main">
            <a:off x="3270751" y="3245044"/>
            <a:ext cx="5555249" cy="672712"/>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0D3A9FE-15B9-4D46-A6D5-5E57845F2A52}"/>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Se multiplica la masa Poisson de las derrotas de cada campeón y se toma logaritmo. Al derivar e igualar a cero se obtiene la media. La segunda derivada es −273/λ², negativa para λ positivo, por lo que el punto es un máximo. Sustituir cero derrotas en la masa da exp(−4.55).</a:t>
            </a:r>
          </a:p>
        </p:txBody>
      </p:sp>
    </p:spTree>
    <p:extLst>
      <p:ext uri="{BB962C8B-B14F-4D97-AF65-F5344CB8AC3E}">
        <p14:creationId xmlns:p14="http://schemas.microsoft.com/office/powerpoint/2010/main" val="1465998883"/>
      </p:ext>
    </p:extLst>
  </p:cSld>
  <p:transition spd="slow" advClick="1">
    <p:fade/>
  </p:transition>
</p:sld>
</file>

<file path=ppt/slides/slide47.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867FF61-6BCF-4DEF-B8AE-F0A5A34457DC}"/>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12C1A8EE-C860-477D-9B3A-6B413E6BAC5B}"/>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Despeje del límite con cero éxitos</a:t>
            </a:r>
          </a:p>
        </p:txBody>
      </p:sp>
      <p:sp>
        <p:nvSpPr>
          <p:cNvPr id="3" name="">
            <a:extLst xmlns:a="http://schemas.openxmlformats.org/drawingml/2006/main">
              <a:ext uri="{FF2B5EF4-FFF2-40B4-BE49-F238E27FC236}">
                <a16:creationId xmlns:a16="http://schemas.microsoft.com/office/drawing/2014/main" id="{89AE4A6C-1A75-4EB6-8BE2-ED5BE7F6BC89}"/>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49</a:t>
            </a:r>
          </a:p>
        </p:txBody>
      </p:sp>
      <p:sp>
        <p:nvSpPr>
          <p:cNvPr id="4" name="">
            <a:extLst xmlns:a="http://schemas.openxmlformats.org/drawingml/2006/main">
              <a:ext uri="{FF2B5EF4-FFF2-40B4-BE49-F238E27FC236}">
                <a16:creationId xmlns:a16="http://schemas.microsoft.com/office/drawing/2014/main" id="{572E7213-234D-4E36-ADBB-EC7ECBD98C4E}"/>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2179FE78-4713-467B-B28B-9C822AF14902}"/>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6d365040c4242a7"/>
          <a:stretch xmlns:a="http://schemas.openxmlformats.org/drawingml/2006/main"/>
        </p:blipFill>
        <p:spPr>
          <a:xfrm xmlns:a="http://schemas.openxmlformats.org/drawingml/2006/main">
            <a:off x="3226286" y="2195188"/>
            <a:ext cx="5644179" cy="410225"/>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7ca4382f7e74a1d"/>
          <a:stretch xmlns:a="http://schemas.openxmlformats.org/drawingml/2006/main"/>
        </p:blipFill>
        <p:spPr>
          <a:xfrm xmlns:a="http://schemas.openxmlformats.org/drawingml/2006/main">
            <a:off x="1357324" y="3376288"/>
            <a:ext cx="9382103" cy="4102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7D2320D-AF99-4642-9E9C-50C9A7607647}"/>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Para el intervalo exacto bilateral del 95 % se asigna 0.025 a esta cola. Se toma la raíz de orden 10 000 y se despeja U. El límite inferior es cero; multiplicar U por cien lo expresa como 0.036882 %. El valor 0.025 corresponde a un intervalo bilateral, no al límite unilateral del 95 %.</a:t>
            </a:r>
          </a:p>
        </p:txBody>
      </p:sp>
    </p:spTree>
    <p:extLst>
      <p:ext uri="{BB962C8B-B14F-4D97-AF65-F5344CB8AC3E}">
        <p14:creationId xmlns:p14="http://schemas.microsoft.com/office/powerpoint/2010/main" val="682692282"/>
      </p:ext>
    </p:extLst>
  </p:cSld>
  <p:transition spd="slow" advClick="1">
    <p:fade/>
  </p:transition>
</p:sld>
</file>

<file path=ppt/slides/slide48.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B75E328-270F-4520-94C6-E9C2560D9CE3}"/>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2962C449-34C6-4249-B018-03B39E8409EF}"/>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El invicto requiere superar todo el calendario</a:t>
            </a:r>
          </a:p>
        </p:txBody>
      </p:sp>
      <p:sp>
        <p:nvSpPr>
          <p:cNvPr id="3" name="">
            <a:extLst xmlns:a="http://schemas.openxmlformats.org/drawingml/2006/main">
              <a:ext uri="{FF2B5EF4-FFF2-40B4-BE49-F238E27FC236}">
                <a16:creationId xmlns:a16="http://schemas.microsoft.com/office/drawing/2014/main" id="{84460B6F-8F35-4DCD-A622-08B20B03F0C0}"/>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50</a:t>
            </a:r>
          </a:p>
        </p:txBody>
      </p:sp>
      <p:sp>
        <p:nvSpPr>
          <p:cNvPr id="4" name="">
            <a:extLst xmlns:a="http://schemas.openxmlformats.org/drawingml/2006/main">
              <a:ext uri="{FF2B5EF4-FFF2-40B4-BE49-F238E27FC236}">
                <a16:creationId xmlns:a16="http://schemas.microsoft.com/office/drawing/2014/main" id="{605811C8-8E5E-44AB-8E22-A5207C265F94}"/>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AAA39B7F-95B8-438F-87F2-B435E9771595}"/>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406AF113-37CF-4D37-8A1A-4168FDC733F2}"/>
              </a:ext>
            </a:extLst>
          </p:cNvPr>
          <p:cNvSpPr>
            <a:spLocks xmlns:a="http://schemas.openxmlformats.org/drawingml/2006/main" noGrp="1"/>
          </p:cNvSpPr>
          <p:nvPr/>
        </p:nvSpPr>
        <p:spPr>
          <a:xfrm xmlns:a="http://schemas.openxmlformats.org/drawingml/2006/main">
            <a:off x="619125" y="1971675"/>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242C"/>
                </a:solidFill>
                <a:latin typeface="Arial"/>
                <a:ea typeface="Arial"/>
                <a:cs typeface="Arial"/>
              </a:defRPr>
            </a:pPr>
            <a:r>
              <a:rPr sz="2700" b="0">
                <a:solidFill>
                  <a:srgbClr val="17242C"/>
                </a:solidFill>
                <a:latin typeface="Arial"/>
                <a:ea typeface="Arial"/>
                <a:cs typeface="Arial"/>
              </a:rPr>
              <a:t>P(invicto) = P(Bayern × 2) × P(otros × 32)</a:t>
            </a:r>
          </a:p>
        </p:txBody>
      </p:sp>
      <p:sp>
        <p:nvSpPr>
          <p:cNvPr id="7" name="">
            <a:extLst xmlns:a="http://schemas.openxmlformats.org/drawingml/2006/main">
              <a:ext uri="{FF2B5EF4-FFF2-40B4-BE49-F238E27FC236}">
                <a16:creationId xmlns:a16="http://schemas.microsoft.com/office/drawing/2014/main" id="{A2FF221D-F5D1-41FC-8B2E-EBA4E724D707}"/>
              </a:ext>
            </a:extLst>
          </p:cNvPr>
          <p:cNvSpPr>
            <a:spLocks xmlns:a="http://schemas.openxmlformats.org/drawingml/2006/main" noGrp="1"/>
          </p:cNvSpPr>
          <p:nvPr/>
        </p:nvSpPr>
        <p:spPr>
          <a:xfrm xmlns:a="http://schemas.openxmlformats.org/drawingml/2006/main">
            <a:off x="609600" y="3009900"/>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42C"/>
                </a:solidFill>
                <a:latin typeface="Arial"/>
                <a:ea typeface="Arial"/>
                <a:cs typeface="Arial"/>
              </a:defRPr>
            </a:pPr>
            <a:r>
              <a:rPr sz="2325" b="0">
                <a:solidFill>
                  <a:srgbClr val="17242C"/>
                </a:solidFill>
                <a:latin typeface="Arial"/>
                <a:ea typeface="Arial"/>
                <a:cs typeface="Arial"/>
              </a:rPr>
              <a:t>Dos partidos ante Bayern: 11.74 %</a:t>
            </a:r>
          </a:p>
        </p:txBody>
      </p:sp>
      <p:sp>
        <p:nvSpPr>
          <p:cNvPr id="8" name="">
            <a:extLst xmlns:a="http://schemas.openxmlformats.org/drawingml/2006/main">
              <a:ext uri="{FF2B5EF4-FFF2-40B4-BE49-F238E27FC236}">
                <a16:creationId xmlns:a16="http://schemas.microsoft.com/office/drawing/2014/main" id="{3305A010-5367-4DD1-B440-330C4011885C}"/>
              </a:ext>
            </a:extLst>
          </p:cNvPr>
          <p:cNvSpPr>
            <a:spLocks xmlns:a="http://schemas.openxmlformats.org/drawingml/2006/main" noGrp="1"/>
          </p:cNvSpPr>
          <p:nvPr/>
        </p:nvSpPr>
        <p:spPr>
          <a:xfrm xmlns:a="http://schemas.openxmlformats.org/drawingml/2006/main">
            <a:off x="609600" y="3924300"/>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42C"/>
                </a:solidFill>
                <a:latin typeface="Arial"/>
                <a:ea typeface="Arial"/>
                <a:cs typeface="Arial"/>
              </a:defRPr>
            </a:pPr>
            <a:r>
              <a:rPr sz="2325" b="0">
                <a:solidFill>
                  <a:srgbClr val="17242C"/>
                </a:solidFill>
                <a:latin typeface="Arial"/>
                <a:ea typeface="Arial"/>
                <a:cs typeface="Arial"/>
              </a:rPr>
              <a:t>Otros 32 partidos: 7.892 × 10⁻⁶</a:t>
            </a:r>
          </a:p>
        </p:txBody>
      </p:sp>
      <p:sp>
        <p:nvSpPr>
          <p:cNvPr id="9" name="">
            <a:extLst xmlns:a="http://schemas.openxmlformats.org/drawingml/2006/main">
              <a:ext uri="{FF2B5EF4-FFF2-40B4-BE49-F238E27FC236}">
                <a16:creationId xmlns:a16="http://schemas.microsoft.com/office/drawing/2014/main" id="{4FC6A271-ECB9-4523-A18F-84F7175890D7}"/>
              </a:ext>
            </a:extLst>
          </p:cNvPr>
          <p:cNvSpPr>
            <a:spLocks xmlns:a="http://schemas.openxmlformats.org/drawingml/2006/main" noGrp="1"/>
          </p:cNvSpPr>
          <p:nvPr/>
        </p:nvSpPr>
        <p:spPr>
          <a:xfrm xmlns:a="http://schemas.openxmlformats.org/drawingml/2006/main">
            <a:off x="609600" y="4838700"/>
            <a:ext cx="10763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42C"/>
                </a:solidFill>
                <a:latin typeface="Arial"/>
                <a:ea typeface="Arial"/>
                <a:cs typeface="Arial"/>
              </a:defRPr>
            </a:pPr>
            <a:r>
              <a:rPr sz="2325" b="0">
                <a:solidFill>
                  <a:srgbClr val="17242C"/>
                </a:solidFill>
                <a:latin typeface="Arial"/>
                <a:ea typeface="Arial"/>
                <a:cs typeface="Arial"/>
              </a:rPr>
              <a:t>Temporada completa: 9.264 × 10⁻⁷</a:t>
            </a:r>
          </a:p>
        </p:txBody>
      </p:sp>
    </p:spTree>
    <p:extLst>
      <p:ext uri="{BB962C8B-B14F-4D97-AF65-F5344CB8AC3E}">
        <p14:creationId xmlns:p14="http://schemas.microsoft.com/office/powerpoint/2010/main" val="1349986142"/>
      </p:ext>
    </p:extLst>
  </p:cSld>
  <p:transition spd="slow" advClick="1">
    <p:fade/>
  </p:transition>
</p:sld>
</file>

<file path=ppt/slides/slide49.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D9106DB-B7FF-4B23-AB55-7AA2B1F35AB9}"/>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720A332F-1459-4A44-9486-449E51F4E88F}"/>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La binomial en el texto de referencia</a:t>
            </a:r>
          </a:p>
        </p:txBody>
      </p:sp>
      <p:sp>
        <p:nvSpPr>
          <p:cNvPr id="3" name="">
            <a:extLst xmlns:a="http://schemas.openxmlformats.org/drawingml/2006/main">
              <a:ext uri="{FF2B5EF4-FFF2-40B4-BE49-F238E27FC236}">
                <a16:creationId xmlns:a16="http://schemas.microsoft.com/office/drawing/2014/main" id="{131E97DE-A03B-4C40-8EF7-89CC8066D6FE}"/>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51</a:t>
            </a:r>
          </a:p>
        </p:txBody>
      </p:sp>
      <p:sp>
        <p:nvSpPr>
          <p:cNvPr id="4" name="">
            <a:extLst xmlns:a="http://schemas.openxmlformats.org/drawingml/2006/main">
              <a:ext uri="{FF2B5EF4-FFF2-40B4-BE49-F238E27FC236}">
                <a16:creationId xmlns:a16="http://schemas.microsoft.com/office/drawing/2014/main" id="{DE3213F6-0B43-4586-B84F-A7948B9AF94A}"/>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D93A4FC0-24C5-4005-8326-07268AFC346A}"/>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991e67718704d89"/>
          <a:stretch xmlns:a="http://schemas.openxmlformats.org/drawingml/2006/main"/>
        </p:blipFill>
        <p:spPr>
          <a:xfrm xmlns:a="http://schemas.openxmlformats.org/drawingml/2006/main">
            <a:off x="1609374" y="2124075"/>
            <a:ext cx="8935152" cy="8191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C3BEC41-2D35-4EAD-AE7B-B3A932D3FC86}"/>
              </a:ext>
            </a:extLst>
          </p:cNvPr>
          <p:cNvSpPr>
            <a:spLocks xmlns:a="http://schemas.openxmlformats.org/drawingml/2006/main" noGrp="1"/>
          </p:cNvSpPr>
          <p:nvPr/>
        </p:nvSpPr>
        <p:spPr>
          <a:xfrm xmlns:a="http://schemas.openxmlformats.org/drawingml/2006/main">
            <a:off x="742950" y="32099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42C"/>
                </a:solidFill>
                <a:latin typeface="Arial"/>
                <a:ea typeface="Arial"/>
                <a:cs typeface="Arial"/>
              </a:defRPr>
            </a:pPr>
            <a:r>
              <a:rPr sz="1425" b="0">
                <a:solidFill>
                  <a:srgbClr val="17242C"/>
                </a:solidFill>
                <a:latin typeface="Arial"/>
                <a:ea typeface="Arial"/>
                <a:cs typeface="Arial"/>
              </a:rPr>
              <a:t>Goldsman y Goldsman · capítulo 4 · p. 118 (p. 134 del PDF)</a:t>
            </a:r>
          </a:p>
        </p:txBody>
      </p:sp>
      <p:sp>
        <p:nvSpPr>
          <p:cNvPr id="8" name="">
            <a:extLst xmlns:a="http://schemas.openxmlformats.org/drawingml/2006/main">
              <a:ext uri="{FF2B5EF4-FFF2-40B4-BE49-F238E27FC236}">
                <a16:creationId xmlns:a16="http://schemas.microsoft.com/office/drawing/2014/main" id="{86D30536-B877-4936-B3B0-3A1C2662720A}"/>
              </a:ext>
            </a:extLst>
          </p:cNvPr>
          <p:cNvSpPr>
            <a:spLocks xmlns:a="http://schemas.openxmlformats.org/drawingml/2006/main" noGrp="1"/>
          </p:cNvSpPr>
          <p:nvPr/>
        </p:nvSpPr>
        <p:spPr>
          <a:xfrm xmlns:a="http://schemas.openxmlformats.org/drawingml/2006/main">
            <a:off x="666750" y="3724275"/>
            <a:ext cx="10763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El teorema establece que la suma de indicadores Bernoulli independientes con la misma probabilidad de éxito tiene distribución binomial. En nuestro caso, cada indicador representa una temporada invicta.</a:t>
            </a:r>
          </a:p>
        </p:txBody>
      </p:sp>
      <p:sp>
        <p:nvSpPr>
          <p:cNvPr id="9" name="">
            <a:extLst xmlns:a="http://schemas.openxmlformats.org/drawingml/2006/main">
              <a:ext uri="{FF2B5EF4-FFF2-40B4-BE49-F238E27FC236}">
                <a16:creationId xmlns:a16="http://schemas.microsoft.com/office/drawing/2014/main" id="{D9372C6D-5E82-4242-ACBD-8892DD2FF1A7}"/>
              </a:ext>
            </a:extLst>
          </p:cNvPr>
          <p:cNvSpPr>
            <a:spLocks xmlns:a="http://schemas.openxmlformats.org/drawingml/2006/main" noGrp="1"/>
          </p:cNvSpPr>
          <p:nvPr/>
        </p:nvSpPr>
        <p:spPr>
          <a:xfrm xmlns:a="http://schemas.openxmlformats.org/drawingml/2006/main">
            <a:off x="666750" y="4924425"/>
            <a:ext cx="10763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La fórmula se aplica a las 10 000 temporadas repetidas, no directamente a los 34 partidos: los rivales tienen probabilidades distintas. Esta diferencia explica por qué primero calculamos el producto del calendario y después modelamos el número de temporadas invictas.</a:t>
            </a:r>
          </a:p>
        </p:txBody>
      </p:sp>
    </p:spTree>
    <p:extLst>
      <p:ext uri="{BB962C8B-B14F-4D97-AF65-F5344CB8AC3E}">
        <p14:creationId xmlns:p14="http://schemas.microsoft.com/office/powerpoint/2010/main" val="1416037464"/>
      </p:ext>
    </p:extLst>
  </p:cSld>
  <p:transition spd="slow" advClick="1">
    <p:fade/>
  </p:transition>
</p:sld>
</file>

<file path=ppt/slides/slide50.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76B84A-8EE2-4291-9BEA-3690E685093C}"/>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E51D03B4-B6A3-4EDA-B258-178BF8BA0B1C}"/>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10 000 temporadas y ningún invicto</a:t>
            </a:r>
          </a:p>
        </p:txBody>
      </p:sp>
      <p:sp>
        <p:nvSpPr>
          <p:cNvPr id="3" name="">
            <a:extLst xmlns:a="http://schemas.openxmlformats.org/drawingml/2006/main">
              <a:ext uri="{FF2B5EF4-FFF2-40B4-BE49-F238E27FC236}">
                <a16:creationId xmlns:a16="http://schemas.microsoft.com/office/drawing/2014/main" id="{6030E639-0C0B-4C0B-8F47-6BC9EBA7E7EE}"/>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52</a:t>
            </a:r>
          </a:p>
        </p:txBody>
      </p:sp>
      <p:sp>
        <p:nvSpPr>
          <p:cNvPr id="4" name="">
            <a:extLst xmlns:a="http://schemas.openxmlformats.org/drawingml/2006/main">
              <a:ext uri="{FF2B5EF4-FFF2-40B4-BE49-F238E27FC236}">
                <a16:creationId xmlns:a16="http://schemas.microsoft.com/office/drawing/2014/main" id="{B317FFF1-CACF-4877-B45F-0E44CEB9D2BD}"/>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9C832216-FCBC-47E7-83CF-9E43B1EC8D90}"/>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877E6DCC-DD1E-45D2-A83F-53DA37F21C48}"/>
              </a:ext>
            </a:extLst>
          </p:cNvPr>
          <p:cNvSpPr>
            <a:spLocks xmlns:a="http://schemas.openxmlformats.org/drawingml/2006/main" noGrp="1"/>
          </p:cNvSpPr>
          <p:nvPr/>
        </p:nvSpPr>
        <p:spPr>
          <a:xfrm xmlns:a="http://schemas.openxmlformats.org/drawingml/2006/main">
            <a:off x="628650" y="18002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62835"/>
                </a:solidFill>
                <a:latin typeface="Arial"/>
                <a:ea typeface="Arial"/>
                <a:cs typeface="Arial"/>
              </a:defRPr>
            </a:pPr>
            <a:r>
              <a:rPr sz="1500" b="1">
                <a:solidFill>
                  <a:srgbClr val="B62835"/>
                </a:solidFill>
                <a:latin typeface="Arial"/>
                <a:ea typeface="Arial"/>
                <a:cs typeface="Arial"/>
              </a:rPr>
              <a:t>Temporadas por número de derrotas</a:t>
            </a:r>
          </a:p>
        </p:txBody>
      </p:sp>
      <p:graphicFrame>
        <p:nvGraphicFramePr>
          <p:cNvPr id="15" name="Chart"/>
          <p:cNvGraphicFramePr/>
          <p:nvPr/>
        </p:nvGraphicFramePr>
        <p:xfrm>
          <a:off xmlns:a="http://schemas.openxmlformats.org/drawingml/2006/main" x="619125" y="2219325"/>
          <a:ext xmlns:a="http://schemas.openxmlformats.org/drawingml/2006/main" cx="10858500" cy="3238500"/>
        </p:xfrm>
        <a:graphic xmlns:a="http://schemas.openxmlformats.org/drawingml/2006/main">
          <a:graphicData uri="http://schemas.openxmlformats.org/drawingml/2006/chart">
            <c:chart xmlns:r="http://schemas.openxmlformats.org/officeDocument/2006/relationships" xmlns:c="http://schemas.openxmlformats.org/drawingml/2006/chart" r:id="Rb2249cc90f2f41fb"/>
          </a:graphicData>
        </a:graphic>
      </p:graphicFrame>
      <p:sp>
        <p:nvSpPr>
          <p:cNvPr id="8" name="">
            <a:extLst xmlns:a="http://schemas.openxmlformats.org/drawingml/2006/main">
              <a:ext uri="{FF2B5EF4-FFF2-40B4-BE49-F238E27FC236}">
                <a16:creationId xmlns:a16="http://schemas.microsoft.com/office/drawing/2014/main" id="{2F49ED16-D26B-4742-AEA3-125340F7FE9C}"/>
              </a:ext>
            </a:extLst>
          </p:cNvPr>
          <p:cNvSpPr>
            <a:spLocks xmlns:a="http://schemas.openxmlformats.org/drawingml/2006/main" noGrp="1"/>
          </p:cNvSpPr>
          <p:nvPr/>
        </p:nvSpPr>
        <p:spPr>
          <a:xfrm xmlns:a="http://schemas.openxmlformats.org/drawingml/2006/main">
            <a:off x="628650" y="58293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Esperábamos solo 0.0093 invictos en 10 000 repeticiones</a:t>
            </a:r>
          </a:p>
        </p:txBody>
      </p:sp>
    </p:spTree>
    <p:extLst>
      <p:ext uri="{BB962C8B-B14F-4D97-AF65-F5344CB8AC3E}">
        <p14:creationId xmlns:p14="http://schemas.microsoft.com/office/powerpoint/2010/main" val="1488666296"/>
      </p:ext>
    </p:extLst>
  </p:cSld>
  <p:transition spd="slow" advClick="1">
    <p:fade/>
  </p:transition>
</p:sld>
</file>

<file path=ppt/slides/slide51.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069DF54-700A-42F2-A752-978EEAC73ADC}"/>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F0D68D88-5AA2-4102-A574-9A02914B095B}"/>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Cero observaciones no significa imposibilidad</a:t>
            </a:r>
          </a:p>
        </p:txBody>
      </p:sp>
      <p:sp>
        <p:nvSpPr>
          <p:cNvPr id="3" name="">
            <a:extLst xmlns:a="http://schemas.openxmlformats.org/drawingml/2006/main">
              <a:ext uri="{FF2B5EF4-FFF2-40B4-BE49-F238E27FC236}">
                <a16:creationId xmlns:a16="http://schemas.microsoft.com/office/drawing/2014/main" id="{152BB2C1-38C4-441E-BEDC-5762175F626D}"/>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53</a:t>
            </a:r>
          </a:p>
        </p:txBody>
      </p:sp>
      <p:sp>
        <p:nvSpPr>
          <p:cNvPr id="4" name="">
            <a:extLst xmlns:a="http://schemas.openxmlformats.org/drawingml/2006/main">
              <a:ext uri="{FF2B5EF4-FFF2-40B4-BE49-F238E27FC236}">
                <a16:creationId xmlns:a16="http://schemas.microsoft.com/office/drawing/2014/main" id="{B2698441-71F0-4AD4-B399-47D8D142F7F0}"/>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5A0FC49E-BD53-4473-84A0-9E7C438FF164}"/>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D981AD39-0D4E-40A9-A509-9CD12693BD85}"/>
              </a:ext>
            </a:extLst>
          </p:cNvPr>
          <p:cNvSpPr>
            <a:spLocks xmlns:a="http://schemas.openxmlformats.org/drawingml/2006/main" noGrp="1"/>
          </p:cNvSpPr>
          <p:nvPr/>
        </p:nvSpPr>
        <p:spPr>
          <a:xfrm xmlns:a="http://schemas.openxmlformats.org/drawingml/2006/main">
            <a:off x="609600" y="198120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C"/>
                </a:solidFill>
                <a:latin typeface="Arial"/>
                <a:ea typeface="Arial"/>
                <a:cs typeface="Arial"/>
              </a:defRPr>
            </a:pPr>
            <a:r>
              <a:rPr sz="2175" b="0">
                <a:solidFill>
                  <a:srgbClr val="17242C"/>
                </a:solidFill>
                <a:latin typeface="Arial"/>
                <a:ea typeface="Arial"/>
                <a:cs typeface="Arial"/>
              </a:rPr>
              <a:t>Producto analítico: 9.264 × 10⁻⁷</a:t>
            </a:r>
          </a:p>
        </p:txBody>
      </p:sp>
      <p:sp>
        <p:nvSpPr>
          <p:cNvPr id="7" name="">
            <a:extLst xmlns:a="http://schemas.openxmlformats.org/drawingml/2006/main">
              <a:ext uri="{FF2B5EF4-FFF2-40B4-BE49-F238E27FC236}">
                <a16:creationId xmlns:a16="http://schemas.microsoft.com/office/drawing/2014/main" id="{37B8805D-17E7-42EF-8EC5-584452A873CD}"/>
              </a:ext>
            </a:extLst>
          </p:cNvPr>
          <p:cNvSpPr>
            <a:spLocks xmlns:a="http://schemas.openxmlformats.org/drawingml/2006/main" noGrp="1"/>
          </p:cNvSpPr>
          <p:nvPr/>
        </p:nvSpPr>
        <p:spPr>
          <a:xfrm xmlns:a="http://schemas.openxmlformats.org/drawingml/2006/main">
            <a:off x="609600" y="294322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C"/>
                </a:solidFill>
                <a:latin typeface="Arial"/>
                <a:ea typeface="Arial"/>
                <a:cs typeface="Arial"/>
              </a:defRPr>
            </a:pPr>
            <a:r>
              <a:rPr sz="2175" b="0">
                <a:solidFill>
                  <a:srgbClr val="17242C"/>
                </a:solidFill>
                <a:latin typeface="Arial"/>
                <a:ea typeface="Arial"/>
                <a:cs typeface="Arial"/>
              </a:rPr>
              <a:t>IC binomial del 95 %: 0 a 0.04 %</a:t>
            </a:r>
          </a:p>
        </p:txBody>
      </p:sp>
      <p:sp>
        <p:nvSpPr>
          <p:cNvPr id="8" name="">
            <a:extLst xmlns:a="http://schemas.openxmlformats.org/drawingml/2006/main">
              <a:ext uri="{FF2B5EF4-FFF2-40B4-BE49-F238E27FC236}">
                <a16:creationId xmlns:a16="http://schemas.microsoft.com/office/drawing/2014/main" id="{F564CE41-1B58-4443-8EFA-B213E4C036C5}"/>
              </a:ext>
            </a:extLst>
          </p:cNvPr>
          <p:cNvSpPr>
            <a:spLocks xmlns:a="http://schemas.openxmlformats.org/drawingml/2006/main" noGrp="1"/>
          </p:cNvSpPr>
          <p:nvPr/>
        </p:nvSpPr>
        <p:spPr>
          <a:xfrm xmlns:a="http://schemas.openxmlformats.org/drawingml/2006/main">
            <a:off x="609600" y="390525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C"/>
                </a:solidFill>
                <a:latin typeface="Arial"/>
                <a:ea typeface="Arial"/>
                <a:cs typeface="Arial"/>
              </a:defRPr>
            </a:pPr>
            <a:r>
              <a:rPr sz="2175" b="0">
                <a:solidFill>
                  <a:srgbClr val="17242C"/>
                </a:solidFill>
                <a:latin typeface="Arial"/>
                <a:ea typeface="Arial"/>
                <a:cs typeface="Arial"/>
              </a:rPr>
              <a:t>P(no observar un invicto) = 99.08 %</a:t>
            </a:r>
          </a:p>
        </p:txBody>
      </p:sp>
      <p:sp>
        <p:nvSpPr>
          <p:cNvPr id="9" name="">
            <a:extLst xmlns:a="http://schemas.openxmlformats.org/drawingml/2006/main">
              <a:ext uri="{FF2B5EF4-FFF2-40B4-BE49-F238E27FC236}">
                <a16:creationId xmlns:a16="http://schemas.microsoft.com/office/drawing/2014/main" id="{92C37FC7-CC61-4797-95F1-465C6BF6A749}"/>
              </a:ext>
            </a:extLst>
          </p:cNvPr>
          <p:cNvSpPr>
            <a:spLocks xmlns:a="http://schemas.openxmlformats.org/drawingml/2006/main" noGrp="1"/>
          </p:cNvSpPr>
          <p:nvPr/>
        </p:nvSpPr>
        <p:spPr>
          <a:xfrm xmlns:a="http://schemas.openxmlformats.org/drawingml/2006/main">
            <a:off x="609600" y="48672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42C"/>
                </a:solidFill>
                <a:latin typeface="Arial"/>
                <a:ea typeface="Arial"/>
                <a:cs typeface="Arial"/>
              </a:defRPr>
            </a:pPr>
            <a:r>
              <a:rPr sz="2175" b="0">
                <a:solidFill>
                  <a:srgbClr val="17242C"/>
                </a:solidFill>
                <a:latin typeface="Arial"/>
                <a:ea typeface="Arial"/>
                <a:cs typeface="Arial"/>
              </a:rPr>
              <a:t>El intervalo mide error de simulación, no error del modelo</a:t>
            </a:r>
          </a:p>
        </p:txBody>
      </p:sp>
    </p:spTree>
    <p:extLst>
      <p:ext uri="{BB962C8B-B14F-4D97-AF65-F5344CB8AC3E}">
        <p14:creationId xmlns:p14="http://schemas.microsoft.com/office/powerpoint/2010/main" val="458642222"/>
      </p:ext>
    </p:extLst>
  </p:cSld>
  <p:transition spd="slow" advClick="1">
    <p:fade/>
  </p:transition>
</p:sld>
</file>

<file path=ppt/slides/slide52.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A77D057-46F4-457B-86F5-1169EC876382}"/>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0FA86C3C-CE19-4FD2-9C24-B18511F12832}"/>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La fórmula Poisson y las cero derrotas</a:t>
            </a:r>
          </a:p>
        </p:txBody>
      </p:sp>
      <p:sp>
        <p:nvSpPr>
          <p:cNvPr id="3" name="">
            <a:extLst xmlns:a="http://schemas.openxmlformats.org/drawingml/2006/main">
              <a:ext uri="{FF2B5EF4-FFF2-40B4-BE49-F238E27FC236}">
                <a16:creationId xmlns:a16="http://schemas.microsoft.com/office/drawing/2014/main" id="{284DEFFB-8C09-43D9-AA52-F8C56A0273E8}"/>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54</a:t>
            </a:r>
          </a:p>
        </p:txBody>
      </p:sp>
      <p:sp>
        <p:nvSpPr>
          <p:cNvPr id="4" name="">
            <a:extLst xmlns:a="http://schemas.openxmlformats.org/drawingml/2006/main">
              <a:ext uri="{FF2B5EF4-FFF2-40B4-BE49-F238E27FC236}">
                <a16:creationId xmlns:a16="http://schemas.microsoft.com/office/drawing/2014/main" id="{F6776C2E-B447-4EC6-AD09-54AE1222CD07}"/>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8748CE60-ECD2-4D0B-9C34-450621F05AE8}"/>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7d8703384444ecc"/>
          <a:stretch xmlns:a="http://schemas.openxmlformats.org/drawingml/2006/main"/>
        </p:blipFill>
        <p:spPr>
          <a:xfrm xmlns:a="http://schemas.openxmlformats.org/drawingml/2006/main">
            <a:off x="742950" y="2144681"/>
            <a:ext cx="10668000" cy="69221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F1B2B1A-7963-4BF4-84E2-ECAACAFECB0F}"/>
              </a:ext>
            </a:extLst>
          </p:cNvPr>
          <p:cNvSpPr>
            <a:spLocks xmlns:a="http://schemas.openxmlformats.org/drawingml/2006/main" noGrp="1"/>
          </p:cNvSpPr>
          <p:nvPr/>
        </p:nvSpPr>
        <p:spPr>
          <a:xfrm xmlns:a="http://schemas.openxmlformats.org/drawingml/2006/main">
            <a:off x="742950" y="314325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42C"/>
                </a:solidFill>
                <a:latin typeface="Arial"/>
                <a:ea typeface="Arial"/>
                <a:cs typeface="Arial"/>
              </a:defRPr>
            </a:pPr>
            <a:r>
              <a:rPr sz="1425" b="0">
                <a:solidFill>
                  <a:srgbClr val="17242C"/>
                </a:solidFill>
                <a:latin typeface="Arial"/>
                <a:ea typeface="Arial"/>
                <a:cs typeface="Arial"/>
              </a:rPr>
              <a:t>Goldsman y Goldsman · capítulo 4 · p. 124 (p. 140 del PDF)</a:t>
            </a:r>
          </a:p>
        </p:txBody>
      </p:sp>
      <p:sp>
        <p:nvSpPr>
          <p:cNvPr id="8" name="">
            <a:extLst xmlns:a="http://schemas.openxmlformats.org/drawingml/2006/main">
              <a:ext uri="{FF2B5EF4-FFF2-40B4-BE49-F238E27FC236}">
                <a16:creationId xmlns:a16="http://schemas.microsoft.com/office/drawing/2014/main" id="{D462040E-54E7-475F-BE77-6F4943DB44B9}"/>
              </a:ext>
            </a:extLst>
          </p:cNvPr>
          <p:cNvSpPr>
            <a:spLocks xmlns:a="http://schemas.openxmlformats.org/drawingml/2006/main" noGrp="1"/>
          </p:cNvSpPr>
          <p:nvPr/>
        </p:nvSpPr>
        <p:spPr>
          <a:xfrm xmlns:a="http://schemas.openxmlformats.org/drawingml/2006/main">
            <a:off x="666750" y="3724275"/>
            <a:ext cx="10763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El texto proporciona la función de masa de Poisson. Para estudiar un campeón invicto sustituimos k = 0: la potencia λ⁰ y el factorial 0! valen uno, de modo que queda P(D = 0) = exp(−λ).</a:t>
            </a:r>
          </a:p>
        </p:txBody>
      </p:sp>
      <p:sp>
        <p:nvSpPr>
          <p:cNvPr id="9" name="">
            <a:extLst xmlns:a="http://schemas.openxmlformats.org/drawingml/2006/main">
              <a:ext uri="{FF2B5EF4-FFF2-40B4-BE49-F238E27FC236}">
                <a16:creationId xmlns:a16="http://schemas.microsoft.com/office/drawing/2014/main" id="{04C7AEE2-F0E4-40EF-B4EB-63DCB68F7C76}"/>
              </a:ext>
            </a:extLst>
          </p:cNvPr>
          <p:cNvSpPr>
            <a:spLocks xmlns:a="http://schemas.openxmlformats.org/drawingml/2006/main" noGrp="1"/>
          </p:cNvSpPr>
          <p:nvPr/>
        </p:nvSpPr>
        <p:spPr>
          <a:xfrm xmlns:a="http://schemas.openxmlformats.org/drawingml/2006/main">
            <a:off x="666750" y="4924425"/>
            <a:ext cx="10763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Después sustituimos λ por la media histórica de derrotas. La operación es una estimación bajo el supuesto Poisson; no convierte la media observada en un parámetro conocido ni garantiza que esa distribución describa perfectamente todas las temporadas.</a:t>
            </a:r>
          </a:p>
        </p:txBody>
      </p:sp>
    </p:spTree>
    <p:extLst>
      <p:ext uri="{BB962C8B-B14F-4D97-AF65-F5344CB8AC3E}">
        <p14:creationId xmlns:p14="http://schemas.microsoft.com/office/powerpoint/2010/main" val="245206938"/>
      </p:ext>
    </p:extLst>
  </p:cSld>
  <p:transition spd="slow" advClick="1">
    <p:fade/>
  </p:transition>
</p:sld>
</file>

<file path=ppt/slides/slide53.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504FBA-6213-4F91-94DF-48022AD47B1D}"/>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CE7529D4-7B14-41B3-A8E0-777D94B8D105}"/>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Cero derrotas de un campeón histórico</a:t>
            </a:r>
          </a:p>
        </p:txBody>
      </p:sp>
      <p:sp>
        <p:nvSpPr>
          <p:cNvPr id="3" name="">
            <a:extLst xmlns:a="http://schemas.openxmlformats.org/drawingml/2006/main">
              <a:ext uri="{FF2B5EF4-FFF2-40B4-BE49-F238E27FC236}">
                <a16:creationId xmlns:a16="http://schemas.microsoft.com/office/drawing/2014/main" id="{691D1E91-2441-4C74-8C0D-3FF08B3E1912}"/>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55</a:t>
            </a:r>
          </a:p>
        </p:txBody>
      </p:sp>
      <p:sp>
        <p:nvSpPr>
          <p:cNvPr id="4" name="">
            <a:extLst xmlns:a="http://schemas.openxmlformats.org/drawingml/2006/main">
              <a:ext uri="{FF2B5EF4-FFF2-40B4-BE49-F238E27FC236}">
                <a16:creationId xmlns:a16="http://schemas.microsoft.com/office/drawing/2014/main" id="{0C4193E9-AC37-4087-BF0B-A84A68A996FF}"/>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8924E654-4DB0-463F-A262-5A8E726A9D63}"/>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9EA636F2-B9CD-4A84-ABA5-1427C2CC6C62}"/>
              </a:ext>
            </a:extLst>
          </p:cNvPr>
          <p:cNvSpPr>
            <a:spLocks xmlns:a="http://schemas.openxmlformats.org/drawingml/2006/main" noGrp="1"/>
          </p:cNvSpPr>
          <p:nvPr/>
        </p:nvSpPr>
        <p:spPr>
          <a:xfrm xmlns:a="http://schemas.openxmlformats.org/drawingml/2006/main">
            <a:off x="628650" y="18002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62835"/>
                </a:solidFill>
                <a:latin typeface="Arial"/>
                <a:ea typeface="Arial"/>
                <a:cs typeface="Arial"/>
              </a:defRPr>
            </a:pPr>
            <a:r>
              <a:rPr sz="1500" b="1">
                <a:solidFill>
                  <a:srgbClr val="B62835"/>
                </a:solidFill>
                <a:latin typeface="Arial"/>
                <a:ea typeface="Arial"/>
                <a:cs typeface="Arial"/>
              </a:rPr>
              <a:t>P de cero derrotas (%)</a:t>
            </a:r>
          </a:p>
        </p:txBody>
      </p:sp>
      <p:graphicFrame>
        <p:nvGraphicFramePr>
          <p:cNvPr id="15" name="Chart"/>
          <p:cNvGraphicFramePr/>
          <p:nvPr/>
        </p:nvGraphicFramePr>
        <p:xfrm>
          <a:off xmlns:a="http://schemas.openxmlformats.org/drawingml/2006/main" x="619125" y="2219325"/>
          <a:ext xmlns:a="http://schemas.openxmlformats.org/drawingml/2006/main" cx="10858500" cy="3238500"/>
        </p:xfrm>
        <a:graphic xmlns:a="http://schemas.openxmlformats.org/drawingml/2006/main">
          <a:graphicData uri="http://schemas.openxmlformats.org/drawingml/2006/chart">
            <c:chart xmlns:r="http://schemas.openxmlformats.org/officeDocument/2006/relationships" xmlns:c="http://schemas.openxmlformats.org/drawingml/2006/chart" r:id="R410b7de3fd574d43"/>
          </a:graphicData>
        </a:graphic>
      </p:graphicFrame>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ac632d5d5f740ae"/>
          <a:stretch xmlns:a="http://schemas.openxmlformats.org/drawingml/2006/main"/>
        </p:blipFill>
        <p:spPr>
          <a:xfrm xmlns:a="http://schemas.openxmlformats.org/drawingml/2006/main">
            <a:off x="4917814" y="5794203"/>
            <a:ext cx="2165873" cy="413094"/>
          </a:xfrm>
          <a:prstGeom xmlns:a="http://schemas.openxmlformats.org/drawingml/2006/main" prst="rect">
            <a:avLst/>
          </a:prstGeom>
        </p:spPr>
      </p:pic>
    </p:spTree>
    <p:extLst>
      <p:ext uri="{BB962C8B-B14F-4D97-AF65-F5344CB8AC3E}">
        <p14:creationId xmlns:p14="http://schemas.microsoft.com/office/powerpoint/2010/main" val="392912645"/>
      </p:ext>
    </p:extLst>
  </p:cSld>
  <p:transition spd="slow" advClick="1">
    <p:fade/>
  </p:transition>
</p:sld>
</file>

<file path=ppt/slides/slide54.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89F560E-049E-42B4-8FED-B98828304339}"/>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24BB4BB3-C3BD-4A38-9BDB-911315EE7BA9}"/>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Un equipo antes del torneo y un campeón histórico</a:t>
            </a:r>
          </a:p>
        </p:txBody>
      </p:sp>
      <p:sp>
        <p:nvSpPr>
          <p:cNvPr id="3" name="">
            <a:extLst xmlns:a="http://schemas.openxmlformats.org/drawingml/2006/main">
              <a:ext uri="{FF2B5EF4-FFF2-40B4-BE49-F238E27FC236}">
                <a16:creationId xmlns:a16="http://schemas.microsoft.com/office/drawing/2014/main" id="{5BAAF5A8-4BEF-497E-AAB8-3CC5CC4A049B}"/>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56</a:t>
            </a:r>
          </a:p>
        </p:txBody>
      </p:sp>
      <p:sp>
        <p:nvSpPr>
          <p:cNvPr id="4" name="">
            <a:extLst xmlns:a="http://schemas.openxmlformats.org/drawingml/2006/main">
              <a:ext uri="{FF2B5EF4-FFF2-40B4-BE49-F238E27FC236}">
                <a16:creationId xmlns:a16="http://schemas.microsoft.com/office/drawing/2014/main" id="{89C7665C-AABB-4243-AE68-27219CA5432C}"/>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DA521078-F536-435B-8DAF-65414133E76F}"/>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0BC59B0A-A571-490D-B2D5-D7CD535FCD0B}"/>
              </a:ext>
            </a:extLst>
          </p:cNvPr>
          <p:cNvSpPr>
            <a:spLocks xmlns:a="http://schemas.openxmlformats.org/drawingml/2006/main" noGrp="1"/>
          </p:cNvSpPr>
          <p:nvPr/>
        </p:nvSpPr>
        <p:spPr>
          <a:xfrm xmlns:a="http://schemas.openxmlformats.org/drawingml/2006/main">
            <a:off x="609600" y="198120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C"/>
                </a:solidFill>
                <a:latin typeface="Arial"/>
                <a:ea typeface="Arial"/>
                <a:cs typeface="Arial"/>
              </a:defRPr>
            </a:pPr>
            <a:r>
              <a:rPr sz="2100" b="0">
                <a:solidFill>
                  <a:srgbClr val="17242C"/>
                </a:solidFill>
                <a:latin typeface="Arial"/>
                <a:ea typeface="Arial"/>
                <a:cs typeface="Arial"/>
              </a:rPr>
              <a:t>Elo: un equipo concreto antes de disputar 34 partidos</a:t>
            </a:r>
          </a:p>
        </p:txBody>
      </p:sp>
      <p:sp>
        <p:nvSpPr>
          <p:cNvPr id="7" name="">
            <a:extLst xmlns:a="http://schemas.openxmlformats.org/drawingml/2006/main">
              <a:ext uri="{FF2B5EF4-FFF2-40B4-BE49-F238E27FC236}">
                <a16:creationId xmlns:a16="http://schemas.microsoft.com/office/drawing/2014/main" id="{D8D51F64-5322-4AFE-8E0C-1B445D53A043}"/>
              </a:ext>
            </a:extLst>
          </p:cNvPr>
          <p:cNvSpPr>
            <a:spLocks xmlns:a="http://schemas.openxmlformats.org/drawingml/2006/main" noGrp="1"/>
          </p:cNvSpPr>
          <p:nvPr/>
        </p:nvSpPr>
        <p:spPr>
          <a:xfrm xmlns:a="http://schemas.openxmlformats.org/drawingml/2006/main">
            <a:off x="609600" y="294322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C"/>
                </a:solidFill>
                <a:latin typeface="Arial"/>
                <a:ea typeface="Arial"/>
                <a:cs typeface="Arial"/>
              </a:defRPr>
            </a:pPr>
            <a:r>
              <a:rPr sz="2100" b="0">
                <a:solidFill>
                  <a:srgbClr val="17242C"/>
                </a:solidFill>
                <a:latin typeface="Arial"/>
                <a:ea typeface="Arial"/>
                <a:cs typeface="Arial"/>
              </a:rPr>
              <a:t>Poisson histórico: un equipo que ya sabemos que fue campeón</a:t>
            </a:r>
          </a:p>
        </p:txBody>
      </p:sp>
      <p:sp>
        <p:nvSpPr>
          <p:cNvPr id="8" name="">
            <a:extLst xmlns:a="http://schemas.openxmlformats.org/drawingml/2006/main">
              <a:ext uri="{FF2B5EF4-FFF2-40B4-BE49-F238E27FC236}">
                <a16:creationId xmlns:a16="http://schemas.microsoft.com/office/drawing/2014/main" id="{06C2BBA8-CBA6-42C6-927E-1AC2C33C9E51}"/>
              </a:ext>
            </a:extLst>
          </p:cNvPr>
          <p:cNvSpPr>
            <a:spLocks xmlns:a="http://schemas.openxmlformats.org/drawingml/2006/main" noGrp="1"/>
          </p:cNvSpPr>
          <p:nvPr/>
        </p:nvSpPr>
        <p:spPr>
          <a:xfrm xmlns:a="http://schemas.openxmlformats.org/drawingml/2006/main">
            <a:off x="609600" y="390525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C"/>
                </a:solidFill>
                <a:latin typeface="Arial"/>
                <a:ea typeface="Arial"/>
                <a:cs typeface="Arial"/>
              </a:defRPr>
            </a:pPr>
            <a:r>
              <a:rPr sz="2100" b="0">
                <a:solidFill>
                  <a:srgbClr val="17242C"/>
                </a:solidFill>
                <a:latin typeface="Arial"/>
                <a:ea typeface="Arial"/>
                <a:cs typeface="Arial"/>
              </a:rPr>
              <a:t>Bayern promedia 4.13 derrotas y otros campeones, 5.04</a:t>
            </a:r>
          </a:p>
        </p:txBody>
      </p:sp>
      <p:sp>
        <p:nvSpPr>
          <p:cNvPr id="9" name="">
            <a:extLst xmlns:a="http://schemas.openxmlformats.org/drawingml/2006/main">
              <a:ext uri="{FF2B5EF4-FFF2-40B4-BE49-F238E27FC236}">
                <a16:creationId xmlns:a16="http://schemas.microsoft.com/office/drawing/2014/main" id="{5A5DB2DC-EB9E-42DA-88B0-A2AE9C99E76B}"/>
              </a:ext>
            </a:extLst>
          </p:cNvPr>
          <p:cNvSpPr>
            <a:spLocks xmlns:a="http://schemas.openxmlformats.org/drawingml/2006/main" noGrp="1"/>
          </p:cNvSpPr>
          <p:nvPr/>
        </p:nvSpPr>
        <p:spPr>
          <a:xfrm xmlns:a="http://schemas.openxmlformats.org/drawingml/2006/main">
            <a:off x="609600" y="48672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C"/>
                </a:solidFill>
                <a:latin typeface="Arial"/>
                <a:ea typeface="Arial"/>
                <a:cs typeface="Arial"/>
              </a:defRPr>
            </a:pPr>
            <a:r>
              <a:rPr sz="2100" b="0">
                <a:solidFill>
                  <a:srgbClr val="17242C"/>
                </a:solidFill>
                <a:latin typeface="Arial"/>
                <a:ea typeface="Arial"/>
                <a:cs typeface="Arial"/>
              </a:rPr>
              <a:t>La muestra tiene subdispersión: la binomial negativa no la corrige</a:t>
            </a:r>
          </a:p>
        </p:txBody>
      </p:sp>
    </p:spTree>
    <p:extLst>
      <p:ext uri="{BB962C8B-B14F-4D97-AF65-F5344CB8AC3E}">
        <p14:creationId xmlns:p14="http://schemas.microsoft.com/office/powerpoint/2010/main" val="783467886"/>
      </p:ext>
    </p:extLst>
  </p:cSld>
  <p:transition spd="slow" advClick="1">
    <p:fade/>
  </p:transition>
</p:sld>
</file>

<file path=ppt/slides/slide55.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FD47274-76AA-4795-AFBA-6D87E4061D2B}"/>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3343DD76-4BE1-4BE7-9C4D-CE73B5A58630}"/>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Cuatro partidos salvaron el invicto</a:t>
            </a:r>
          </a:p>
        </p:txBody>
      </p:sp>
      <p:sp>
        <p:nvSpPr>
          <p:cNvPr id="3" name="">
            <a:extLst xmlns:a="http://schemas.openxmlformats.org/drawingml/2006/main">
              <a:ext uri="{FF2B5EF4-FFF2-40B4-BE49-F238E27FC236}">
                <a16:creationId xmlns:a16="http://schemas.microsoft.com/office/drawing/2014/main" id="{9079D19A-9AC5-4C45-A7CE-30C9A8E30B67}"/>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57</a:t>
            </a:r>
          </a:p>
        </p:txBody>
      </p:sp>
      <p:sp>
        <p:nvSpPr>
          <p:cNvPr id="4" name="">
            <a:extLst xmlns:a="http://schemas.openxmlformats.org/drawingml/2006/main">
              <a:ext uri="{FF2B5EF4-FFF2-40B4-BE49-F238E27FC236}">
                <a16:creationId xmlns:a16="http://schemas.microsoft.com/office/drawing/2014/main" id="{0CC5F58C-7F1E-4142-A7A5-4D690115E4A7}"/>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E13AE4D6-54A6-46AA-B15A-C46CEFB22C85}"/>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2A5E11E5-6A40-4567-A03E-7E64E28730FD}"/>
              </a:ext>
            </a:extLst>
          </p:cNvPr>
          <p:cNvSpPr>
            <a:spLocks xmlns:a="http://schemas.openxmlformats.org/drawingml/2006/main" noGrp="1"/>
          </p:cNvSpPr>
          <p:nvPr/>
        </p:nvSpPr>
        <p:spPr>
          <a:xfrm xmlns:a="http://schemas.openxmlformats.org/drawingml/2006/main">
            <a:off x="609600" y="198120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Bayern · Palacios · 93:46 · empate 2–2</a:t>
            </a:r>
          </a:p>
        </p:txBody>
      </p:sp>
      <p:sp>
        <p:nvSpPr>
          <p:cNvPr id="7" name="">
            <a:extLst xmlns:a="http://schemas.openxmlformats.org/drawingml/2006/main">
              <a:ext uri="{FF2B5EF4-FFF2-40B4-BE49-F238E27FC236}">
                <a16:creationId xmlns:a16="http://schemas.microsoft.com/office/drawing/2014/main" id="{E70E26F8-8751-4788-9D29-D05F6BB51845}"/>
              </a:ext>
            </a:extLst>
          </p:cNvPr>
          <p:cNvSpPr>
            <a:spLocks xmlns:a="http://schemas.openxmlformats.org/drawingml/2006/main" noGrp="1"/>
          </p:cNvSpPr>
          <p:nvPr/>
        </p:nvSpPr>
        <p:spPr>
          <a:xfrm xmlns:a="http://schemas.openxmlformats.org/drawingml/2006/main">
            <a:off x="609600" y="294322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Hoffenheim · Andrich · 87:24 · victoria 2–1</a:t>
            </a:r>
          </a:p>
        </p:txBody>
      </p:sp>
      <p:sp>
        <p:nvSpPr>
          <p:cNvPr id="8" name="">
            <a:extLst xmlns:a="http://schemas.openxmlformats.org/drawingml/2006/main">
              <a:ext uri="{FF2B5EF4-FFF2-40B4-BE49-F238E27FC236}">
                <a16:creationId xmlns:a16="http://schemas.microsoft.com/office/drawing/2014/main" id="{ED62F433-DAD0-4DF4-ACFE-A22530ECF7A5}"/>
              </a:ext>
            </a:extLst>
          </p:cNvPr>
          <p:cNvSpPr>
            <a:spLocks xmlns:a="http://schemas.openxmlformats.org/drawingml/2006/main" noGrp="1"/>
          </p:cNvSpPr>
          <p:nvPr/>
        </p:nvSpPr>
        <p:spPr>
          <a:xfrm xmlns:a="http://schemas.openxmlformats.org/drawingml/2006/main">
            <a:off x="609600" y="390525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Dortmund · Stanišić · 96:52 · empate 1–1</a:t>
            </a:r>
          </a:p>
        </p:txBody>
      </p:sp>
      <p:sp>
        <p:nvSpPr>
          <p:cNvPr id="9" name="">
            <a:extLst xmlns:a="http://schemas.openxmlformats.org/drawingml/2006/main">
              <a:ext uri="{FF2B5EF4-FFF2-40B4-BE49-F238E27FC236}">
                <a16:creationId xmlns:a16="http://schemas.microsoft.com/office/drawing/2014/main" id="{55FC2786-63FE-4E0D-82BE-F96702C8DCA6}"/>
              </a:ext>
            </a:extLst>
          </p:cNvPr>
          <p:cNvSpPr>
            <a:spLocks xmlns:a="http://schemas.openxmlformats.org/drawingml/2006/main" noGrp="1"/>
          </p:cNvSpPr>
          <p:nvPr/>
        </p:nvSpPr>
        <p:spPr>
          <a:xfrm xmlns:a="http://schemas.openxmlformats.org/drawingml/2006/main">
            <a:off x="609600" y="48672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Stuttgart · Andrich · 95:59 · empate 2–2</a:t>
            </a:r>
          </a:p>
        </p:txBody>
      </p:sp>
    </p:spTree>
    <p:extLst>
      <p:ext uri="{BB962C8B-B14F-4D97-AF65-F5344CB8AC3E}">
        <p14:creationId xmlns:p14="http://schemas.microsoft.com/office/powerpoint/2010/main" val="285912401"/>
      </p:ext>
    </p:extLst>
  </p:cSld>
  <p:transition spd="slow" advClick="1">
    <p:fade/>
  </p:transition>
</p:sld>
</file>

<file path=ppt/slides/slide56.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380943-AE0F-4E86-901A-06F7FA0E8C16}"/>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B9DBD723-A5B6-44EF-954F-0C832C99ECD1}"/>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La fragilidad de los rescates</a:t>
            </a:r>
          </a:p>
        </p:txBody>
      </p:sp>
      <p:sp>
        <p:nvSpPr>
          <p:cNvPr id="3" name="">
            <a:extLst xmlns:a="http://schemas.openxmlformats.org/drawingml/2006/main">
              <a:ext uri="{FF2B5EF4-FFF2-40B4-BE49-F238E27FC236}">
                <a16:creationId xmlns:a16="http://schemas.microsoft.com/office/drawing/2014/main" id="{C9F3F3BC-6CF4-4C54-B932-B49D3A0251E9}"/>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58</a:t>
            </a:r>
          </a:p>
        </p:txBody>
      </p:sp>
      <p:sp>
        <p:nvSpPr>
          <p:cNvPr id="4" name="">
            <a:extLst xmlns:a="http://schemas.openxmlformats.org/drawingml/2006/main">
              <a:ext uri="{FF2B5EF4-FFF2-40B4-BE49-F238E27FC236}">
                <a16:creationId xmlns:a16="http://schemas.microsoft.com/office/drawing/2014/main" id="{D1B61B58-70A4-425E-8E32-1035551681BB}"/>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7D0081AB-5987-42FF-AB29-E84F1754BB87}"/>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8AA34A94-8FD4-4A75-B453-85817049E8FD}"/>
              </a:ext>
            </a:extLst>
          </p:cNvPr>
          <p:cNvSpPr>
            <a:spLocks xmlns:a="http://schemas.openxmlformats.org/drawingml/2006/main" noGrp="1"/>
          </p:cNvSpPr>
          <p:nvPr/>
        </p:nvSpPr>
        <p:spPr>
          <a:xfrm xmlns:a="http://schemas.openxmlformats.org/drawingml/2006/main">
            <a:off x="628650" y="18002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62835"/>
                </a:solidFill>
                <a:latin typeface="Arial"/>
                <a:ea typeface="Arial"/>
                <a:cs typeface="Arial"/>
              </a:defRPr>
            </a:pPr>
            <a:r>
              <a:rPr sz="1500" b="1">
                <a:solidFill>
                  <a:srgbClr val="B62835"/>
                </a:solidFill>
                <a:latin typeface="Arial"/>
                <a:ea typeface="Arial"/>
                <a:cs typeface="Arial"/>
              </a:rPr>
              <a:t>Probabilidad de rescate (%)</a:t>
            </a:r>
          </a:p>
        </p:txBody>
      </p:sp>
      <p:graphicFrame>
        <p:nvGraphicFramePr>
          <p:cNvPr id="15" name="Chart"/>
          <p:cNvGraphicFramePr/>
          <p:nvPr/>
        </p:nvGraphicFramePr>
        <p:xfrm>
          <a:off xmlns:a="http://schemas.openxmlformats.org/drawingml/2006/main" x="619125" y="2219325"/>
          <a:ext xmlns:a="http://schemas.openxmlformats.org/drawingml/2006/main" cx="10858500" cy="3238500"/>
        </p:xfrm>
        <a:graphic xmlns:a="http://schemas.openxmlformats.org/drawingml/2006/main">
          <a:graphicData uri="http://schemas.openxmlformats.org/drawingml/2006/chart">
            <c:chart xmlns:r="http://schemas.openxmlformats.org/officeDocument/2006/relationships" xmlns:c="http://schemas.openxmlformats.org/drawingml/2006/chart" r:id="R59df5cb1d8f84da3"/>
          </a:graphicData>
        </a:graphic>
      </p:graphicFrame>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25c78c842d248a8"/>
          <a:stretch xmlns:a="http://schemas.openxmlformats.org/drawingml/2006/main"/>
        </p:blipFill>
        <p:spPr>
          <a:xfrm xmlns:a="http://schemas.openxmlformats.org/drawingml/2006/main">
            <a:off x="3755231" y="5619750"/>
            <a:ext cx="4491038" cy="657225"/>
          </a:xfrm>
          <a:prstGeom xmlns:a="http://schemas.openxmlformats.org/drawingml/2006/main" prst="rect">
            <a:avLst/>
          </a:prstGeom>
        </p:spPr>
      </p:pic>
    </p:spTree>
    <p:extLst>
      <p:ext uri="{BB962C8B-B14F-4D97-AF65-F5344CB8AC3E}">
        <p14:creationId xmlns:p14="http://schemas.microsoft.com/office/powerpoint/2010/main" val="446712137"/>
      </p:ext>
    </p:extLst>
  </p:cSld>
  <p:transition spd="slow" advClick="1">
    <p:fade/>
  </p:transition>
</p:sld>
</file>

<file path=ppt/slides/slide57.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94DC94F-746A-4951-89F3-0A6BB88F2CBC}"/>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11993B7D-378B-4787-9C20-388C4BDA5BFB}"/>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Suerte y capacidad no se separan con cuatro casos</a:t>
            </a:r>
          </a:p>
        </p:txBody>
      </p:sp>
      <p:sp>
        <p:nvSpPr>
          <p:cNvPr id="3" name="">
            <a:extLst xmlns:a="http://schemas.openxmlformats.org/drawingml/2006/main">
              <a:ext uri="{FF2B5EF4-FFF2-40B4-BE49-F238E27FC236}">
                <a16:creationId xmlns:a16="http://schemas.microsoft.com/office/drawing/2014/main" id="{AD5CCED9-1A87-408D-AE2D-8FBB282BBAF4}"/>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59</a:t>
            </a:r>
          </a:p>
        </p:txBody>
      </p:sp>
      <p:sp>
        <p:nvSpPr>
          <p:cNvPr id="4" name="">
            <a:extLst xmlns:a="http://schemas.openxmlformats.org/drawingml/2006/main">
              <a:ext uri="{FF2B5EF4-FFF2-40B4-BE49-F238E27FC236}">
                <a16:creationId xmlns:a16="http://schemas.microsoft.com/office/drawing/2014/main" id="{63A0F283-3217-4F3D-9126-D802475F3F17}"/>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144111D2-E31F-4CD3-978B-19E0792731ED}"/>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22AAD476-7243-4384-80E7-E9679517789F}"/>
              </a:ext>
            </a:extLst>
          </p:cNvPr>
          <p:cNvSpPr>
            <a:spLocks xmlns:a="http://schemas.openxmlformats.org/drawingml/2006/main" noGrp="1"/>
          </p:cNvSpPr>
          <p:nvPr/>
        </p:nvSpPr>
        <p:spPr>
          <a:xfrm xmlns:a="http://schemas.openxmlformats.org/drawingml/2006/main">
            <a:off x="609600" y="198120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Índice del ejercicio: P(invicto) × Q = 6.283 × 10⁻¹⁰</a:t>
            </a:r>
          </a:p>
        </p:txBody>
      </p:sp>
      <p:sp>
        <p:nvSpPr>
          <p:cNvPr id="7" name="">
            <a:extLst xmlns:a="http://schemas.openxmlformats.org/drawingml/2006/main">
              <a:ext uri="{FF2B5EF4-FFF2-40B4-BE49-F238E27FC236}">
                <a16:creationId xmlns:a16="http://schemas.microsoft.com/office/drawing/2014/main" id="{D32DBADB-E261-4711-935D-1DC0D01F301D}"/>
              </a:ext>
            </a:extLst>
          </p:cNvPr>
          <p:cNvSpPr>
            <a:spLocks xmlns:a="http://schemas.openxmlformats.org/drawingml/2006/main" noGrp="1"/>
          </p:cNvSpPr>
          <p:nvPr/>
        </p:nvSpPr>
        <p:spPr>
          <a:xfrm xmlns:a="http://schemas.openxmlformats.org/drawingml/2006/main">
            <a:off x="609600" y="294322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Es un ajuste heurístico, con riesgo de contar dos veces la dificultad</a:t>
            </a:r>
          </a:p>
        </p:txBody>
      </p:sp>
      <p:sp>
        <p:nvSpPr>
          <p:cNvPr id="8" name="">
            <a:extLst xmlns:a="http://schemas.openxmlformats.org/drawingml/2006/main">
              <a:ext uri="{FF2B5EF4-FFF2-40B4-BE49-F238E27FC236}">
                <a16:creationId xmlns:a16="http://schemas.microsoft.com/office/drawing/2014/main" id="{4E3CE5DD-F584-4772-948B-84633110F7B6}"/>
              </a:ext>
            </a:extLst>
          </p:cNvPr>
          <p:cNvSpPr>
            <a:spLocks xmlns:a="http://schemas.openxmlformats.org/drawingml/2006/main" noGrp="1"/>
          </p:cNvSpPr>
          <p:nvPr/>
        </p:nvSpPr>
        <p:spPr>
          <a:xfrm xmlns:a="http://schemas.openxmlformats.org/drawingml/2006/main">
            <a:off x="609600" y="390525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La presión, los cambios y la calidad también pueden producir goles tardíos</a:t>
            </a:r>
          </a:p>
        </p:txBody>
      </p:sp>
      <p:sp>
        <p:nvSpPr>
          <p:cNvPr id="9" name="">
            <a:extLst xmlns:a="http://schemas.openxmlformats.org/drawingml/2006/main">
              <a:ext uri="{FF2B5EF4-FFF2-40B4-BE49-F238E27FC236}">
                <a16:creationId xmlns:a16="http://schemas.microsoft.com/office/drawing/2014/main" id="{8B584FBA-969A-4B92-AE93-0130269BB4D5}"/>
              </a:ext>
            </a:extLst>
          </p:cNvPr>
          <p:cNvSpPr>
            <a:spLocks xmlns:a="http://schemas.openxmlformats.org/drawingml/2006/main" noGrp="1"/>
          </p:cNvSpPr>
          <p:nvPr/>
        </p:nvSpPr>
        <p:spPr>
          <a:xfrm xmlns:a="http://schemas.openxmlformats.org/drawingml/2006/main">
            <a:off x="609600" y="48672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El análisis mide fragilidad, sin atribuirla exclusivamente a la suerte</a:t>
            </a:r>
          </a:p>
        </p:txBody>
      </p:sp>
    </p:spTree>
    <p:extLst>
      <p:ext uri="{BB962C8B-B14F-4D97-AF65-F5344CB8AC3E}">
        <p14:creationId xmlns:p14="http://schemas.microsoft.com/office/powerpoint/2010/main" val="1254551426"/>
      </p:ext>
    </p:extLst>
  </p:cSld>
  <p:transition spd="slow" advClick="1">
    <p:fade/>
  </p:transition>
</p:sld>
</file>

<file path=ppt/slides/slide58.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894CDD-E6DF-4E5C-93B7-816B7EDDAA28}"/>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a:extLst xmlns:a="http://schemas.openxmlformats.org/drawingml/2006/main">
              <a:ext uri="{FF2B5EF4-FFF2-40B4-BE49-F238E27FC236}">
                <a16:creationId xmlns:a16="http://schemas.microsoft.com/office/drawing/2014/main" id="{AAC246B4-0841-4BC2-AC3D-4C7566DA619B}"/>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Conclusión estadística: Leverkusen</a:t>
            </a:r>
          </a:p>
        </p:txBody>
      </p:sp>
      <p:sp>
        <p:nvSpPr>
          <p:cNvPr id="3" name="">
            <a:extLst xmlns:a="http://schemas.openxmlformats.org/drawingml/2006/main">
              <a:ext uri="{FF2B5EF4-FFF2-40B4-BE49-F238E27FC236}">
                <a16:creationId xmlns:a16="http://schemas.microsoft.com/office/drawing/2014/main" id="{EC91BFA9-0AF1-4D42-91FD-9EC60DA1A7DD}"/>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60</a:t>
            </a:r>
          </a:p>
        </p:txBody>
      </p:sp>
      <p:sp>
        <p:nvSpPr>
          <p:cNvPr id="4" name="">
            <a:extLst xmlns:a="http://schemas.openxmlformats.org/drawingml/2006/main">
              <a:ext uri="{FF2B5EF4-FFF2-40B4-BE49-F238E27FC236}">
                <a16:creationId xmlns:a16="http://schemas.microsoft.com/office/drawing/2014/main" id="{427417B1-17C6-453A-8292-7318F47B6A2B}"/>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33E70131-C97E-4215-8763-B23945E9CB41}"/>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506FB29C-EC91-4BAF-85B3-639FC732333A}"/>
              </a:ext>
            </a:extLst>
          </p:cNvPr>
          <p:cNvSpPr>
            <a:spLocks xmlns:a="http://schemas.openxmlformats.org/drawingml/2006/main" noGrp="1"/>
          </p:cNvSpPr>
          <p:nvPr/>
        </p:nvSpPr>
        <p:spPr>
          <a:xfrm xmlns:a="http://schemas.openxmlformats.org/drawingml/2006/main">
            <a:off x="666750" y="2019300"/>
            <a:ext cx="107632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C"/>
                </a:solidFill>
                <a:latin typeface="Arial"/>
                <a:ea typeface="Arial"/>
                <a:cs typeface="Arial"/>
              </a:defRPr>
            </a:pPr>
            <a:r>
              <a:rPr sz="2100" b="0">
                <a:solidFill>
                  <a:srgbClr val="17242C"/>
                </a:solidFill>
                <a:latin typeface="Arial"/>
                <a:ea typeface="Arial"/>
                <a:cs typeface="Arial"/>
              </a:rPr>
              <a:t>Se concluye que el invicto de Leverkusen fue un evento extremadamente poco probable bajo el modelo de Elo de pretemporada, goles Poisson e independencia entre partidos: su probabilidad estimada es 9.264 × 10⁻⁷. Los cero invictos observados en 10 000 simulaciones son compatibles con esa estimación y no demuestran imposibilidad. El 1.06 % obtenido con Poisson histórico responde a otra pregunta, porque considera equipos que ya fueron campeones; por ello no contradice el cálculo inicial. Los cuatro rescates identificados muestran que el logro dependió de goles tardíos decisivos, pero el índice Q no permite atribuir causalmente ese resultado a la suerte. Estadísticamente, la evidencia permite calificar el invicto como excepcional dentro de los modelos utilizados, sin identificar su probabilidad verdadera ni demostrar que las valoraciones iniciales reflejaran toda la capacidad del equipo durante la temporada.</a:t>
            </a:r>
          </a:p>
        </p:txBody>
      </p:sp>
    </p:spTree>
    <p:extLst>
      <p:ext uri="{BB962C8B-B14F-4D97-AF65-F5344CB8AC3E}">
        <p14:creationId xmlns:p14="http://schemas.microsoft.com/office/powerpoint/2010/main" val="216619449"/>
      </p:ext>
    </p:extLst>
  </p:cSld>
  <p:transition spd="slow" advClick="1">
    <p:fade/>
  </p:transition>
</p:sld>
</file>

<file path=ppt/slides/slide59.xml><?xml version="1.0" encoding="utf-8"?>
<p:sld xmlns:p="http://schemas.openxmlformats.org/presentationml/2006/main">
  <p:cSld>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332a45fb0d7d440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F5F2D26-E66E-4492-8259-7796FC661D41}"/>
              </a:ext>
            </a:extLst>
          </p:cNvPr>
          <p:cNvSpPr>
            <a:spLocks xmlns:a="http://schemas.openxmlformats.org/drawingml/2006/main" noGrp="1"/>
          </p:cNvSpPr>
          <p:nvPr/>
        </p:nvSpPr>
        <p:spPr>
          <a:xfrm xmlns:a="http://schemas.openxmlformats.org/drawingml/2006/main">
            <a:off x="619125" y="1714500"/>
            <a:ext cx="561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025" b="1">
                <a:solidFill>
                  <a:srgbClr val="FFFFFF"/>
                </a:solidFill>
                <a:latin typeface="Arial"/>
                <a:ea typeface="Arial"/>
                <a:cs typeface="Arial"/>
              </a:defRPr>
            </a:pPr>
            <a:r>
              <a:rPr sz="5025" b="1">
                <a:solidFill>
                  <a:srgbClr val="FFFFFF"/>
                </a:solidFill>
                <a:latin typeface="Arial"/>
                <a:ea typeface="Arial"/>
                <a:cs typeface="Arial"/>
              </a:rPr>
              <a:t>Cabo Verde</a:t>
            </a:r>
          </a:p>
        </p:txBody>
      </p:sp>
      <p:sp>
        <p:nvSpPr>
          <p:cNvPr id="3" name="">
            <a:extLst xmlns:a="http://schemas.openxmlformats.org/drawingml/2006/main">
              <a:ext uri="{FF2B5EF4-FFF2-40B4-BE49-F238E27FC236}">
                <a16:creationId xmlns:a16="http://schemas.microsoft.com/office/drawing/2014/main" id="{1FC40CCA-C74F-4AB5-8E99-D3FD16B3C31E}"/>
              </a:ext>
            </a:extLst>
          </p:cNvPr>
          <p:cNvSpPr>
            <a:spLocks xmlns:a="http://schemas.openxmlformats.org/drawingml/2006/main" noGrp="1"/>
          </p:cNvSpPr>
          <p:nvPr/>
        </p:nvSpPr>
        <p:spPr>
          <a:xfrm xmlns:a="http://schemas.openxmlformats.org/drawingml/2006/main">
            <a:off x="619125" y="3238500"/>
            <a:ext cx="5810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75" b="0">
                <a:solidFill>
                  <a:srgbClr val="FFFFFF"/>
                </a:solidFill>
                <a:latin typeface="Arial"/>
                <a:ea typeface="Arial"/>
                <a:cs typeface="Arial"/>
              </a:defRPr>
            </a:pPr>
            <a:r>
              <a:rPr sz="3075" b="0">
                <a:solidFill>
                  <a:srgbClr val="FFFFFF"/>
                </a:solidFill>
                <a:latin typeface="Arial"/>
                <a:ea typeface="Arial"/>
                <a:cs typeface="Arial"/>
              </a:rPr>
              <a:t>La eliminatoria y</a:t>
            </a:r>
          </a:p>
          <a:p xmlns:a="http://schemas.openxmlformats.org/drawingml/2006/main">
            <a:pPr>
              <a:defRPr sz="3075" b="0">
                <a:solidFill>
                  <a:srgbClr val="FFFFFF"/>
                </a:solidFill>
                <a:latin typeface="Arial"/>
                <a:ea typeface="Arial"/>
                <a:cs typeface="Arial"/>
              </a:defRPr>
            </a:pPr>
            <a:r>
              <a:rPr sz="3075" b="0">
                <a:solidFill>
                  <a:srgbClr val="FFFFFF"/>
                </a:solidFill>
                <a:latin typeface="Arial"/>
                <a:ea typeface="Arial"/>
                <a:cs typeface="Arial"/>
              </a:rPr>
              <a:t>el escenario mundialista</a:t>
            </a:r>
          </a:p>
        </p:txBody>
      </p:sp>
    </p:spTree>
    <p:extLst>
      <p:ext uri="{BB962C8B-B14F-4D97-AF65-F5344CB8AC3E}">
        <p14:creationId xmlns:p14="http://schemas.microsoft.com/office/powerpoint/2010/main" val="562056399"/>
      </p:ext>
    </p:extLst>
  </p:cSld>
  <p:transition spd="slow" advClick="1">
    <p:fade/>
  </p:transition>
</p:sld>
</file>

<file path=ppt/slides/slide60.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836B7E-D4DC-44A6-BCD7-8921111F6EFC}"/>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D1C5407C-210A-4AC3-8CB8-1F10C9B87CDC}"/>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Cabo Verde: una historia en varias etapas</a:t>
            </a:r>
          </a:p>
        </p:txBody>
      </p:sp>
      <p:sp>
        <p:nvSpPr>
          <p:cNvPr id="3" name="">
            <a:extLst xmlns:a="http://schemas.openxmlformats.org/drawingml/2006/main">
              <a:ext uri="{FF2B5EF4-FFF2-40B4-BE49-F238E27FC236}">
                <a16:creationId xmlns:a16="http://schemas.microsoft.com/office/drawing/2014/main" id="{9EE80112-7A21-4729-97E2-28E0C06428F4}"/>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62</a:t>
            </a:r>
          </a:p>
        </p:txBody>
      </p:sp>
      <p:sp>
        <p:nvSpPr>
          <p:cNvPr id="4" name="">
            <a:extLst xmlns:a="http://schemas.openxmlformats.org/drawingml/2006/main">
              <a:ext uri="{FF2B5EF4-FFF2-40B4-BE49-F238E27FC236}">
                <a16:creationId xmlns:a16="http://schemas.microsoft.com/office/drawing/2014/main" id="{3D9B1EF5-15D3-4A94-82E6-51711AC0E0CD}"/>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E7847CE5-F0B3-48E7-9F2E-839BB5FB35F3}"/>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19FBFE6D-EE12-4FB2-98FA-60C10671D633}"/>
              </a:ext>
            </a:extLst>
          </p:cNvPr>
          <p:cNvSpPr>
            <a:spLocks xmlns:a="http://schemas.openxmlformats.org/drawingml/2006/main" noGrp="1"/>
          </p:cNvSpPr>
          <p:nvPr/>
        </p:nvSpPr>
        <p:spPr>
          <a:xfrm xmlns:a="http://schemas.openxmlformats.org/drawingml/2006/main">
            <a:off x="666750" y="20193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El segundo caso cambia la escala: pasamos de un club que disputa una liga a una selección que debe superar etapas sucesivas. La primera pregunta se sitúa antes de la eliminatoria africana: ¿qué probabilidad tiene Cabo Verde de terminar por encima de los otros cinco equipos de su grupo?</a:t>
            </a:r>
          </a:p>
        </p:txBody>
      </p:sp>
      <p:sp>
        <p:nvSpPr>
          <p:cNvPr id="7" name="">
            <a:extLst xmlns:a="http://schemas.openxmlformats.org/drawingml/2006/main">
              <a:ext uri="{FF2B5EF4-FFF2-40B4-BE49-F238E27FC236}">
                <a16:creationId xmlns:a16="http://schemas.microsoft.com/office/drawing/2014/main" id="{03379F7B-0AE9-437B-B657-9B888299E45A}"/>
              </a:ext>
            </a:extLst>
          </p:cNvPr>
          <p:cNvSpPr>
            <a:spLocks xmlns:a="http://schemas.openxmlformats.org/drawingml/2006/main" noGrp="1"/>
          </p:cNvSpPr>
          <p:nvPr/>
        </p:nvSpPr>
        <p:spPr>
          <a:xfrm xmlns:a="http://schemas.openxmlformats.org/drawingml/2006/main">
            <a:off x="666750" y="40195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El ejercicio excluye el repechaje. El éxito se define como ganar directamente el grupo, no como obtener una plaza por cualquier vía. Debemos simular todos los partidos: la clasificación también depende de lo que hagan Camerún, Angola, Libia, Esuatini y Mauricio.</a:t>
            </a:r>
          </a:p>
        </p:txBody>
      </p:sp>
    </p:spTree>
    <p:extLst>
      <p:ext uri="{BB962C8B-B14F-4D97-AF65-F5344CB8AC3E}">
        <p14:creationId xmlns:p14="http://schemas.microsoft.com/office/powerpoint/2010/main" val="147166795"/>
      </p:ext>
    </p:extLst>
  </p:cSld>
  <p:transition spd="slow" advClick="1">
    <p:fade/>
  </p:transition>
</p:sld>
</file>

<file path=ppt/slides/slide61.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29306C-5BC4-47B2-8C9C-B3F892C9F533}"/>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22F60D84-7831-4BB0-9597-B2F6034C25BD}"/>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Del grupo mundialista a la ruta propuesta</a:t>
            </a:r>
          </a:p>
        </p:txBody>
      </p:sp>
      <p:sp>
        <p:nvSpPr>
          <p:cNvPr id="3" name="">
            <a:extLst xmlns:a="http://schemas.openxmlformats.org/drawingml/2006/main">
              <a:ext uri="{FF2B5EF4-FFF2-40B4-BE49-F238E27FC236}">
                <a16:creationId xmlns:a16="http://schemas.microsoft.com/office/drawing/2014/main" id="{C6CA619C-06AA-4A23-BC88-660BA28CB6D3}"/>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63</a:t>
            </a:r>
          </a:p>
        </p:txBody>
      </p:sp>
      <p:sp>
        <p:nvSpPr>
          <p:cNvPr id="4" name="">
            <a:extLst xmlns:a="http://schemas.openxmlformats.org/drawingml/2006/main">
              <a:ext uri="{FF2B5EF4-FFF2-40B4-BE49-F238E27FC236}">
                <a16:creationId xmlns:a16="http://schemas.microsoft.com/office/drawing/2014/main" id="{492036A1-3448-40AC-B1DF-B5AB0BC59F0A}"/>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4D385AB4-4B17-42D9-AB08-CC8032F5DD42}"/>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872987FE-509A-42EF-9AC1-93E454B69DFD}"/>
              </a:ext>
            </a:extLst>
          </p:cNvPr>
          <p:cNvSpPr>
            <a:spLocks xmlns:a="http://schemas.openxmlformats.org/drawingml/2006/main" noGrp="1"/>
          </p:cNvSpPr>
          <p:nvPr/>
        </p:nvSpPr>
        <p:spPr>
          <a:xfrm xmlns:a="http://schemas.openxmlformats.org/drawingml/2006/main">
            <a:off x="666750" y="20193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En el escenario planteado, Cabo Verde comparte grupo con España, Uruguay y Arabia Saudita. Distinguimos dos cuestiones: la probabilidad de obtener tres empates y la probabilidad de avanzar una vez que esos tres empates ya ocurrieron.</a:t>
            </a:r>
          </a:p>
        </p:txBody>
      </p:sp>
      <p:sp>
        <p:nvSpPr>
          <p:cNvPr id="7" name="">
            <a:extLst xmlns:a="http://schemas.openxmlformats.org/drawingml/2006/main">
              <a:ext uri="{FF2B5EF4-FFF2-40B4-BE49-F238E27FC236}">
                <a16:creationId xmlns:a16="http://schemas.microsoft.com/office/drawing/2014/main" id="{537B42F6-C4B9-4529-852A-3477A160B41E}"/>
              </a:ext>
            </a:extLst>
          </p:cNvPr>
          <p:cNvSpPr>
            <a:spLocks xmlns:a="http://schemas.openxmlformats.org/drawingml/2006/main" noGrp="1"/>
          </p:cNvSpPr>
          <p:nvPr/>
        </p:nvSpPr>
        <p:spPr>
          <a:xfrm xmlns:a="http://schemas.openxmlformats.org/drawingml/2006/main">
            <a:off x="666750" y="40195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La parte final es un contrafactual con rivales fijados y avance garantizado por penales al empatar. La narración del enunciado sobre el arbitraje no se toma como evidencia histórica ni como variable estadística. El cálculo evalúa la ruta deportiva bajo sus supuestos.</a:t>
            </a:r>
          </a:p>
        </p:txBody>
      </p:sp>
    </p:spTree>
    <p:extLst>
      <p:ext uri="{BB962C8B-B14F-4D97-AF65-F5344CB8AC3E}">
        <p14:creationId xmlns:p14="http://schemas.microsoft.com/office/powerpoint/2010/main" val="1968036279"/>
      </p:ext>
    </p:extLst>
  </p:cSld>
  <p:transition spd="slow" advClick="1">
    <p:fade/>
  </p:transition>
</p:sld>
</file>

<file path=ppt/slides/slide62.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8B30404-1523-424F-A627-B2256B1461C9}"/>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5DDE2241-8D27-4E09-9E6B-153AD938CC65}"/>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Cabo Verde · equipos, goles y puntos</a:t>
            </a:r>
          </a:p>
        </p:txBody>
      </p:sp>
      <p:sp>
        <p:nvSpPr>
          <p:cNvPr id="3" name="">
            <a:extLst xmlns:a="http://schemas.openxmlformats.org/drawingml/2006/main">
              <a:ext uri="{FF2B5EF4-FFF2-40B4-BE49-F238E27FC236}">
                <a16:creationId xmlns:a16="http://schemas.microsoft.com/office/drawing/2014/main" id="{F7771EB7-4762-45AA-9822-333ED5A114B3}"/>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64</a:t>
            </a:r>
          </a:p>
        </p:txBody>
      </p:sp>
      <p:sp>
        <p:nvSpPr>
          <p:cNvPr id="4" name="">
            <a:extLst xmlns:a="http://schemas.openxmlformats.org/drawingml/2006/main">
              <a:ext uri="{FF2B5EF4-FFF2-40B4-BE49-F238E27FC236}">
                <a16:creationId xmlns:a16="http://schemas.microsoft.com/office/drawing/2014/main" id="{C8210844-0A68-475C-9114-708BA7D1B4D2}"/>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E8F166B5-2B23-4854-9700-F4A7D6D158FD}"/>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DDB29E3F-E82A-4601-8CFB-84B4C25A70D6}"/>
              </a:ext>
            </a:extLst>
          </p:cNvPr>
          <p:cNvSpPr>
            <a:spLocks xmlns:a="http://schemas.openxmlformats.org/drawingml/2006/main" noGrp="1"/>
          </p:cNvSpPr>
          <p:nvPr/>
        </p:nvSpPr>
        <p:spPr>
          <a:xfrm xmlns:a="http://schemas.openxmlformats.org/drawingml/2006/main">
            <a:off x="666750" y="17430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NOTACIÓN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be7ac79ca3e42ce"/>
          <a:stretch xmlns:a="http://schemas.openxmlformats.org/drawingml/2006/main"/>
        </p:blipFill>
        <p:spPr>
          <a:xfrm xmlns:a="http://schemas.openxmlformats.org/drawingml/2006/main">
            <a:off x="1810691" y="2241277"/>
            <a:ext cx="1331617" cy="32757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7268BF4-6593-413E-9484-1FD299A4016B}"/>
              </a:ext>
            </a:extLst>
          </p:cNvPr>
          <p:cNvSpPr>
            <a:spLocks xmlns:a="http://schemas.openxmlformats.org/drawingml/2006/main" noGrp="1"/>
          </p:cNvSpPr>
          <p:nvPr/>
        </p:nvSpPr>
        <p:spPr>
          <a:xfrm xmlns:a="http://schemas.openxmlformats.org/drawingml/2006/main">
            <a:off x="4572000" y="21145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i y j: selecciones enfrentadas. Gᵢⱼ: goles de i contra j en un partido; Gⱼᵢ: goles del rival.</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40a4e81248248c3"/>
          <a:stretch xmlns:a="http://schemas.openxmlformats.org/drawingml/2006/main"/>
        </p:blipFill>
        <p:spPr>
          <a:xfrm xmlns:a="http://schemas.openxmlformats.org/drawingml/2006/main">
            <a:off x="1668242" y="3040010"/>
            <a:ext cx="1616516" cy="31125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2002589-6E76-416D-B507-1BDCBAB2A064}"/>
              </a:ext>
            </a:extLst>
          </p:cNvPr>
          <p:cNvSpPr>
            <a:spLocks xmlns:a="http://schemas.openxmlformats.org/drawingml/2006/main" noGrp="1"/>
          </p:cNvSpPr>
          <p:nvPr/>
        </p:nvSpPr>
        <p:spPr>
          <a:xfrm xmlns:a="http://schemas.openxmlformats.org/drawingml/2006/main">
            <a:off x="4572000" y="290512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Puntos de la selección i, diferencia de goles y goles a favor; se usan al ordenar las tablas.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ca9f3f5324f43f9"/>
          <a:stretch xmlns:a="http://schemas.openxmlformats.org/drawingml/2006/main"/>
        </p:blipFill>
        <p:spPr>
          <a:xfrm xmlns:a="http://schemas.openxmlformats.org/drawingml/2006/main">
            <a:off x="2121946" y="3822427"/>
            <a:ext cx="709108" cy="32757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F7E7908-3C7D-497C-84F6-9F035BEAEE70}"/>
              </a:ext>
            </a:extLst>
          </p:cNvPr>
          <p:cNvSpPr>
            <a:spLocks xmlns:a="http://schemas.openxmlformats.org/drawingml/2006/main" noGrp="1"/>
          </p:cNvSpPr>
          <p:nvPr/>
        </p:nvSpPr>
        <p:spPr>
          <a:xfrm xmlns:a="http://schemas.openxmlformats.org/drawingml/2006/main">
            <a:off x="4572000" y="369570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F: clasificación directa ganando el grupo africano; probabilidad estimada de F: proporción simulada de clasificaciones.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78767c77c0b4592"/>
          <a:stretch xmlns:a="http://schemas.openxmlformats.org/drawingml/2006/main"/>
        </p:blipFill>
        <p:spPr>
          <a:xfrm xmlns:a="http://schemas.openxmlformats.org/drawingml/2006/main">
            <a:off x="1432919" y="4620533"/>
            <a:ext cx="2087163" cy="31251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5CDAF4FD-3EB4-40C5-A1AE-959E8571E766}"/>
              </a:ext>
            </a:extLst>
          </p:cNvPr>
          <p:cNvSpPr>
            <a:spLocks xmlns:a="http://schemas.openxmlformats.org/drawingml/2006/main" noGrp="1"/>
          </p:cNvSpPr>
          <p:nvPr/>
        </p:nvSpPr>
        <p:spPr>
          <a:xfrm xmlns:a="http://schemas.openxmlformats.org/drawingml/2006/main">
            <a:off x="4572000" y="448627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Mismo enlace Elo–Poisson del primer caso. Aquí τ = 2.7; localía de 100 Elo en eliminatoria y 0 en Mundial.</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cf763b1286c44f7"/>
          <a:stretch xmlns:a="http://schemas.openxmlformats.org/drawingml/2006/main"/>
        </p:blipFill>
        <p:spPr>
          <a:xfrm xmlns:a="http://schemas.openxmlformats.org/drawingml/2006/main">
            <a:off x="1501947" y="5404205"/>
            <a:ext cx="1949106" cy="32631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250192C6-ECC4-497D-BB54-3DEF7304D077}"/>
              </a:ext>
            </a:extLst>
          </p:cNvPr>
          <p:cNvSpPr>
            <a:spLocks xmlns:a="http://schemas.openxmlformats.org/drawingml/2006/main" noGrp="1"/>
          </p:cNvSpPr>
          <p:nvPr/>
        </p:nvSpPr>
        <p:spPr>
          <a:xfrm xmlns:a="http://schemas.openxmlformats.org/drawingml/2006/main">
            <a:off x="4572000" y="52768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Número de repeticiones, éxitos, proporción e intervalo exacto; mantienen el significado estadístico anterior.</a:t>
            </a:r>
          </a:p>
        </p:txBody>
      </p:sp>
    </p:spTree>
    <p:extLst>
      <p:ext uri="{BB962C8B-B14F-4D97-AF65-F5344CB8AC3E}">
        <p14:creationId xmlns:p14="http://schemas.microsoft.com/office/powerpoint/2010/main" val="970515080"/>
      </p:ext>
    </p:extLst>
  </p:cSld>
  <p:transition spd="slow" advClick="1">
    <p:fade/>
  </p:transition>
</p:sld>
</file>

<file path=ppt/slides/slide63.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B67C5795-2813-4B1A-B868-0F20FF875514}"/>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2E9239D1-4402-42CA-9BA5-C5D2A032AFE2}"/>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Cabo Verde · eventos del grupo mundialista</a:t>
            </a:r>
          </a:p>
        </p:txBody>
      </p:sp>
      <p:sp>
        <p:nvSpPr>
          <p:cNvPr id="3" name="">
            <a:extLst xmlns:a="http://schemas.openxmlformats.org/drawingml/2006/main">
              <a:ext uri="{FF2B5EF4-FFF2-40B4-BE49-F238E27FC236}">
                <a16:creationId xmlns:a16="http://schemas.microsoft.com/office/drawing/2014/main" id="{798B5B0D-5BE5-4DAC-9777-E795004BF7B7}"/>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65</a:t>
            </a:r>
          </a:p>
        </p:txBody>
      </p:sp>
      <p:sp>
        <p:nvSpPr>
          <p:cNvPr id="4" name="">
            <a:extLst xmlns:a="http://schemas.openxmlformats.org/drawingml/2006/main">
              <a:ext uri="{FF2B5EF4-FFF2-40B4-BE49-F238E27FC236}">
                <a16:creationId xmlns:a16="http://schemas.microsoft.com/office/drawing/2014/main" id="{24B48E20-171C-493D-AE3A-80A341A6CCE5}"/>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F6024175-76E9-400B-BA32-9D9E4D399A89}"/>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6F223BF3-A6C9-42F5-88B4-031E5D11C73A}"/>
              </a:ext>
            </a:extLst>
          </p:cNvPr>
          <p:cNvSpPr>
            <a:spLocks xmlns:a="http://schemas.openxmlformats.org/drawingml/2006/main" noGrp="1"/>
          </p:cNvSpPr>
          <p:nvPr/>
        </p:nvSpPr>
        <p:spPr>
          <a:xfrm xmlns:a="http://schemas.openxmlformats.org/drawingml/2006/main">
            <a:off x="666750" y="17430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NOTACIÓN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31b51988d67458e"/>
          <a:stretch xmlns:a="http://schemas.openxmlformats.org/drawingml/2006/main"/>
        </p:blipFill>
        <p:spPr>
          <a:xfrm xmlns:a="http://schemas.openxmlformats.org/drawingml/2006/main">
            <a:off x="2362290" y="2249435"/>
            <a:ext cx="228421" cy="31125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3CAD014-EFAB-4E2C-8D9E-D016AA6277AD}"/>
              </a:ext>
            </a:extLst>
          </p:cNvPr>
          <p:cNvSpPr>
            <a:spLocks xmlns:a="http://schemas.openxmlformats.org/drawingml/2006/main" noGrp="1"/>
          </p:cNvSpPr>
          <p:nvPr/>
        </p:nvSpPr>
        <p:spPr>
          <a:xfrm xmlns:a="http://schemas.openxmlformats.org/drawingml/2006/main">
            <a:off x="4572000" y="21145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En esta parte A significa avanzar desde el grupo H. No significa el invicto de Leverkusen.</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1c87e3dc66146e6"/>
          <a:stretch xmlns:a="http://schemas.openxmlformats.org/drawingml/2006/main"/>
        </p:blipFill>
        <p:spPr>
          <a:xfrm xmlns:a="http://schemas.openxmlformats.org/drawingml/2006/main">
            <a:off x="2350994" y="3040010"/>
            <a:ext cx="251012" cy="31125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8BC619E-3B14-4014-BE84-CFF6B6C8B532}"/>
              </a:ext>
            </a:extLst>
          </p:cNvPr>
          <p:cNvSpPr>
            <a:spLocks xmlns:a="http://schemas.openxmlformats.org/drawingml/2006/main" noGrp="1"/>
          </p:cNvSpPr>
          <p:nvPr/>
        </p:nvSpPr>
        <p:spPr>
          <a:xfrm xmlns:a="http://schemas.openxmlformats.org/drawingml/2006/main">
            <a:off x="4572000" y="290512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Evento de empatar los tres partidos de Cabo Verde. No es el conteo histórico de derrotas Dₛ.</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1400b9445cd4efd"/>
          <a:stretch xmlns:a="http://schemas.openxmlformats.org/drawingml/2006/main"/>
        </p:blipFill>
        <p:spPr>
          <a:xfrm xmlns:a="http://schemas.openxmlformats.org/drawingml/2006/main">
            <a:off x="2356014" y="3830585"/>
            <a:ext cx="240971" cy="31125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29EDDA4-8F7D-4E61-A4DA-0995C31669D0}"/>
              </a:ext>
            </a:extLst>
          </p:cNvPr>
          <p:cNvSpPr>
            <a:spLocks xmlns:a="http://schemas.openxmlformats.org/drawingml/2006/main" noGrp="1"/>
          </p:cNvSpPr>
          <p:nvPr/>
        </p:nvSpPr>
        <p:spPr>
          <a:xfrm xmlns:a="http://schemas.openxmlformats.org/drawingml/2006/main">
            <a:off x="4572000" y="369570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Evento de que Uruguay empate o gane contra España. No es el uniforme usado en el simulador.</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1eff0f9c87a74608"/>
          <a:stretch xmlns:a="http://schemas.openxmlformats.org/drawingml/2006/main"/>
        </p:blipFill>
        <p:spPr>
          <a:xfrm xmlns:a="http://schemas.openxmlformats.org/drawingml/2006/main">
            <a:off x="1665732" y="4621160"/>
            <a:ext cx="1621536" cy="31125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33DDF812-A8E0-489E-A1D5-D7303E76BD8D}"/>
              </a:ext>
            </a:extLst>
          </p:cNvPr>
          <p:cNvSpPr>
            <a:spLocks xmlns:a="http://schemas.openxmlformats.org/drawingml/2006/main" noGrp="1"/>
          </p:cNvSpPr>
          <p:nvPr/>
        </p:nvSpPr>
        <p:spPr>
          <a:xfrm xmlns:a="http://schemas.openxmlformats.org/drawingml/2006/main">
            <a:off x="4572000" y="448627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B: condición analizada; n de B: simulaciones que la cumplen; n de A∩B: las que además avanzan.</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4141baaba1fa40e8"/>
          <a:stretch xmlns:a="http://schemas.openxmlformats.org/drawingml/2006/main"/>
        </p:blipFill>
        <p:spPr>
          <a:xfrm xmlns:a="http://schemas.openxmlformats.org/drawingml/2006/main">
            <a:off x="666750" y="5412223"/>
            <a:ext cx="3619500" cy="310278"/>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EBD561A5-B1BF-4B4B-8262-211998F2074E}"/>
              </a:ext>
            </a:extLst>
          </p:cNvPr>
          <p:cNvSpPr>
            <a:spLocks xmlns:a="http://schemas.openxmlformats.org/drawingml/2006/main" noGrp="1"/>
          </p:cNvSpPr>
          <p:nvPr/>
        </p:nvSpPr>
        <p:spPr>
          <a:xfrm xmlns:a="http://schemas.openxmlformats.org/drawingml/2006/main">
            <a:off x="4572000" y="52768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Pase dado tres empates y Uruguay sin derrota; pase dado tres empates y tercer puesto del grupo.</a:t>
            </a:r>
          </a:p>
        </p:txBody>
      </p:sp>
    </p:spTree>
    <p:extLst>
      <p:ext uri="{BB962C8B-B14F-4D97-AF65-F5344CB8AC3E}">
        <p14:creationId xmlns:p14="http://schemas.microsoft.com/office/powerpoint/2010/main" val="1210783752"/>
      </p:ext>
    </p:extLst>
  </p:cSld>
  <p:transition spd="slow" advClick="1">
    <p:fade/>
  </p:transition>
</p:sld>
</file>

<file path=ppt/slides/slide64.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9005D4B-D6BA-44B9-A6E3-518B2F7EC2DF}"/>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24FB1A91-D9B8-4BDD-935F-B698E11541B2}"/>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Cabo Verde · empates y condicionamiento</a:t>
            </a:r>
          </a:p>
        </p:txBody>
      </p:sp>
      <p:sp>
        <p:nvSpPr>
          <p:cNvPr id="3" name="">
            <a:extLst xmlns:a="http://schemas.openxmlformats.org/drawingml/2006/main">
              <a:ext uri="{FF2B5EF4-FFF2-40B4-BE49-F238E27FC236}">
                <a16:creationId xmlns:a16="http://schemas.microsoft.com/office/drawing/2014/main" id="{97AF71BF-DFC2-4B0F-B34D-0B98566E6516}"/>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66</a:t>
            </a:r>
          </a:p>
        </p:txBody>
      </p:sp>
      <p:sp>
        <p:nvSpPr>
          <p:cNvPr id="4" name="">
            <a:extLst xmlns:a="http://schemas.openxmlformats.org/drawingml/2006/main">
              <a:ext uri="{FF2B5EF4-FFF2-40B4-BE49-F238E27FC236}">
                <a16:creationId xmlns:a16="http://schemas.microsoft.com/office/drawing/2014/main" id="{DDA96425-276B-415C-BEBB-E4B0830D2019}"/>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4EC0FFCC-E9BB-4D14-A23F-B761E5D813B4}"/>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88B27632-5919-4843-8C2B-45BC62B7570F}"/>
              </a:ext>
            </a:extLst>
          </p:cNvPr>
          <p:cNvSpPr>
            <a:spLocks xmlns:a="http://schemas.openxmlformats.org/drawingml/2006/main" noGrp="1"/>
          </p:cNvSpPr>
          <p:nvPr/>
        </p:nvSpPr>
        <p:spPr>
          <a:xfrm xmlns:a="http://schemas.openxmlformats.org/drawingml/2006/main">
            <a:off x="666750" y="17430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NOTACIÓN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a985956302343bb"/>
          <a:stretch xmlns:a="http://schemas.openxmlformats.org/drawingml/2006/main"/>
        </p:blipFill>
        <p:spPr>
          <a:xfrm xmlns:a="http://schemas.openxmlformats.org/drawingml/2006/main">
            <a:off x="1694598" y="2248808"/>
            <a:ext cx="1563803" cy="31251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EF7F79A-6124-46A0-9FE3-A5E46010D644}"/>
              </a:ext>
            </a:extLst>
          </p:cNvPr>
          <p:cNvSpPr>
            <a:spLocks xmlns:a="http://schemas.openxmlformats.org/drawingml/2006/main" noGrp="1"/>
          </p:cNvSpPr>
          <p:nvPr/>
        </p:nvSpPr>
        <p:spPr>
          <a:xfrm xmlns:a="http://schemas.openxmlformats.org/drawingml/2006/main">
            <a:off x="4572000" y="21145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k: goles de cada equipo en un empate k–k. r recorre los empates de la suma; no es la tasa de gol del extra.</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04ca37d6e23428f"/>
          <a:stretch xmlns:a="http://schemas.openxmlformats.org/drawingml/2006/main"/>
        </p:blipFill>
        <p:spPr>
          <a:xfrm xmlns:a="http://schemas.openxmlformats.org/drawingml/2006/main">
            <a:off x="770875" y="3038128"/>
            <a:ext cx="3411250" cy="31502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1C03875-9611-4996-B7C0-B0B9A9BA719F}"/>
              </a:ext>
            </a:extLst>
          </p:cNvPr>
          <p:cNvSpPr>
            <a:spLocks xmlns:a="http://schemas.openxmlformats.org/drawingml/2006/main" noGrp="1"/>
          </p:cNvSpPr>
          <p:nvPr/>
        </p:nvSpPr>
        <p:spPr>
          <a:xfrm xmlns:a="http://schemas.openxmlformats.org/drawingml/2006/main">
            <a:off x="4572000" y="290512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Distribución del marcador condicionada al empate; determina cuántos goles tuvo el empate simulado.</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4964c66759d4235"/>
          <a:stretch xmlns:a="http://schemas.openxmlformats.org/drawingml/2006/main"/>
        </p:blipFill>
        <p:spPr>
          <a:xfrm xmlns:a="http://schemas.openxmlformats.org/drawingml/2006/main">
            <a:off x="1512664" y="3695700"/>
            <a:ext cx="1927671" cy="5810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B223E93D-5C75-4AEE-ADF2-C11E69212F70}"/>
              </a:ext>
            </a:extLst>
          </p:cNvPr>
          <p:cNvSpPr>
            <a:spLocks xmlns:a="http://schemas.openxmlformats.org/drawingml/2006/main" noGrp="1"/>
          </p:cNvSpPr>
          <p:nvPr/>
        </p:nvSpPr>
        <p:spPr>
          <a:xfrm xmlns:a="http://schemas.openxmlformats.org/drawingml/2006/main">
            <a:off x="4572000" y="369570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La fórmula suma todos los empates posibles; el cálculo usa 0 a 24, con resto despreciable para estas tasas.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899e4e870104c31"/>
          <a:stretch xmlns:a="http://schemas.openxmlformats.org/drawingml/2006/main"/>
        </p:blipFill>
        <p:spPr>
          <a:xfrm xmlns:a="http://schemas.openxmlformats.org/drawingml/2006/main">
            <a:off x="977960" y="4619278"/>
            <a:ext cx="2997080" cy="31502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40B5DFC6-5E4B-456C-A5BD-4C90185E7C96}"/>
              </a:ext>
            </a:extLst>
          </p:cNvPr>
          <p:cNvSpPr>
            <a:spLocks xmlns:a="http://schemas.openxmlformats.org/drawingml/2006/main" noGrp="1"/>
          </p:cNvSpPr>
          <p:nvPr/>
        </p:nvSpPr>
        <p:spPr>
          <a:xfrm xmlns:a="http://schemas.openxmlformats.org/drawingml/2006/main">
            <a:off x="4572000" y="448627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Probabilidad de avanzar y obtener tres empates: frecuencia del camino completo, no solo del pase condicionado.</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566b029b53284aa7"/>
          <a:stretch xmlns:a="http://schemas.openxmlformats.org/drawingml/2006/main"/>
        </p:blipFill>
        <p:spPr>
          <a:xfrm xmlns:a="http://schemas.openxmlformats.org/drawingml/2006/main">
            <a:off x="1286077" y="5381614"/>
            <a:ext cx="2380847" cy="371497"/>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8F0EDE1-7935-4390-82F3-3E0758E45F41}"/>
              </a:ext>
            </a:extLst>
          </p:cNvPr>
          <p:cNvSpPr>
            <a:spLocks xmlns:a="http://schemas.openxmlformats.org/drawingml/2006/main" noGrp="1"/>
          </p:cNvSpPr>
          <p:nvPr/>
        </p:nvSpPr>
        <p:spPr>
          <a:xfrm xmlns:a="http://schemas.openxmlformats.org/drawingml/2006/main">
            <a:off x="4572000" y="52768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Estimación condicionada: su denominador es n de B, que puede ser menor que 10 000.</a:t>
            </a:r>
          </a:p>
        </p:txBody>
      </p:sp>
    </p:spTree>
    <p:extLst>
      <p:ext uri="{BB962C8B-B14F-4D97-AF65-F5344CB8AC3E}">
        <p14:creationId xmlns:p14="http://schemas.microsoft.com/office/powerpoint/2010/main" val="1837075768"/>
      </p:ext>
    </p:extLst>
  </p:cSld>
  <p:transition spd="slow" advClick="1">
    <p:fade/>
  </p:transition>
</p:sld>
</file>

<file path=ppt/slides/slide65.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2FF2B2F-27DE-461C-B099-54BBA17ED55A}"/>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F5889FA2-E4DE-4C7F-93BC-E3E2F6F7013A}"/>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Cabo Verde · rondas y probabilidad del título</a:t>
            </a:r>
          </a:p>
        </p:txBody>
      </p:sp>
      <p:sp>
        <p:nvSpPr>
          <p:cNvPr id="3" name="">
            <a:extLst xmlns:a="http://schemas.openxmlformats.org/drawingml/2006/main">
              <a:ext uri="{FF2B5EF4-FFF2-40B4-BE49-F238E27FC236}">
                <a16:creationId xmlns:a16="http://schemas.microsoft.com/office/drawing/2014/main" id="{19B1B866-12AA-470A-856D-2D3487B81D7D}"/>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67</a:t>
            </a:r>
          </a:p>
        </p:txBody>
      </p:sp>
      <p:sp>
        <p:nvSpPr>
          <p:cNvPr id="4" name="">
            <a:extLst xmlns:a="http://schemas.openxmlformats.org/drawingml/2006/main">
              <a:ext uri="{FF2B5EF4-FFF2-40B4-BE49-F238E27FC236}">
                <a16:creationId xmlns:a16="http://schemas.microsoft.com/office/drawing/2014/main" id="{3954E179-F6B1-45EE-8E4A-93EC7B0D8485}"/>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F4E7F2C7-986E-4E38-8762-639DD54DA7E8}"/>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D7E4336E-AB22-4AB3-84A6-A304FA020ED8}"/>
              </a:ext>
            </a:extLst>
          </p:cNvPr>
          <p:cNvSpPr>
            <a:spLocks xmlns:a="http://schemas.openxmlformats.org/drawingml/2006/main" noGrp="1"/>
          </p:cNvSpPr>
          <p:nvPr/>
        </p:nvSpPr>
        <p:spPr>
          <a:xfrm xmlns:a="http://schemas.openxmlformats.org/drawingml/2006/main">
            <a:off x="666750" y="1743075"/>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NOTACIÓN</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60f1fb41d114231"/>
          <a:stretch xmlns:a="http://schemas.openxmlformats.org/drawingml/2006/main"/>
        </p:blipFill>
        <p:spPr>
          <a:xfrm xmlns:a="http://schemas.openxmlformats.org/drawingml/2006/main">
            <a:off x="1377696" y="2248808"/>
            <a:ext cx="2197608" cy="31251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637DFCB-B274-4A99-98EE-5465228C0C26}"/>
              </a:ext>
            </a:extLst>
          </p:cNvPr>
          <p:cNvSpPr>
            <a:spLocks xmlns:a="http://schemas.openxmlformats.org/drawingml/2006/main" noGrp="1"/>
          </p:cNvSpPr>
          <p:nvPr/>
        </p:nvSpPr>
        <p:spPr>
          <a:xfrm xmlns:a="http://schemas.openxmlformats.org/drawingml/2006/main">
            <a:off x="4572000" y="21145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i: ronda frente a Egipto, Suiza, Inglaterra y España; wᵢ: victoria; dᵢ: empate en 90 minutos.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bca8715d6c940fb"/>
          <a:stretch xmlns:a="http://schemas.openxmlformats.org/drawingml/2006/main"/>
        </p:blipFill>
        <p:spPr>
          <a:xfrm xmlns:a="http://schemas.openxmlformats.org/drawingml/2006/main">
            <a:off x="2037229" y="3039383"/>
            <a:ext cx="878541" cy="31251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EC33A476-71AB-4C04-B51C-0DFBBA40A491}"/>
              </a:ext>
            </a:extLst>
          </p:cNvPr>
          <p:cNvSpPr>
            <a:spLocks xmlns:a="http://schemas.openxmlformats.org/drawingml/2006/main" noGrp="1"/>
          </p:cNvSpPr>
          <p:nvPr/>
        </p:nvSpPr>
        <p:spPr>
          <a:xfrm xmlns:a="http://schemas.openxmlformats.org/drawingml/2006/main">
            <a:off x="4572000" y="290512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Probabilidad de avanzar cuando el empate garantiza ganar en penales, como supone el ejercicio.</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c7478a882b314984"/>
          <a:stretch xmlns:a="http://schemas.openxmlformats.org/drawingml/2006/main"/>
        </p:blipFill>
        <p:spPr>
          <a:xfrm xmlns:a="http://schemas.openxmlformats.org/drawingml/2006/main">
            <a:off x="1680439" y="3695700"/>
            <a:ext cx="1592122" cy="581025"/>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0E66F82-6A81-4459-B2D9-84B771E6473D}"/>
              </a:ext>
            </a:extLst>
          </p:cNvPr>
          <p:cNvSpPr>
            <a:spLocks xmlns:a="http://schemas.openxmlformats.org/drawingml/2006/main" noGrp="1"/>
          </p:cNvSpPr>
          <p:nvPr/>
        </p:nvSpPr>
        <p:spPr>
          <a:xfrm xmlns:a="http://schemas.openxmlformats.org/drawingml/2006/main">
            <a:off x="4572000" y="369570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Probabilidad del título después de superar Argentina, con ruta fija e independencia condicional.</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d208e0da8f8445e4"/>
          <a:stretch xmlns:a="http://schemas.openxmlformats.org/drawingml/2006/main"/>
        </p:blipFill>
        <p:spPr>
          <a:xfrm xmlns:a="http://schemas.openxmlformats.org/drawingml/2006/main">
            <a:off x="1753542" y="4486275"/>
            <a:ext cx="1445917" cy="5810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84FDE389-BAD3-4AF8-99C0-443F403BFD4C}"/>
              </a:ext>
            </a:extLst>
          </p:cNvPr>
          <p:cNvSpPr>
            <a:spLocks xmlns:a="http://schemas.openxmlformats.org/drawingml/2006/main" noGrp="1"/>
          </p:cNvSpPr>
          <p:nvPr/>
        </p:nvSpPr>
        <p:spPr>
          <a:xfrm xmlns:a="http://schemas.openxmlformats.org/drawingml/2006/main">
            <a:off x="4572000" y="4486275"/>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Escenario alternativo con 50 % de éxito en penales y sin prórroga.</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8536a3ddc5b54a25"/>
          <a:stretch xmlns:a="http://schemas.openxmlformats.org/drawingml/2006/main"/>
        </p:blipFill>
        <p:spPr>
          <a:xfrm xmlns:a="http://schemas.openxmlformats.org/drawingml/2006/main">
            <a:off x="1224579" y="5411108"/>
            <a:ext cx="2503842" cy="31251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A6DCD49C-81CD-4209-8A19-90E8A49EBBA4}"/>
              </a:ext>
            </a:extLst>
          </p:cNvPr>
          <p:cNvSpPr>
            <a:spLocks xmlns:a="http://schemas.openxmlformats.org/drawingml/2006/main" noGrp="1"/>
          </p:cNvSpPr>
          <p:nvPr/>
        </p:nvSpPr>
        <p:spPr>
          <a:xfrm xmlns:a="http://schemas.openxmlformats.org/drawingml/2006/main">
            <a:off x="4572000" y="5276850"/>
            <a:ext cx="695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42C"/>
                </a:solidFill>
                <a:latin typeface="Arial"/>
                <a:ea typeface="Arial"/>
                <a:cs typeface="Arial"/>
              </a:defRPr>
            </a:pPr>
            <a:r>
              <a:rPr sz="1725" b="0">
                <a:solidFill>
                  <a:srgbClr val="17242C"/>
                </a:solidFill>
                <a:latin typeface="Arial"/>
                <a:ea typeface="Arial"/>
                <a:cs typeface="Arial"/>
              </a:rPr>
              <a:t>En la notación abreviada de la ruta, G = ganar y E = empatar; aquí E no es la expectativa Elo.</a:t>
            </a:r>
          </a:p>
        </p:txBody>
      </p:sp>
    </p:spTree>
    <p:extLst>
      <p:ext uri="{BB962C8B-B14F-4D97-AF65-F5344CB8AC3E}">
        <p14:creationId xmlns:p14="http://schemas.microsoft.com/office/powerpoint/2010/main" val="241327190"/>
      </p:ext>
    </p:extLst>
  </p:cSld>
  <p:transition spd="slow" advClick="1">
    <p:fade/>
  </p:transition>
</p:sld>
</file>

<file path=ppt/slides/slide66.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F63690-3D03-4A76-B5E1-3EC70E3EE5D0}"/>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AA50D236-9BA2-4322-BF59-398C56F373B8}"/>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Cabo Verde: goles, puntos y posiciones</a:t>
            </a:r>
          </a:p>
        </p:txBody>
      </p:sp>
      <p:sp>
        <p:nvSpPr>
          <p:cNvPr id="3" name="">
            <a:extLst xmlns:a="http://schemas.openxmlformats.org/drawingml/2006/main">
              <a:ext uri="{FF2B5EF4-FFF2-40B4-BE49-F238E27FC236}">
                <a16:creationId xmlns:a16="http://schemas.microsoft.com/office/drawing/2014/main" id="{9BCAA778-D8BD-41E0-AB99-8802349230D8}"/>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68</a:t>
            </a:r>
          </a:p>
        </p:txBody>
      </p:sp>
      <p:sp>
        <p:nvSpPr>
          <p:cNvPr id="4" name="">
            <a:extLst xmlns:a="http://schemas.openxmlformats.org/drawingml/2006/main">
              <a:ext uri="{FF2B5EF4-FFF2-40B4-BE49-F238E27FC236}">
                <a16:creationId xmlns:a16="http://schemas.microsoft.com/office/drawing/2014/main" id="{BBED83D8-D3E3-4B34-A1ED-D84D555413B1}"/>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46D9535F-D115-476A-AD17-FA9E931344DD}"/>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29FE439F-6F07-4E08-9171-9038F10F9A45}"/>
              </a:ext>
            </a:extLst>
          </p:cNvPr>
          <p:cNvSpPr>
            <a:spLocks xmlns:a="http://schemas.openxmlformats.org/drawingml/2006/main" noGrp="1"/>
          </p:cNvSpPr>
          <p:nvPr/>
        </p:nvSpPr>
        <p:spPr>
          <a:xfrm xmlns:a="http://schemas.openxmlformats.org/drawingml/2006/main">
            <a:off x="666750" y="20193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Los goles de cada selección son conteos discretos Poisson. Victoria, empate y derrota son categorías ordenadas; los puntos por partido pertenecen al conjunto {0, 1, 3}. Los puntos acumulados, goles a favor y diferencia de goles son variables discretas que determinan la tabla, junto con las reglas de desempate.</a:t>
            </a:r>
          </a:p>
        </p:txBody>
      </p:sp>
      <p:sp>
        <p:nvSpPr>
          <p:cNvPr id="7" name="">
            <a:extLst xmlns:a="http://schemas.openxmlformats.org/drawingml/2006/main">
              <a:ext uri="{FF2B5EF4-FFF2-40B4-BE49-F238E27FC236}">
                <a16:creationId xmlns:a16="http://schemas.microsoft.com/office/drawing/2014/main" id="{A7D25153-F31A-4543-943B-47B05A060788}"/>
              </a:ext>
            </a:extLst>
          </p:cNvPr>
          <p:cNvSpPr>
            <a:spLocks xmlns:a="http://schemas.openxmlformats.org/drawingml/2006/main" noGrp="1"/>
          </p:cNvSpPr>
          <p:nvPr/>
        </p:nvSpPr>
        <p:spPr>
          <a:xfrm xmlns:a="http://schemas.openxmlformats.org/drawingml/2006/main">
            <a:off x="666750" y="40386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La posición final es ordinal: toma valores de 1 a 6 en la eliminatoria y de 1 a 4 en el grupo mundialista. La distancia entre posiciones no mide una diferencia constante de rendimiento. País, grupo y rival son categorías nominales; la localía es una categoría que incorporamos mediante una ventaja numérica Elo.</a:t>
            </a:r>
          </a:p>
        </p:txBody>
      </p:sp>
    </p:spTree>
    <p:extLst>
      <p:ext uri="{BB962C8B-B14F-4D97-AF65-F5344CB8AC3E}">
        <p14:creationId xmlns:p14="http://schemas.microsoft.com/office/powerpoint/2010/main" val="1456572266"/>
      </p:ext>
    </p:extLst>
  </p:cSld>
  <p:transition spd="slow" advClick="1">
    <p:fade/>
  </p:transition>
</p:sld>
</file>

<file path=ppt/slides/slide67.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5E08A02-3C49-4735-9F67-EF35FC2BD66D}"/>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67893F44-A068-44F9-9710-1A5BA20AD6B9}"/>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Cabo Verde: eventos y condicionamiento</a:t>
            </a:r>
          </a:p>
        </p:txBody>
      </p:sp>
      <p:sp>
        <p:nvSpPr>
          <p:cNvPr id="3" name="">
            <a:extLst xmlns:a="http://schemas.openxmlformats.org/drawingml/2006/main">
              <a:ext uri="{FF2B5EF4-FFF2-40B4-BE49-F238E27FC236}">
                <a16:creationId xmlns:a16="http://schemas.microsoft.com/office/drawing/2014/main" id="{36B85967-72F5-4E05-AA77-639CF346A87B}"/>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69</a:t>
            </a:r>
          </a:p>
        </p:txBody>
      </p:sp>
      <p:sp>
        <p:nvSpPr>
          <p:cNvPr id="4" name="">
            <a:extLst xmlns:a="http://schemas.openxmlformats.org/drawingml/2006/main">
              <a:ext uri="{FF2B5EF4-FFF2-40B4-BE49-F238E27FC236}">
                <a16:creationId xmlns:a16="http://schemas.microsoft.com/office/drawing/2014/main" id="{F2E1E7BF-B253-4B42-8893-79172BE8A18C}"/>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EBFAE3AC-9E5E-4B3F-AFC9-CDD95167A30C}"/>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47DE3423-8A01-454B-B0EB-8190B2E7DE7E}"/>
              </a:ext>
            </a:extLst>
          </p:cNvPr>
          <p:cNvSpPr>
            <a:spLocks xmlns:a="http://schemas.openxmlformats.org/drawingml/2006/main" noGrp="1"/>
          </p:cNvSpPr>
          <p:nvPr/>
        </p:nvSpPr>
        <p:spPr>
          <a:xfrm xmlns:a="http://schemas.openxmlformats.org/drawingml/2006/main">
            <a:off x="666750" y="20193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Ganar el grupo, avanzar, obtener tres empates y ganar el título se representan con indicadores binarios. El número de clasificaciones entre N simulaciones es discreto. La condición de tres empates impone igualdad de goles en cada partido: tiene probabilidad positiva porque los marcadores son discretos.</a:t>
            </a:r>
          </a:p>
        </p:txBody>
      </p:sp>
      <p:sp>
        <p:nvSpPr>
          <p:cNvPr id="7" name="">
            <a:extLst xmlns:a="http://schemas.openxmlformats.org/drawingml/2006/main">
              <a:ext uri="{FF2B5EF4-FFF2-40B4-BE49-F238E27FC236}">
                <a16:creationId xmlns:a16="http://schemas.microsoft.com/office/drawing/2014/main" id="{269EA215-DFA2-4945-82E8-999B7AE0862B}"/>
              </a:ext>
            </a:extLst>
          </p:cNvPr>
          <p:cNvSpPr>
            <a:spLocks xmlns:a="http://schemas.openxmlformats.org/drawingml/2006/main" noGrp="1"/>
          </p:cNvSpPr>
          <p:nvPr/>
        </p:nvSpPr>
        <p:spPr>
          <a:xfrm xmlns:a="http://schemas.openxmlformats.org/drawingml/2006/main">
            <a:off x="666750" y="4038600"/>
            <a:ext cx="107632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Las probabilidades y tasas de gol son parámetros reales, no resultados continuos simulados. En escenarios condicionados, el estimador divide los éxitos dentro de la condición entre las simulaciones que la cumplen. Ese denominador puede ser aleatorio. El intervalo binomial se calcula con el número efectivamente retenido y mide únicamente precisión Monte Carlo.</a:t>
            </a:r>
          </a:p>
        </p:txBody>
      </p:sp>
    </p:spTree>
    <p:extLst>
      <p:ext uri="{BB962C8B-B14F-4D97-AF65-F5344CB8AC3E}">
        <p14:creationId xmlns:p14="http://schemas.microsoft.com/office/powerpoint/2010/main" val="248186796"/>
      </p:ext>
    </p:extLst>
  </p:cSld>
  <p:transition spd="slow" advClick="1">
    <p:fade/>
  </p:transition>
</p:sld>
</file>

<file path=ppt/slides/slide68.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559C7D-0007-47EB-9858-49C4B148D0AD}"/>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93DD75DA-4894-4C10-9E47-E3B0698F3ACC}"/>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Clasificación directa desde el grupo D</a:t>
            </a:r>
          </a:p>
        </p:txBody>
      </p:sp>
      <p:sp>
        <p:nvSpPr>
          <p:cNvPr id="3" name="">
            <a:extLst xmlns:a="http://schemas.openxmlformats.org/drawingml/2006/main">
              <a:ext uri="{FF2B5EF4-FFF2-40B4-BE49-F238E27FC236}">
                <a16:creationId xmlns:a16="http://schemas.microsoft.com/office/drawing/2014/main" id="{81667AB5-530B-4636-BE90-7455258886BB}"/>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70</a:t>
            </a:r>
          </a:p>
        </p:txBody>
      </p:sp>
      <p:sp>
        <p:nvSpPr>
          <p:cNvPr id="4" name="">
            <a:extLst xmlns:a="http://schemas.openxmlformats.org/drawingml/2006/main">
              <a:ext uri="{FF2B5EF4-FFF2-40B4-BE49-F238E27FC236}">
                <a16:creationId xmlns:a16="http://schemas.microsoft.com/office/drawing/2014/main" id="{17B2D0F8-A268-4A1C-B19B-10E3935A749A}"/>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46808F4D-A848-4B18-B7AB-E2378400D43A}"/>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0E432E8A-DCD2-4379-9742-93DFF7B36BB4}"/>
              </a:ext>
            </a:extLst>
          </p:cNvPr>
          <p:cNvSpPr>
            <a:spLocks xmlns:a="http://schemas.openxmlformats.org/drawingml/2006/main" noGrp="1"/>
          </p:cNvSpPr>
          <p:nvPr/>
        </p:nvSpPr>
        <p:spPr>
          <a:xfrm xmlns:a="http://schemas.openxmlformats.org/drawingml/2006/main">
            <a:off x="628650" y="18002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6B9A"/>
                </a:solidFill>
                <a:latin typeface="Arial"/>
                <a:ea typeface="Arial"/>
                <a:cs typeface="Arial"/>
              </a:defRPr>
            </a:pPr>
            <a:r>
              <a:rPr sz="1500" b="1">
                <a:solidFill>
                  <a:srgbClr val="176B9A"/>
                </a:solidFill>
                <a:latin typeface="Arial"/>
                <a:ea typeface="Arial"/>
                <a:cs typeface="Arial"/>
              </a:rPr>
              <a:t>Elo previo a la eliminatoria</a:t>
            </a:r>
          </a:p>
        </p:txBody>
      </p:sp>
      <p:graphicFrame>
        <p:nvGraphicFramePr>
          <p:cNvPr id="15" name="Chart"/>
          <p:cNvGraphicFramePr/>
          <p:nvPr/>
        </p:nvGraphicFramePr>
        <p:xfrm>
          <a:off xmlns:a="http://schemas.openxmlformats.org/drawingml/2006/main" x="619125" y="2219325"/>
          <a:ext xmlns:a="http://schemas.openxmlformats.org/drawingml/2006/main" cx="10858500" cy="3238500"/>
        </p:xfrm>
        <a:graphic xmlns:a="http://schemas.openxmlformats.org/drawingml/2006/main">
          <a:graphicData uri="http://schemas.openxmlformats.org/drawingml/2006/chart">
            <c:chart xmlns:r="http://schemas.openxmlformats.org/officeDocument/2006/relationships" xmlns:c="http://schemas.openxmlformats.org/drawingml/2006/chart" r:id="R4cdc45bc3cfd4bf3"/>
          </a:graphicData>
        </a:graphic>
      </p:graphicFrame>
      <p:sp>
        <p:nvSpPr>
          <p:cNvPr id="8" name="">
            <a:extLst xmlns:a="http://schemas.openxmlformats.org/drawingml/2006/main">
              <a:ext uri="{FF2B5EF4-FFF2-40B4-BE49-F238E27FC236}">
                <a16:creationId xmlns:a16="http://schemas.microsoft.com/office/drawing/2014/main" id="{73513D37-BED0-403E-B5FB-B5EECC951CBC}"/>
              </a:ext>
            </a:extLst>
          </p:cNvPr>
          <p:cNvSpPr>
            <a:spLocks xmlns:a="http://schemas.openxmlformats.org/drawingml/2006/main" noGrp="1"/>
          </p:cNvSpPr>
          <p:nvPr/>
        </p:nvSpPr>
        <p:spPr>
          <a:xfrm xmlns:a="http://schemas.openxmlformats.org/drawingml/2006/main">
            <a:off x="619125" y="58102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Seis selecciones · ida y vuelta · solo clasifica el primero</a:t>
            </a:r>
          </a:p>
        </p:txBody>
      </p:sp>
    </p:spTree>
    <p:extLst>
      <p:ext uri="{BB962C8B-B14F-4D97-AF65-F5344CB8AC3E}">
        <p14:creationId xmlns:p14="http://schemas.microsoft.com/office/powerpoint/2010/main" val="1573202187"/>
      </p:ext>
    </p:extLst>
  </p:cSld>
  <p:transition spd="slow" advClick="1">
    <p:fade/>
  </p:transition>
</p:sld>
</file>

<file path=ppt/slides/slide69.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69DFE51-4703-4AAD-A86D-EDBC815AE9A9}"/>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7840ACD9-B9BE-4EFA-A04F-8E4CE1976D11}"/>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Cabo Verde gana el grupo en el 12.88 %</a:t>
            </a:r>
          </a:p>
        </p:txBody>
      </p:sp>
      <p:sp>
        <p:nvSpPr>
          <p:cNvPr id="3" name="">
            <a:extLst xmlns:a="http://schemas.openxmlformats.org/drawingml/2006/main">
              <a:ext uri="{FF2B5EF4-FFF2-40B4-BE49-F238E27FC236}">
                <a16:creationId xmlns:a16="http://schemas.microsoft.com/office/drawing/2014/main" id="{A3D03C7D-B68D-4E8B-B08B-85CB096CAACC}"/>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71</a:t>
            </a:r>
          </a:p>
        </p:txBody>
      </p:sp>
      <p:sp>
        <p:nvSpPr>
          <p:cNvPr id="4" name="">
            <a:extLst xmlns:a="http://schemas.openxmlformats.org/drawingml/2006/main">
              <a:ext uri="{FF2B5EF4-FFF2-40B4-BE49-F238E27FC236}">
                <a16:creationId xmlns:a16="http://schemas.microsoft.com/office/drawing/2014/main" id="{19AA940B-EA1A-4EDA-AEAA-5D4B17DBE75C}"/>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E8152ECC-6B70-4A5A-BBE5-E7F56B39095F}"/>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8259ED8A-52AA-4F71-896A-25DB35888F8C}"/>
              </a:ext>
            </a:extLst>
          </p:cNvPr>
          <p:cNvSpPr>
            <a:spLocks xmlns:a="http://schemas.openxmlformats.org/drawingml/2006/main" noGrp="1"/>
          </p:cNvSpPr>
          <p:nvPr/>
        </p:nvSpPr>
        <p:spPr>
          <a:xfrm xmlns:a="http://schemas.openxmlformats.org/drawingml/2006/main">
            <a:off x="609600" y="198120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30 partidos por grupo y 10 por selección</a:t>
            </a:r>
          </a:p>
        </p:txBody>
      </p:sp>
      <p:sp>
        <p:nvSpPr>
          <p:cNvPr id="7" name="">
            <a:extLst xmlns:a="http://schemas.openxmlformats.org/drawingml/2006/main">
              <a:ext uri="{FF2B5EF4-FFF2-40B4-BE49-F238E27FC236}">
                <a16:creationId xmlns:a16="http://schemas.microsoft.com/office/drawing/2014/main" id="{A2F8FA33-1B11-4067-AAE6-A9269BA38CEF}"/>
              </a:ext>
            </a:extLst>
          </p:cNvPr>
          <p:cNvSpPr>
            <a:spLocks xmlns:a="http://schemas.openxmlformats.org/drawingml/2006/main" noGrp="1"/>
          </p:cNvSpPr>
          <p:nvPr/>
        </p:nvSpPr>
        <p:spPr>
          <a:xfrm xmlns:a="http://schemas.openxmlformats.org/drawingml/2006/main">
            <a:off x="609600" y="294322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1288 clasificaciones directas de 10 000</a:t>
            </a:r>
          </a:p>
        </p:txBody>
      </p:sp>
      <p:sp>
        <p:nvSpPr>
          <p:cNvPr id="8" name="">
            <a:extLst xmlns:a="http://schemas.openxmlformats.org/drawingml/2006/main">
              <a:ext uri="{FF2B5EF4-FFF2-40B4-BE49-F238E27FC236}">
                <a16:creationId xmlns:a16="http://schemas.microsoft.com/office/drawing/2014/main" id="{DD4D1F3B-4954-46A0-91EE-392BBEAA14B3}"/>
              </a:ext>
            </a:extLst>
          </p:cNvPr>
          <p:cNvSpPr>
            <a:spLocks xmlns:a="http://schemas.openxmlformats.org/drawingml/2006/main" noGrp="1"/>
          </p:cNvSpPr>
          <p:nvPr/>
        </p:nvSpPr>
        <p:spPr>
          <a:xfrm xmlns:a="http://schemas.openxmlformats.org/drawingml/2006/main">
            <a:off x="609600" y="390525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IC 95 %: 12.23 % a 13.55 %</a:t>
            </a:r>
          </a:p>
        </p:txBody>
      </p:sp>
      <p:sp>
        <p:nvSpPr>
          <p:cNvPr id="9" name="">
            <a:extLst xmlns:a="http://schemas.openxmlformats.org/drawingml/2006/main">
              <a:ext uri="{FF2B5EF4-FFF2-40B4-BE49-F238E27FC236}">
                <a16:creationId xmlns:a16="http://schemas.microsoft.com/office/drawing/2014/main" id="{502F2374-85B0-4885-A1FC-D3E75FE4C545}"/>
              </a:ext>
            </a:extLst>
          </p:cNvPr>
          <p:cNvSpPr>
            <a:spLocks xmlns:a="http://schemas.openxmlformats.org/drawingml/2006/main" noGrp="1"/>
          </p:cNvSpPr>
          <p:nvPr/>
        </p:nvSpPr>
        <p:spPr>
          <a:xfrm xmlns:a="http://schemas.openxmlformats.org/drawingml/2006/main">
            <a:off x="609600" y="48672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Sin repechaje y con 100 puntos Elo de ventaja local</a:t>
            </a:r>
          </a:p>
        </p:txBody>
      </p:sp>
    </p:spTree>
    <p:extLst>
      <p:ext uri="{BB962C8B-B14F-4D97-AF65-F5344CB8AC3E}">
        <p14:creationId xmlns:p14="http://schemas.microsoft.com/office/powerpoint/2010/main" val="806386373"/>
      </p:ext>
    </p:extLst>
  </p:cSld>
  <p:transition spd="slow" advClick="1">
    <p:fade/>
  </p:transition>
</p:sld>
</file>

<file path=ppt/slides/slide70.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A9FA25B-6780-4C3D-862B-D26216F24BA5}"/>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5DA2942B-3DD8-4E45-8ED1-29CCDC7482F4}"/>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El grupo H se evalúa dentro de los doce grupos</a:t>
            </a:r>
          </a:p>
        </p:txBody>
      </p:sp>
      <p:sp>
        <p:nvSpPr>
          <p:cNvPr id="3" name="">
            <a:extLst xmlns:a="http://schemas.openxmlformats.org/drawingml/2006/main">
              <a:ext uri="{FF2B5EF4-FFF2-40B4-BE49-F238E27FC236}">
                <a16:creationId xmlns:a16="http://schemas.microsoft.com/office/drawing/2014/main" id="{D576392E-2192-4E25-8923-9EE7BD37EB3B}"/>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72</a:t>
            </a:r>
          </a:p>
        </p:txBody>
      </p:sp>
      <p:sp>
        <p:nvSpPr>
          <p:cNvPr id="4" name="">
            <a:extLst xmlns:a="http://schemas.openxmlformats.org/drawingml/2006/main">
              <a:ext uri="{FF2B5EF4-FFF2-40B4-BE49-F238E27FC236}">
                <a16:creationId xmlns:a16="http://schemas.microsoft.com/office/drawing/2014/main" id="{C8F2E179-A5A5-49A4-A49A-095FC533BE15}"/>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0849A407-29B7-433F-8794-E165081E739B}"/>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F702A5A8-E633-4BB7-982C-6E5E47AA661C}"/>
              </a:ext>
            </a:extLst>
          </p:cNvPr>
          <p:cNvSpPr>
            <a:spLocks xmlns:a="http://schemas.openxmlformats.org/drawingml/2006/main" noGrp="1"/>
          </p:cNvSpPr>
          <p:nvPr/>
        </p:nvSpPr>
        <p:spPr>
          <a:xfrm xmlns:a="http://schemas.openxmlformats.org/drawingml/2006/main">
            <a:off x="628650" y="18002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6B9A"/>
                </a:solidFill>
                <a:latin typeface="Arial"/>
                <a:ea typeface="Arial"/>
                <a:cs typeface="Arial"/>
              </a:defRPr>
            </a:pPr>
            <a:r>
              <a:rPr sz="1500" b="1">
                <a:solidFill>
                  <a:srgbClr val="176B9A"/>
                </a:solidFill>
                <a:latin typeface="Arial"/>
                <a:ea typeface="Arial"/>
                <a:cs typeface="Arial"/>
              </a:rPr>
              <a:t>Elo anterior al 11 de junio de 2026</a:t>
            </a:r>
          </a:p>
        </p:txBody>
      </p:sp>
      <p:graphicFrame>
        <p:nvGraphicFramePr>
          <p:cNvPr id="15" name="Chart"/>
          <p:cNvGraphicFramePr/>
          <p:nvPr/>
        </p:nvGraphicFramePr>
        <p:xfrm>
          <a:off xmlns:a="http://schemas.openxmlformats.org/drawingml/2006/main" x="619125" y="2219325"/>
          <a:ext xmlns:a="http://schemas.openxmlformats.org/drawingml/2006/main" cx="10858500" cy="3238500"/>
        </p:xfrm>
        <a:graphic xmlns:a="http://schemas.openxmlformats.org/drawingml/2006/main">
          <a:graphicData uri="http://schemas.openxmlformats.org/drawingml/2006/chart">
            <c:chart xmlns:r="http://schemas.openxmlformats.org/officeDocument/2006/relationships" xmlns:c="http://schemas.openxmlformats.org/drawingml/2006/chart" r:id="R48e0a1fd35184831"/>
          </a:graphicData>
        </a:graphic>
      </p:graphicFrame>
      <p:sp>
        <p:nvSpPr>
          <p:cNvPr id="8" name="">
            <a:extLst xmlns:a="http://schemas.openxmlformats.org/drawingml/2006/main">
              <a:ext uri="{FF2B5EF4-FFF2-40B4-BE49-F238E27FC236}">
                <a16:creationId xmlns:a16="http://schemas.microsoft.com/office/drawing/2014/main" id="{EB732C38-1900-4F15-A462-8C061E237FA6}"/>
              </a:ext>
            </a:extLst>
          </p:cNvPr>
          <p:cNvSpPr>
            <a:spLocks xmlns:a="http://schemas.openxmlformats.org/drawingml/2006/main" noGrp="1"/>
          </p:cNvSpPr>
          <p:nvPr/>
        </p:nvSpPr>
        <p:spPr>
          <a:xfrm xmlns:a="http://schemas.openxmlformats.org/drawingml/2006/main">
            <a:off x="619125" y="58102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Pasan los dos primeros y los ocho mejores terceros</a:t>
            </a:r>
          </a:p>
        </p:txBody>
      </p:sp>
    </p:spTree>
    <p:extLst>
      <p:ext uri="{BB962C8B-B14F-4D97-AF65-F5344CB8AC3E}">
        <p14:creationId xmlns:p14="http://schemas.microsoft.com/office/powerpoint/2010/main" val="723146893"/>
      </p:ext>
    </p:extLst>
  </p:cSld>
  <p:transition spd="slow" advClick="1">
    <p:fade/>
  </p:transition>
</p:sld>
</file>

<file path=ppt/slides/slide71.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C5187E-9EB1-4B4D-AD02-84FEE97A62AF}"/>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3A4CA352-0622-4EE6-BD29-32DFA849E77C}"/>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Tres empates cambian la probabilidad de avanzar</a:t>
            </a:r>
          </a:p>
        </p:txBody>
      </p:sp>
      <p:sp>
        <p:nvSpPr>
          <p:cNvPr id="3" name="">
            <a:extLst xmlns:a="http://schemas.openxmlformats.org/drawingml/2006/main">
              <a:ext uri="{FF2B5EF4-FFF2-40B4-BE49-F238E27FC236}">
                <a16:creationId xmlns:a16="http://schemas.microsoft.com/office/drawing/2014/main" id="{F71B1F73-BBF0-4191-BA08-C739162578AC}"/>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73</a:t>
            </a:r>
          </a:p>
        </p:txBody>
      </p:sp>
      <p:sp>
        <p:nvSpPr>
          <p:cNvPr id="4" name="">
            <a:extLst xmlns:a="http://schemas.openxmlformats.org/drawingml/2006/main">
              <a:ext uri="{FF2B5EF4-FFF2-40B4-BE49-F238E27FC236}">
                <a16:creationId xmlns:a16="http://schemas.microsoft.com/office/drawing/2014/main" id="{60522401-E584-4DB5-9BF8-4FB0C9056E77}"/>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992AA3B4-3D90-4961-92FC-700A30FC54E8}"/>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9D377D81-6DC0-4B67-91BB-D4541C5AB349}"/>
              </a:ext>
            </a:extLst>
          </p:cNvPr>
          <p:cNvSpPr>
            <a:spLocks xmlns:a="http://schemas.openxmlformats.org/drawingml/2006/main" noGrp="1"/>
          </p:cNvSpPr>
          <p:nvPr/>
        </p:nvSpPr>
        <p:spPr>
          <a:xfrm xmlns:a="http://schemas.openxmlformats.org/drawingml/2006/main">
            <a:off x="628650" y="18002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6B9A"/>
                </a:solidFill>
                <a:latin typeface="Arial"/>
                <a:ea typeface="Arial"/>
                <a:cs typeface="Arial"/>
              </a:defRPr>
            </a:pPr>
            <a:r>
              <a:rPr sz="1500" b="1">
                <a:solidFill>
                  <a:srgbClr val="176B9A"/>
                </a:solidFill>
                <a:latin typeface="Arial"/>
                <a:ea typeface="Arial"/>
                <a:cs typeface="Arial"/>
              </a:rPr>
              <a:t>Probabilidad (%)</a:t>
            </a:r>
          </a:p>
        </p:txBody>
      </p:sp>
      <p:graphicFrame>
        <p:nvGraphicFramePr>
          <p:cNvPr id="15" name="Chart"/>
          <p:cNvGraphicFramePr/>
          <p:nvPr/>
        </p:nvGraphicFramePr>
        <p:xfrm>
          <a:off xmlns:a="http://schemas.openxmlformats.org/drawingml/2006/main" x="619125" y="2219325"/>
          <a:ext xmlns:a="http://schemas.openxmlformats.org/drawingml/2006/main" cx="10858500" cy="3238500"/>
        </p:xfrm>
        <a:graphic xmlns:a="http://schemas.openxmlformats.org/drawingml/2006/main">
          <a:graphicData uri="http://schemas.openxmlformats.org/drawingml/2006/chart">
            <c:chart xmlns:r="http://schemas.openxmlformats.org/officeDocument/2006/relationships" xmlns:c="http://schemas.openxmlformats.org/drawingml/2006/chart" r:id="R7be4d836b13b4667"/>
          </a:graphicData>
        </a:graphic>
      </p:graphicFrame>
      <p:sp>
        <p:nvSpPr>
          <p:cNvPr id="8" name="">
            <a:extLst xmlns:a="http://schemas.openxmlformats.org/drawingml/2006/main">
              <a:ext uri="{FF2B5EF4-FFF2-40B4-BE49-F238E27FC236}">
                <a16:creationId xmlns:a16="http://schemas.microsoft.com/office/drawing/2014/main" id="{6458392F-07DB-476E-A0EF-8430B88B3EBE}"/>
              </a:ext>
            </a:extLst>
          </p:cNvPr>
          <p:cNvSpPr>
            <a:spLocks xmlns:a="http://schemas.openxmlformats.org/drawingml/2006/main" noGrp="1"/>
          </p:cNvSpPr>
          <p:nvPr/>
        </p:nvSpPr>
        <p:spPr>
          <a:xfrm xmlns:a="http://schemas.openxmlformats.org/drawingml/2006/main">
            <a:off x="619125" y="58102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Cada barra usa el denominador de su condición</a:t>
            </a:r>
          </a:p>
        </p:txBody>
      </p:sp>
    </p:spTree>
    <p:extLst>
      <p:ext uri="{BB962C8B-B14F-4D97-AF65-F5344CB8AC3E}">
        <p14:creationId xmlns:p14="http://schemas.microsoft.com/office/powerpoint/2010/main" val="1413567901"/>
      </p:ext>
    </p:extLst>
  </p:cSld>
  <p:transition spd="slow" advClick="1">
    <p:fade/>
  </p:transition>
</p:sld>
</file>

<file path=ppt/slides/slide72.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F9C045F-51DA-4E0C-A5FB-1A6CC0E824CE}"/>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DF1A4216-428F-44BC-AB9C-B1523F187F72}"/>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Obtener los empates y avanzar después</a:t>
            </a:r>
          </a:p>
        </p:txBody>
      </p:sp>
      <p:sp>
        <p:nvSpPr>
          <p:cNvPr id="3" name="">
            <a:extLst xmlns:a="http://schemas.openxmlformats.org/drawingml/2006/main">
              <a:ext uri="{FF2B5EF4-FFF2-40B4-BE49-F238E27FC236}">
                <a16:creationId xmlns:a16="http://schemas.microsoft.com/office/drawing/2014/main" id="{9E179881-AFF1-41B6-ABB2-044179613053}"/>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74</a:t>
            </a:r>
          </a:p>
        </p:txBody>
      </p:sp>
      <p:sp>
        <p:nvSpPr>
          <p:cNvPr id="4" name="">
            <a:extLst xmlns:a="http://schemas.openxmlformats.org/drawingml/2006/main">
              <a:ext uri="{FF2B5EF4-FFF2-40B4-BE49-F238E27FC236}">
                <a16:creationId xmlns:a16="http://schemas.microsoft.com/office/drawing/2014/main" id="{905CBA08-6A5E-429D-9CCC-900461DDFF2D}"/>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844B5399-F429-4D56-B29C-566D1531FCD0}"/>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08BA2AA4-F7A3-4D0A-92D6-99E518127144}"/>
              </a:ext>
            </a:extLst>
          </p:cNvPr>
          <p:cNvSpPr>
            <a:spLocks xmlns:a="http://schemas.openxmlformats.org/drawingml/2006/main" noGrp="1"/>
          </p:cNvSpPr>
          <p:nvPr/>
        </p:nvSpPr>
        <p:spPr>
          <a:xfrm xmlns:a="http://schemas.openxmlformats.org/drawingml/2006/main">
            <a:off x="609600" y="198120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P(empatar los tres partidos) = 0.15 %</a:t>
            </a:r>
          </a:p>
        </p:txBody>
      </p:sp>
      <p:sp>
        <p:nvSpPr>
          <p:cNvPr id="7" name="">
            <a:extLst xmlns:a="http://schemas.openxmlformats.org/drawingml/2006/main">
              <a:ext uri="{FF2B5EF4-FFF2-40B4-BE49-F238E27FC236}">
                <a16:creationId xmlns:a16="http://schemas.microsoft.com/office/drawing/2014/main" id="{CD9D99BF-6D35-4378-9F83-106CDE0A1E8F}"/>
              </a:ext>
            </a:extLst>
          </p:cNvPr>
          <p:cNvSpPr>
            <a:spLocks xmlns:a="http://schemas.openxmlformats.org/drawingml/2006/main" noGrp="1"/>
          </p:cNvSpPr>
          <p:nvPr/>
        </p:nvSpPr>
        <p:spPr>
          <a:xfrm xmlns:a="http://schemas.openxmlformats.org/drawingml/2006/main">
            <a:off x="609600" y="294322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P(avanzar | tres empates) = 95.31 %</a:t>
            </a:r>
          </a:p>
        </p:txBody>
      </p:sp>
      <p:sp>
        <p:nvSpPr>
          <p:cNvPr id="8" name="">
            <a:extLst xmlns:a="http://schemas.openxmlformats.org/drawingml/2006/main">
              <a:ext uri="{FF2B5EF4-FFF2-40B4-BE49-F238E27FC236}">
                <a16:creationId xmlns:a16="http://schemas.microsoft.com/office/drawing/2014/main" id="{F19D3892-9BFA-407F-A2BC-FC5ECDDFBF7B}"/>
              </a:ext>
            </a:extLst>
          </p:cNvPr>
          <p:cNvSpPr>
            <a:spLocks xmlns:a="http://schemas.openxmlformats.org/drawingml/2006/main" noGrp="1"/>
          </p:cNvSpPr>
          <p:nvPr/>
        </p:nvSpPr>
        <p:spPr>
          <a:xfrm xmlns:a="http://schemas.openxmlformats.org/drawingml/2006/main">
            <a:off x="609600" y="390525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Tres empates dejan tres puntos y diferencia de goles cero</a:t>
            </a:r>
          </a:p>
        </p:txBody>
      </p:sp>
      <p:sp>
        <p:nvSpPr>
          <p:cNvPr id="9" name="">
            <a:extLst xmlns:a="http://schemas.openxmlformats.org/drawingml/2006/main">
              <a:ext uri="{FF2B5EF4-FFF2-40B4-BE49-F238E27FC236}">
                <a16:creationId xmlns:a16="http://schemas.microsoft.com/office/drawing/2014/main" id="{698DFD0E-A0CF-408A-AFF1-4E04A6131C6D}"/>
              </a:ext>
            </a:extLst>
          </p:cNvPr>
          <p:cNvSpPr>
            <a:spLocks xmlns:a="http://schemas.openxmlformats.org/drawingml/2006/main" noGrp="1"/>
          </p:cNvSpPr>
          <p:nvPr/>
        </p:nvSpPr>
        <p:spPr>
          <a:xfrm xmlns:a="http://schemas.openxmlformats.org/drawingml/2006/main">
            <a:off x="609600" y="48672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No equivalen a una victoria y dos derrotas</a:t>
            </a:r>
          </a:p>
        </p:txBody>
      </p:sp>
    </p:spTree>
    <p:extLst>
      <p:ext uri="{BB962C8B-B14F-4D97-AF65-F5344CB8AC3E}">
        <p14:creationId xmlns:p14="http://schemas.microsoft.com/office/powerpoint/2010/main" val="2103735555"/>
      </p:ext>
    </p:extLst>
  </p:cSld>
  <p:transition spd="slow" advClick="1">
    <p:fade/>
  </p:transition>
</p:sld>
</file>

<file path=ppt/slides/slide73.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EDDC4E-FC3D-4992-9D35-50FF620371EE}"/>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3E6C637F-62FB-4CEB-852E-9EA283EB6A63}"/>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La ruta a partir de Egipto</a:t>
            </a:r>
          </a:p>
        </p:txBody>
      </p:sp>
      <p:sp>
        <p:nvSpPr>
          <p:cNvPr id="3" name="">
            <a:extLst xmlns:a="http://schemas.openxmlformats.org/drawingml/2006/main">
              <a:ext uri="{FF2B5EF4-FFF2-40B4-BE49-F238E27FC236}">
                <a16:creationId xmlns:a16="http://schemas.microsoft.com/office/drawing/2014/main" id="{DAFC0E0F-412B-4BEF-9814-42CBD883E68C}"/>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75</a:t>
            </a:r>
          </a:p>
        </p:txBody>
      </p:sp>
      <p:sp>
        <p:nvSpPr>
          <p:cNvPr id="4" name="">
            <a:extLst xmlns:a="http://schemas.openxmlformats.org/drawingml/2006/main">
              <a:ext uri="{FF2B5EF4-FFF2-40B4-BE49-F238E27FC236}">
                <a16:creationId xmlns:a16="http://schemas.microsoft.com/office/drawing/2014/main" id="{A0079BB2-B4E7-4394-9C1F-E430AABEEF40}"/>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ED6FA456-95CB-4931-B54D-8DC81D836865}"/>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D602D996-64E9-45E1-A06D-99B8BE4DBC1C}"/>
              </a:ext>
            </a:extLst>
          </p:cNvPr>
          <p:cNvSpPr>
            <a:spLocks xmlns:a="http://schemas.openxmlformats.org/drawingml/2006/main" noGrp="1"/>
          </p:cNvSpPr>
          <p:nvPr/>
        </p:nvSpPr>
        <p:spPr>
          <a:xfrm xmlns:a="http://schemas.openxmlformats.org/drawingml/2006/main">
            <a:off x="628650" y="18002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6B9A"/>
                </a:solidFill>
                <a:latin typeface="Arial"/>
                <a:ea typeface="Arial"/>
                <a:cs typeface="Arial"/>
              </a:defRPr>
            </a:pPr>
            <a:r>
              <a:rPr sz="1500" b="1">
                <a:solidFill>
                  <a:srgbClr val="176B9A"/>
                </a:solidFill>
                <a:latin typeface="Arial"/>
                <a:ea typeface="Arial"/>
                <a:cs typeface="Arial"/>
              </a:rPr>
              <a:t>P de victoria o empate (%)</a:t>
            </a:r>
          </a:p>
        </p:txBody>
      </p:sp>
      <p:graphicFrame>
        <p:nvGraphicFramePr>
          <p:cNvPr id="15" name="Chart"/>
          <p:cNvGraphicFramePr/>
          <p:nvPr/>
        </p:nvGraphicFramePr>
        <p:xfrm>
          <a:off xmlns:a="http://schemas.openxmlformats.org/drawingml/2006/main" x="619125" y="2219325"/>
          <a:ext xmlns:a="http://schemas.openxmlformats.org/drawingml/2006/main" cx="10858500" cy="3238500"/>
        </p:xfrm>
        <a:graphic xmlns:a="http://schemas.openxmlformats.org/drawingml/2006/main">
          <a:graphicData uri="http://schemas.openxmlformats.org/drawingml/2006/chart">
            <c:chart xmlns:r="http://schemas.openxmlformats.org/officeDocument/2006/relationships" xmlns:c="http://schemas.openxmlformats.org/drawingml/2006/chart" r:id="Rf1102a408da94679"/>
          </a:graphicData>
        </a:graphic>
      </p:graphicFrame>
      <p:sp>
        <p:nvSpPr>
          <p:cNvPr id="8" name="">
            <a:extLst xmlns:a="http://schemas.openxmlformats.org/drawingml/2006/main">
              <a:ext uri="{FF2B5EF4-FFF2-40B4-BE49-F238E27FC236}">
                <a16:creationId xmlns:a16="http://schemas.microsoft.com/office/drawing/2014/main" id="{2B3057DA-5EF1-468F-892A-D78D61DB6081}"/>
              </a:ext>
            </a:extLst>
          </p:cNvPr>
          <p:cNvSpPr>
            <a:spLocks xmlns:a="http://schemas.openxmlformats.org/drawingml/2006/main" noGrp="1"/>
          </p:cNvSpPr>
          <p:nvPr/>
        </p:nvSpPr>
        <p:spPr>
          <a:xfrm xmlns:a="http://schemas.openxmlformats.org/drawingml/2006/main">
            <a:off x="619125" y="58102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Se supone que Cabo Verde ya superó a Argentina</a:t>
            </a:r>
          </a:p>
        </p:txBody>
      </p:sp>
    </p:spTree>
    <p:extLst>
      <p:ext uri="{BB962C8B-B14F-4D97-AF65-F5344CB8AC3E}">
        <p14:creationId xmlns:p14="http://schemas.microsoft.com/office/powerpoint/2010/main" val="1830273671"/>
      </p:ext>
    </p:extLst>
  </p:cSld>
  <p:transition spd="slow" advClick="1">
    <p:fade/>
  </p:transition>
</p:sld>
</file>

<file path=ppt/slides/slide74.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6E0BE4C-8808-4DB4-B0D6-871ADFE831FF}"/>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BC0B823D-C302-4373-B643-559E906F41DA}"/>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La probabilidad depende del punto de partida</a:t>
            </a:r>
          </a:p>
        </p:txBody>
      </p:sp>
      <p:sp>
        <p:nvSpPr>
          <p:cNvPr id="3" name="">
            <a:extLst xmlns:a="http://schemas.openxmlformats.org/drawingml/2006/main">
              <a:ext uri="{FF2B5EF4-FFF2-40B4-BE49-F238E27FC236}">
                <a16:creationId xmlns:a16="http://schemas.microsoft.com/office/drawing/2014/main" id="{1A54E404-5258-4C29-973F-7130F6090DCA}"/>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76</a:t>
            </a:r>
          </a:p>
        </p:txBody>
      </p:sp>
      <p:sp>
        <p:nvSpPr>
          <p:cNvPr id="4" name="">
            <a:extLst xmlns:a="http://schemas.openxmlformats.org/drawingml/2006/main">
              <a:ext uri="{FF2B5EF4-FFF2-40B4-BE49-F238E27FC236}">
                <a16:creationId xmlns:a16="http://schemas.microsoft.com/office/drawing/2014/main" id="{09A1AE32-8742-482F-8588-56CB7D099B84}"/>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E6C1D600-36A9-4B34-B40C-07B2B90B1304}"/>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E00F3FD6-0812-47FA-BA71-B856BED02DAF}"/>
              </a:ext>
            </a:extLst>
          </p:cNvPr>
          <p:cNvSpPr>
            <a:spLocks xmlns:a="http://schemas.openxmlformats.org/drawingml/2006/main" noGrp="1"/>
          </p:cNvSpPr>
          <p:nvPr/>
        </p:nvSpPr>
        <p:spPr>
          <a:xfrm xmlns:a="http://schemas.openxmlformats.org/drawingml/2006/main">
            <a:off x="609600" y="198120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Después de Argentina: 0.06 %</a:t>
            </a:r>
          </a:p>
        </p:txBody>
      </p:sp>
      <p:sp>
        <p:nvSpPr>
          <p:cNvPr id="7" name="">
            <a:extLst xmlns:a="http://schemas.openxmlformats.org/drawingml/2006/main">
              <a:ext uri="{FF2B5EF4-FFF2-40B4-BE49-F238E27FC236}">
                <a16:creationId xmlns:a16="http://schemas.microsoft.com/office/drawing/2014/main" id="{C5AE1812-9D59-41D6-9CD5-FD7EF3E6D782}"/>
              </a:ext>
            </a:extLst>
          </p:cNvPr>
          <p:cNvSpPr>
            <a:spLocks xmlns:a="http://schemas.openxmlformats.org/drawingml/2006/main" noGrp="1"/>
          </p:cNvSpPr>
          <p:nvPr/>
        </p:nvSpPr>
        <p:spPr>
          <a:xfrm xmlns:a="http://schemas.openxmlformats.org/drawingml/2006/main">
            <a:off x="609600" y="294322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Incluyendo Argentina: 0.00408 %</a:t>
            </a:r>
          </a:p>
        </p:txBody>
      </p:sp>
      <p:sp>
        <p:nvSpPr>
          <p:cNvPr id="8" name="">
            <a:extLst xmlns:a="http://schemas.openxmlformats.org/drawingml/2006/main">
              <a:ext uri="{FF2B5EF4-FFF2-40B4-BE49-F238E27FC236}">
                <a16:creationId xmlns:a16="http://schemas.microsoft.com/office/drawing/2014/main" id="{18222F93-FB81-4882-9E18-42A5C6A70422}"/>
              </a:ext>
            </a:extLst>
          </p:cNvPr>
          <p:cNvSpPr>
            <a:spLocks xmlns:a="http://schemas.openxmlformats.org/drawingml/2006/main" noGrp="1"/>
          </p:cNvSpPr>
          <p:nvPr/>
        </p:nvSpPr>
        <p:spPr>
          <a:xfrm xmlns:a="http://schemas.openxmlformats.org/drawingml/2006/main">
            <a:off x="609600" y="3905250"/>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Desde el grupo H: 0.000953 %</a:t>
            </a:r>
          </a:p>
        </p:txBody>
      </p:sp>
      <p:sp>
        <p:nvSpPr>
          <p:cNvPr id="9" name="">
            <a:extLst xmlns:a="http://schemas.openxmlformats.org/drawingml/2006/main">
              <a:ext uri="{FF2B5EF4-FFF2-40B4-BE49-F238E27FC236}">
                <a16:creationId xmlns:a16="http://schemas.microsoft.com/office/drawing/2014/main" id="{A494A72C-5024-4EF4-AD5B-2C60C4F43DE4}"/>
              </a:ext>
            </a:extLst>
          </p:cNvPr>
          <p:cNvSpPr>
            <a:spLocks xmlns:a="http://schemas.openxmlformats.org/drawingml/2006/main" noGrp="1"/>
          </p:cNvSpPr>
          <p:nvPr/>
        </p:nvSpPr>
        <p:spPr>
          <a:xfrm xmlns:a="http://schemas.openxmlformats.org/drawingml/2006/main">
            <a:off x="609600" y="48672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42C"/>
                </a:solidFill>
                <a:latin typeface="Arial"/>
                <a:ea typeface="Arial"/>
                <a:cs typeface="Arial"/>
              </a:defRPr>
            </a:pPr>
            <a:r>
              <a:rPr sz="2250" b="0">
                <a:solidFill>
                  <a:srgbClr val="17242C"/>
                </a:solidFill>
                <a:latin typeface="Arial"/>
                <a:ea typeface="Arial"/>
                <a:cs typeface="Arial"/>
              </a:rPr>
              <a:t>La ruta está fijada y los penales siempre favorecen a Cabo Verde</a:t>
            </a:r>
          </a:p>
        </p:txBody>
      </p:sp>
    </p:spTree>
    <p:extLst>
      <p:ext uri="{BB962C8B-B14F-4D97-AF65-F5344CB8AC3E}">
        <p14:creationId xmlns:p14="http://schemas.microsoft.com/office/powerpoint/2010/main" val="667237743"/>
      </p:ext>
    </p:extLst>
  </p:cSld>
  <p:transition spd="slow" advClick="1">
    <p:fade/>
  </p:transition>
</p:sld>
</file>

<file path=ppt/slides/slide75.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8AAECB-C9E9-45DB-933E-BA7EFAB65C9F}"/>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9A14EBFF-BF80-4F51-AF5A-16CCC11273EA}"/>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Simulación de clasificación y posiciones</a:t>
            </a:r>
          </a:p>
        </p:txBody>
      </p:sp>
      <p:sp>
        <p:nvSpPr>
          <p:cNvPr id="3" name="">
            <a:extLst xmlns:a="http://schemas.openxmlformats.org/drawingml/2006/main">
              <a:ext uri="{FF2B5EF4-FFF2-40B4-BE49-F238E27FC236}">
                <a16:creationId xmlns:a16="http://schemas.microsoft.com/office/drawing/2014/main" id="{A8C6F7B0-D2E9-48C1-BDC6-AD2E5DE8366C}"/>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77</a:t>
            </a:r>
          </a:p>
        </p:txBody>
      </p:sp>
      <p:sp>
        <p:nvSpPr>
          <p:cNvPr id="4" name="">
            <a:extLst xmlns:a="http://schemas.openxmlformats.org/drawingml/2006/main">
              <a:ext uri="{FF2B5EF4-FFF2-40B4-BE49-F238E27FC236}">
                <a16:creationId xmlns:a16="http://schemas.microsoft.com/office/drawing/2014/main" id="{10B9D644-C6EE-4F12-AC91-3C152BFA3A83}"/>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586A4A97-1C53-4C1D-88B4-05D1DC23F5E0}"/>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F28F3397-18EB-436A-BCAE-E04EC5B3FBEE}"/>
              </a:ext>
            </a:extLst>
          </p:cNvPr>
          <p:cNvSpPr>
            <a:spLocks xmlns:a="http://schemas.openxmlformats.org/drawingml/2006/main" noGrp="1"/>
          </p:cNvSpPr>
          <p:nvPr/>
        </p:nvSpPr>
        <p:spPr>
          <a:xfrm xmlns:a="http://schemas.openxmlformats.org/drawingml/2006/main">
            <a:off x="666750" y="20383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La clasificación directa no se modela como ganar individualmente los diez partidos. Se generan los marcadores de los 30 encuentros entre las seis selecciones, se acumulan puntos y se ordena la tabla. Cabo Verde clasifica cuando ocupa la primera posición, aunque haya empatado o perdido algunos encuentros.</a:t>
            </a:r>
          </a:p>
        </p:txBody>
      </p:sp>
      <p:sp>
        <p:nvSpPr>
          <p:cNvPr id="7" name="">
            <a:extLst xmlns:a="http://schemas.openxmlformats.org/drawingml/2006/main">
              <a:ext uri="{FF2B5EF4-FFF2-40B4-BE49-F238E27FC236}">
                <a16:creationId xmlns:a16="http://schemas.microsoft.com/office/drawing/2014/main" id="{84B75B19-ACB0-4BE8-A136-6DB33E5D79CC}"/>
              </a:ext>
            </a:extLst>
          </p:cNvPr>
          <p:cNvSpPr>
            <a:spLocks xmlns:a="http://schemas.openxmlformats.org/drawingml/2006/main" noGrp="1"/>
          </p:cNvSpPr>
          <p:nvPr/>
        </p:nvSpPr>
        <p:spPr>
          <a:xfrm xmlns:a="http://schemas.openxmlformats.org/drawingml/2006/main">
            <a:off x="666750" y="40386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El simulador prioriza puntos, diferencia de goles y goles a favor en la eliminatoria; después usa una minitabla entre empatados y un sorteo residual. El ordenamiento del Mundial prioriza la minitabla entre equipos igualados a puntos, después diferencia de goles y goles generales, con sorteo residual. No reproduce disciplina ni todas las posibles reaplicaciones de criterios: es una aproximación explícita del reglamento.</a:t>
            </a:r>
          </a:p>
        </p:txBody>
      </p:sp>
    </p:spTree>
    <p:extLst>
      <p:ext uri="{BB962C8B-B14F-4D97-AF65-F5344CB8AC3E}">
        <p14:creationId xmlns:p14="http://schemas.microsoft.com/office/powerpoint/2010/main" val="35883153"/>
      </p:ext>
    </p:extLst>
  </p:cSld>
  <p:transition spd="slow" advClick="1">
    <p:fade/>
  </p:transition>
</p:sld>
</file>

<file path=ppt/slides/slide76.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BBED051-ECAC-4D74-882A-A58C257D8F6B}"/>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B9C2FF09-E2A2-4340-9EAA-158F647EBE5D}"/>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Simulación de clasificación y posiciones · desarrollo</a:t>
            </a:r>
          </a:p>
        </p:txBody>
      </p:sp>
      <p:sp>
        <p:nvSpPr>
          <p:cNvPr id="3" name="">
            <a:extLst xmlns:a="http://schemas.openxmlformats.org/drawingml/2006/main">
              <a:ext uri="{FF2B5EF4-FFF2-40B4-BE49-F238E27FC236}">
                <a16:creationId xmlns:a16="http://schemas.microsoft.com/office/drawing/2014/main" id="{70C46209-5BEF-43CE-9553-AB852B0E5593}"/>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78</a:t>
            </a:r>
          </a:p>
        </p:txBody>
      </p:sp>
      <p:sp>
        <p:nvSpPr>
          <p:cNvPr id="4" name="">
            <a:extLst xmlns:a="http://schemas.openxmlformats.org/drawingml/2006/main">
              <a:ext uri="{FF2B5EF4-FFF2-40B4-BE49-F238E27FC236}">
                <a16:creationId xmlns:a16="http://schemas.microsoft.com/office/drawing/2014/main" id="{28751877-7D6D-4B97-8286-739F926A2C5B}"/>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3927CD95-E19B-4688-B28B-4A1D53AD2842}"/>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31cbdf91e9442e2"/>
          <a:stretch xmlns:a="http://schemas.openxmlformats.org/drawingml/2006/main"/>
        </p:blipFill>
        <p:spPr>
          <a:xfrm xmlns:a="http://schemas.openxmlformats.org/drawingml/2006/main">
            <a:off x="1667547" y="1930998"/>
            <a:ext cx="8799755" cy="71000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9B9463A-3C41-45C1-86F7-996E5EB0E82D}"/>
              </a:ext>
            </a:extLst>
          </p:cNvPr>
          <p:cNvSpPr>
            <a:spLocks xmlns:a="http://schemas.openxmlformats.org/drawingml/2006/main" noGrp="1"/>
          </p:cNvSpPr>
          <p:nvPr/>
        </p:nvSpPr>
        <p:spPr>
          <a:xfrm xmlns:a="http://schemas.openxmlformats.org/drawingml/2006/main">
            <a:off x="666750" y="609600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Desarrollo del modelo · fundamentos: Goldsman, caps. 1, 4–6; Skellam: SciPy</a:t>
            </a:r>
          </a:p>
        </p:txBody>
      </p:sp>
      <p:sp>
        <p:nvSpPr>
          <p:cNvPr id="8" name="">
            <a:extLst xmlns:a="http://schemas.openxmlformats.org/drawingml/2006/main">
              <a:ext uri="{FF2B5EF4-FFF2-40B4-BE49-F238E27FC236}">
                <a16:creationId xmlns:a16="http://schemas.microsoft.com/office/drawing/2014/main" id="{35B4C044-2E85-498A-9AE9-3F7591A680A5}"/>
              </a:ext>
            </a:extLst>
          </p:cNvPr>
          <p:cNvSpPr>
            <a:spLocks xmlns:a="http://schemas.openxmlformats.org/drawingml/2006/main" noGrp="1"/>
          </p:cNvSpPr>
          <p:nvPr/>
        </p:nvSpPr>
        <p:spPr>
          <a:xfrm xmlns:a="http://schemas.openxmlformats.org/drawingml/2006/main">
            <a:off x="666750" y="30099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El cálculo produce 1288 clasificaciones directas en 10 000 repeticiones, p̂=0.1288. Su error estándar Monte Carlo aproximado es 0.003350, equivalente a 0.335 puntos porcentuales. El intervalo binomial exacto del 95 % es [0.122293,0.135524]. La estimación describe una posibilidad minoritaria bajo el modelo, no una imposibilidad ni una prueba de que el resultado real fuera anómalo.</a:t>
            </a:r>
          </a:p>
        </p:txBody>
      </p:sp>
    </p:spTree>
    <p:extLst>
      <p:ext uri="{BB962C8B-B14F-4D97-AF65-F5344CB8AC3E}">
        <p14:creationId xmlns:p14="http://schemas.microsoft.com/office/powerpoint/2010/main" val="1795638684"/>
      </p:ext>
    </p:extLst>
  </p:cSld>
  <p:transition spd="slow" advClick="1">
    <p:fade/>
  </p:transition>
</p:sld>
</file>

<file path=ppt/slides/slide77.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E26121-5A0F-4E98-8363-F946E3E95190}"/>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1F543DF6-9B5E-46EF-BB74-C488EF66824F}"/>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Condicionar los empates correctamente</a:t>
            </a:r>
          </a:p>
        </p:txBody>
      </p:sp>
      <p:sp>
        <p:nvSpPr>
          <p:cNvPr id="3" name="">
            <a:extLst xmlns:a="http://schemas.openxmlformats.org/drawingml/2006/main">
              <a:ext uri="{FF2B5EF4-FFF2-40B4-BE49-F238E27FC236}">
                <a16:creationId xmlns:a16="http://schemas.microsoft.com/office/drawing/2014/main" id="{CFF967F1-A6DC-4DE2-B232-27D5EA364B0A}"/>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79</a:t>
            </a:r>
          </a:p>
        </p:txBody>
      </p:sp>
      <p:sp>
        <p:nvSpPr>
          <p:cNvPr id="4" name="">
            <a:extLst xmlns:a="http://schemas.openxmlformats.org/drawingml/2006/main">
              <a:ext uri="{FF2B5EF4-FFF2-40B4-BE49-F238E27FC236}">
                <a16:creationId xmlns:a16="http://schemas.microsoft.com/office/drawing/2014/main" id="{C7295D89-CA49-498E-A78C-FC7761F7E6B2}"/>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F72C8D6B-8198-4270-94E4-089B92F3B85A}"/>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02F367B8-13C1-4F12-86FD-DFF29AC9C47C}"/>
              </a:ext>
            </a:extLst>
          </p:cNvPr>
          <p:cNvSpPr>
            <a:spLocks xmlns:a="http://schemas.openxmlformats.org/drawingml/2006/main" noGrp="1"/>
          </p:cNvSpPr>
          <p:nvPr/>
        </p:nvSpPr>
        <p:spPr>
          <a:xfrm xmlns:a="http://schemas.openxmlformats.org/drawingml/2006/main">
            <a:off x="666750" y="20383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La igualdad de goles es un evento al que se condiciona la distribución conjunta. La probabilidad de cada empate k–k se normaliza dividiendo por la probabilidad total de empate. El código evalúa los valores k=0,…,24, cuyo peso omitido es despreciable para las tasas utilizadas; esto es una aproximación numérica de la suma infinita.</a:t>
            </a:r>
          </a:p>
        </p:txBody>
      </p:sp>
      <p:sp>
        <p:nvSpPr>
          <p:cNvPr id="7" name="">
            <a:extLst xmlns:a="http://schemas.openxmlformats.org/drawingml/2006/main">
              <a:ext uri="{FF2B5EF4-FFF2-40B4-BE49-F238E27FC236}">
                <a16:creationId xmlns:a16="http://schemas.microsoft.com/office/drawing/2014/main" id="{B1A28E6C-847C-4859-9302-2E6495EB6FAC}"/>
              </a:ext>
            </a:extLst>
          </p:cNvPr>
          <p:cNvSpPr>
            <a:spLocks xmlns:a="http://schemas.openxmlformats.org/drawingml/2006/main" noGrp="1"/>
          </p:cNvSpPr>
          <p:nvPr/>
        </p:nvSpPr>
        <p:spPr>
          <a:xfrm xmlns:a="http://schemas.openxmlformats.org/drawingml/2006/main">
            <a:off x="666750" y="40386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Para el Mundial se generan doce grupos de cuatro equipos, seis partidos por grupo. Avanzan los dos primeros de cada grupo y ocho terceros ordenados por puntos, diferencia de goles y goles a favor, con sorteo residual. Simular únicamente el grupo H no permite identificar la probabilidad de ser uno de los ocho mejores terceros.</a:t>
            </a:r>
          </a:p>
        </p:txBody>
      </p:sp>
    </p:spTree>
    <p:extLst>
      <p:ext uri="{BB962C8B-B14F-4D97-AF65-F5344CB8AC3E}">
        <p14:creationId xmlns:p14="http://schemas.microsoft.com/office/powerpoint/2010/main" val="575144086"/>
      </p:ext>
    </p:extLst>
  </p:cSld>
  <p:transition spd="slow" advClick="1">
    <p:fade/>
  </p:transition>
</p:sld>
</file>

<file path=ppt/slides/slide78.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A0ECC40-409A-44B9-AC6B-C05C5C1DB98A}"/>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6CC3BA88-D875-4C47-971C-C37FF50A0E27}"/>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Condicionar los empates correctamente · desarrollo</a:t>
            </a:r>
          </a:p>
        </p:txBody>
      </p:sp>
      <p:sp>
        <p:nvSpPr>
          <p:cNvPr id="3" name="">
            <a:extLst xmlns:a="http://schemas.openxmlformats.org/drawingml/2006/main">
              <a:ext uri="{FF2B5EF4-FFF2-40B4-BE49-F238E27FC236}">
                <a16:creationId xmlns:a16="http://schemas.microsoft.com/office/drawing/2014/main" id="{CD93EB40-5649-4CE6-826E-BA77AABA0195}"/>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80</a:t>
            </a:r>
          </a:p>
        </p:txBody>
      </p:sp>
      <p:sp>
        <p:nvSpPr>
          <p:cNvPr id="4" name="">
            <a:extLst xmlns:a="http://schemas.openxmlformats.org/drawingml/2006/main">
              <a:ext uri="{FF2B5EF4-FFF2-40B4-BE49-F238E27FC236}">
                <a16:creationId xmlns:a16="http://schemas.microsoft.com/office/drawing/2014/main" id="{EBFC2BF4-36B0-46CB-BDB8-BD8B444BD2DD}"/>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0AF4445D-EF5A-4D29-921B-B07071A59E18}"/>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b09d0c31fe248fc"/>
          <a:stretch xmlns:a="http://schemas.openxmlformats.org/drawingml/2006/main"/>
        </p:blipFill>
        <p:spPr>
          <a:xfrm xmlns:a="http://schemas.openxmlformats.org/drawingml/2006/main">
            <a:off x="2831525" y="1863583"/>
            <a:ext cx="6471800" cy="84483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3748D52-589F-4250-AB89-A34A2B7B0A2D}"/>
              </a:ext>
            </a:extLst>
          </p:cNvPr>
          <p:cNvSpPr>
            <a:spLocks xmlns:a="http://schemas.openxmlformats.org/drawingml/2006/main" noGrp="1"/>
          </p:cNvSpPr>
          <p:nvPr/>
        </p:nvSpPr>
        <p:spPr>
          <a:xfrm xmlns:a="http://schemas.openxmlformats.org/drawingml/2006/main">
            <a:off x="666750" y="609600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Desarrollo del modelo · fundamentos: Goldsman, caps. 1, 4–6; Skellam: SciPy</a:t>
            </a:r>
          </a:p>
        </p:txBody>
      </p:sp>
      <p:sp>
        <p:nvSpPr>
          <p:cNvPr id="8" name="">
            <a:extLst xmlns:a="http://schemas.openxmlformats.org/drawingml/2006/main">
              <a:ext uri="{FF2B5EF4-FFF2-40B4-BE49-F238E27FC236}">
                <a16:creationId xmlns:a16="http://schemas.microsoft.com/office/drawing/2014/main" id="{F1B29BD1-A37C-48AC-A8BA-68F08A20AE12}"/>
              </a:ext>
            </a:extLst>
          </p:cNvPr>
          <p:cNvSpPr>
            <a:spLocks xmlns:a="http://schemas.openxmlformats.org/drawingml/2006/main" noGrp="1"/>
          </p:cNvSpPr>
          <p:nvPr/>
        </p:nvSpPr>
        <p:spPr>
          <a:xfrm xmlns:a="http://schemas.openxmlformats.org/drawingml/2006/main">
            <a:off x="666750" y="30099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Sea D el evento de tres empates y U el evento de que Uruguay no pierda ante España. La estimación de P(A | D,U) es el número de simulaciones con avance, D y U dividido por el número con D y U. Las simulaciones condicionadas a D ya fijan ese evento mediante muestreo directo, por lo que conservan muchas más repeticiones útiles que filtrar un evento raro en una corrida no condicionada.</a:t>
            </a:r>
          </a:p>
        </p:txBody>
      </p:sp>
      <p:sp>
        <p:nvSpPr>
          <p:cNvPr id="9" name="">
            <a:extLst xmlns:a="http://schemas.openxmlformats.org/drawingml/2006/main">
              <a:ext uri="{FF2B5EF4-FFF2-40B4-BE49-F238E27FC236}">
                <a16:creationId xmlns:a16="http://schemas.microsoft.com/office/drawing/2014/main" id="{50819AD0-EF45-40BA-ABDF-41B77BCD113D}"/>
              </a:ext>
            </a:extLst>
          </p:cNvPr>
          <p:cNvSpPr>
            <a:spLocks xmlns:a="http://schemas.openxmlformats.org/drawingml/2006/main" noGrp="1"/>
          </p:cNvSpPr>
          <p:nvPr/>
        </p:nvSpPr>
        <p:spPr>
          <a:xfrm xmlns:a="http://schemas.openxmlformats.org/drawingml/2006/main">
            <a:off x="666750" y="46101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Las tres condiciones no son intercambiables: P(D), P(A | D) y P(A | D, tercer puesto) tienen denominadores distintos. Tampoco se interpreta la diferencia entre P(A | D) y P(A) como efecto causal de una intervención que obligue a empatar.</a:t>
            </a:r>
          </a:p>
        </p:txBody>
      </p:sp>
    </p:spTree>
    <p:extLst>
      <p:ext uri="{BB962C8B-B14F-4D97-AF65-F5344CB8AC3E}">
        <p14:creationId xmlns:p14="http://schemas.microsoft.com/office/powerpoint/2010/main" val="1414230841"/>
      </p:ext>
    </p:extLst>
  </p:cSld>
  <p:transition spd="slow" advClick="1">
    <p:fade/>
  </p:transition>
</p:sld>
</file>

<file path=ppt/slides/slide79.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6C9540-2531-4520-9705-68CFD4919FF1}"/>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22EC1764-EEFD-43D4-9832-EF8B942B3998}"/>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Resultados condicionados y su precisión</a:t>
            </a:r>
          </a:p>
        </p:txBody>
      </p:sp>
      <p:sp>
        <p:nvSpPr>
          <p:cNvPr id="3" name="">
            <a:extLst xmlns:a="http://schemas.openxmlformats.org/drawingml/2006/main">
              <a:ext uri="{FF2B5EF4-FFF2-40B4-BE49-F238E27FC236}">
                <a16:creationId xmlns:a16="http://schemas.microsoft.com/office/drawing/2014/main" id="{8B13D785-910B-4440-BBE9-8F8B0E01F532}"/>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81</a:t>
            </a:r>
          </a:p>
        </p:txBody>
      </p:sp>
      <p:sp>
        <p:nvSpPr>
          <p:cNvPr id="4" name="">
            <a:extLst xmlns:a="http://schemas.openxmlformats.org/drawingml/2006/main">
              <a:ext uri="{FF2B5EF4-FFF2-40B4-BE49-F238E27FC236}">
                <a16:creationId xmlns:a16="http://schemas.microsoft.com/office/drawing/2014/main" id="{654A2335-EA53-43C5-805C-79F9F3A8F117}"/>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05FD0E1B-8B5D-4FC5-8579-D8F97CDCDAD8}"/>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18A337B4-0618-42F1-AB76-18E86419B3A6}"/>
              </a:ext>
            </a:extLst>
          </p:cNvPr>
          <p:cNvSpPr>
            <a:spLocks xmlns:a="http://schemas.openxmlformats.org/drawingml/2006/main" noGrp="1"/>
          </p:cNvSpPr>
          <p:nvPr/>
        </p:nvSpPr>
        <p:spPr>
          <a:xfrm xmlns:a="http://schemas.openxmlformats.org/drawingml/2006/main">
            <a:off x="666750" y="20383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El intervalo exacto del escenario no condicionado es [22.5336 %,24.2020 %]; para tres empates, [94.8772 %,95.7161 %]. En los escenarios filtrados se recalcula el intervalo con su tamaño efectivo, no se conserva artificialmente un denominador de 10 000.</a:t>
            </a:r>
          </a:p>
        </p:txBody>
      </p:sp>
      <p:sp>
        <p:nvSpPr>
          <p:cNvPr id="7" name="">
            <a:extLst xmlns:a="http://schemas.openxmlformats.org/drawingml/2006/main">
              <a:ext uri="{FF2B5EF4-FFF2-40B4-BE49-F238E27FC236}">
                <a16:creationId xmlns:a16="http://schemas.microsoft.com/office/drawing/2014/main" id="{FB194087-1813-4217-B7DB-AC1A7086370C}"/>
              </a:ext>
            </a:extLst>
          </p:cNvPr>
          <p:cNvSpPr>
            <a:spLocks xmlns:a="http://schemas.openxmlformats.org/drawingml/2006/main" noGrp="1"/>
          </p:cNvSpPr>
          <p:nvPr/>
        </p:nvSpPr>
        <p:spPr>
          <a:xfrm xmlns:a="http://schemas.openxmlformats.org/drawingml/2006/main">
            <a:off x="666750" y="40386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La probabilidad analítica de tres empates es 0.00148934. Condicionado a ellos, la clasificación es alta bajo esta simulación, en parte porque la diferencia de goles es cero. Esto no equivale a afirmar que cualquier tercero con tres puntos tenga la misma probabilidad: tres puntos obtenidos mediante una victoria y dos derrotas pueden implicar una diferencia negativa.</a:t>
            </a:r>
          </a:p>
        </p:txBody>
      </p:sp>
    </p:spTree>
    <p:extLst>
      <p:ext uri="{BB962C8B-B14F-4D97-AF65-F5344CB8AC3E}">
        <p14:creationId xmlns:p14="http://schemas.microsoft.com/office/powerpoint/2010/main" val="1396712265"/>
      </p:ext>
    </p:extLst>
  </p:cSld>
  <p:transition spd="slow" advClick="1">
    <p:fade/>
  </p:transition>
</p:sld>
</file>

<file path=ppt/slides/slide80.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28DB3F-CA3C-4BCD-860A-8A2ABDBB2C95}"/>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B9F2AD8F-1EDE-4CEC-A756-2AE3D9A39825}"/>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Resultados condicionados y su precisión · desarrollo</a:t>
            </a:r>
          </a:p>
        </p:txBody>
      </p:sp>
      <p:sp>
        <p:nvSpPr>
          <p:cNvPr id="3" name="">
            <a:extLst xmlns:a="http://schemas.openxmlformats.org/drawingml/2006/main">
              <a:ext uri="{FF2B5EF4-FFF2-40B4-BE49-F238E27FC236}">
                <a16:creationId xmlns:a16="http://schemas.microsoft.com/office/drawing/2014/main" id="{5382CF28-9070-446F-AF43-1F9F0EEF26C3}"/>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82</a:t>
            </a:r>
          </a:p>
        </p:txBody>
      </p:sp>
      <p:sp>
        <p:nvSpPr>
          <p:cNvPr id="4" name="">
            <a:extLst xmlns:a="http://schemas.openxmlformats.org/drawingml/2006/main">
              <a:ext uri="{FF2B5EF4-FFF2-40B4-BE49-F238E27FC236}">
                <a16:creationId xmlns:a16="http://schemas.microsoft.com/office/drawing/2014/main" id="{4A8F46EF-3FFA-444A-949D-846A3DC17BB6}"/>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CCF47A59-5D92-432C-B803-2865D1A24A83}"/>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63eb281064f4895"/>
          <a:stretch xmlns:a="http://schemas.openxmlformats.org/drawingml/2006/main"/>
        </p:blipFill>
        <p:spPr>
          <a:xfrm xmlns:a="http://schemas.openxmlformats.org/drawingml/2006/main">
            <a:off x="3291952" y="2022796"/>
            <a:ext cx="5550946" cy="52640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4B03E50-E6B3-449D-9551-3FF7C802903B}"/>
              </a:ext>
            </a:extLst>
          </p:cNvPr>
          <p:cNvSpPr>
            <a:spLocks xmlns:a="http://schemas.openxmlformats.org/drawingml/2006/main" noGrp="1"/>
          </p:cNvSpPr>
          <p:nvPr/>
        </p:nvSpPr>
        <p:spPr>
          <a:xfrm xmlns:a="http://schemas.openxmlformats.org/drawingml/2006/main">
            <a:off x="666750" y="609600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Desarrollo del modelo · fundamentos: Goldsman, caps. 1, 4–6; Skellam: SciPy</a:t>
            </a:r>
          </a:p>
        </p:txBody>
      </p:sp>
      <p:sp>
        <p:nvSpPr>
          <p:cNvPr id="8" name="">
            <a:extLst xmlns:a="http://schemas.openxmlformats.org/drawingml/2006/main">
              <a:ext uri="{FF2B5EF4-FFF2-40B4-BE49-F238E27FC236}">
                <a16:creationId xmlns:a16="http://schemas.microsoft.com/office/drawing/2014/main" id="{4764F5B6-6975-4C4F-885C-906679EF3AF9}"/>
              </a:ext>
            </a:extLst>
          </p:cNvPr>
          <p:cNvSpPr>
            <a:spLocks xmlns:a="http://schemas.openxmlformats.org/drawingml/2006/main" noGrp="1"/>
          </p:cNvSpPr>
          <p:nvPr/>
        </p:nvSpPr>
        <p:spPr>
          <a:xfrm xmlns:a="http://schemas.openxmlformats.org/drawingml/2006/main">
            <a:off x="666750" y="30099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La combinación de la probabilidad analítica de D con la frecuencia condicional de A permite aproximar P(A∩D)=P(D)P(A | D)≈0.0014195, es decir, 0.14195 %. Esta identidad contrasta la baja frecuencia del camino concreto de tres empates con su elevada probabilidad de avance una vez observado ese camino.</a:t>
            </a:r>
          </a:p>
        </p:txBody>
      </p:sp>
      <p:sp>
        <p:nvSpPr>
          <p:cNvPr id="9" name="">
            <a:extLst xmlns:a="http://schemas.openxmlformats.org/drawingml/2006/main">
              <a:ext uri="{FF2B5EF4-FFF2-40B4-BE49-F238E27FC236}">
                <a16:creationId xmlns:a16="http://schemas.microsoft.com/office/drawing/2014/main" id="{06AECE62-011B-4F3F-8937-E5A238F6C32E}"/>
              </a:ext>
            </a:extLst>
          </p:cNvPr>
          <p:cNvSpPr>
            <a:spLocks xmlns:a="http://schemas.openxmlformats.org/drawingml/2006/main" noGrp="1"/>
          </p:cNvSpPr>
          <p:nvPr/>
        </p:nvSpPr>
        <p:spPr>
          <a:xfrm xmlns:a="http://schemas.openxmlformats.org/drawingml/2006/main">
            <a:off x="666750" y="46101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Las barras son estimaciones condicionales, no observaciones de miles de Mundiales reales. Su precisión Monte Carlo no valida las valoraciones Elo, la tasa base de goles ni la aproximación de los desempates.</a:t>
            </a:r>
          </a:p>
        </p:txBody>
      </p:sp>
    </p:spTree>
    <p:extLst>
      <p:ext uri="{BB962C8B-B14F-4D97-AF65-F5344CB8AC3E}">
        <p14:creationId xmlns:p14="http://schemas.microsoft.com/office/powerpoint/2010/main" val="1712312033"/>
      </p:ext>
    </p:extLst>
  </p:cSld>
  <p:transition spd="slow" advClick="1">
    <p:fade/>
  </p:transition>
</p:sld>
</file>

<file path=ppt/slides/slide81.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B2C0318-0CCD-4F89-881B-BA46B0A7CD38}"/>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33876AA9-EB44-420D-8158-8F07E7418B78}"/>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Derivación de la ruta al título</a:t>
            </a:r>
          </a:p>
        </p:txBody>
      </p:sp>
      <p:sp>
        <p:nvSpPr>
          <p:cNvPr id="3" name="">
            <a:extLst xmlns:a="http://schemas.openxmlformats.org/drawingml/2006/main">
              <a:ext uri="{FF2B5EF4-FFF2-40B4-BE49-F238E27FC236}">
                <a16:creationId xmlns:a16="http://schemas.microsoft.com/office/drawing/2014/main" id="{4CABB5C1-AAB1-441C-B12B-C0FD2EDCDF1D}"/>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83</a:t>
            </a:r>
          </a:p>
        </p:txBody>
      </p:sp>
      <p:sp>
        <p:nvSpPr>
          <p:cNvPr id="4" name="">
            <a:extLst xmlns:a="http://schemas.openxmlformats.org/drawingml/2006/main">
              <a:ext uri="{FF2B5EF4-FFF2-40B4-BE49-F238E27FC236}">
                <a16:creationId xmlns:a16="http://schemas.microsoft.com/office/drawing/2014/main" id="{F07EF1D0-2BA2-4A61-A8A2-526416FC160B}"/>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09584089-7AD9-491E-9569-2F2C5C7EA055}"/>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7C56B4BA-00D2-499D-9991-E4878D247185}"/>
              </a:ext>
            </a:extLst>
          </p:cNvPr>
          <p:cNvSpPr>
            <a:spLocks xmlns:a="http://schemas.openxmlformats.org/drawingml/2006/main" noGrp="1"/>
          </p:cNvSpPr>
          <p:nvPr/>
        </p:nvSpPr>
        <p:spPr>
          <a:xfrm xmlns:a="http://schemas.openxmlformats.org/drawingml/2006/main">
            <a:off x="666750" y="20383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Sean wᵢ y dᵢ las probabilidades de victoria y empate en 90 minutos frente al rival i. La regla del ejercicio garantiza avanzar por penales en cada empate, por lo que el factor por ronda es wᵢ+dᵢ. Bajo fuerzas constantes e independencia condicional, multiplicar los cuatro factores obtiene la probabilidad de superar consecutivamente Egipto, Suiza, Inglaterra y España.</a:t>
            </a:r>
          </a:p>
        </p:txBody>
      </p:sp>
      <p:sp>
        <p:nvSpPr>
          <p:cNvPr id="7" name="">
            <a:extLst xmlns:a="http://schemas.openxmlformats.org/drawingml/2006/main">
              <a:ext uri="{FF2B5EF4-FFF2-40B4-BE49-F238E27FC236}">
                <a16:creationId xmlns:a16="http://schemas.microsoft.com/office/drawing/2014/main" id="{F647B5DE-7B16-44D5-9C79-3F52CAAC4AAE}"/>
              </a:ext>
            </a:extLst>
          </p:cNvPr>
          <p:cNvSpPr>
            <a:spLocks xmlns:a="http://schemas.openxmlformats.org/drawingml/2006/main" noGrp="1"/>
          </p:cNvSpPr>
          <p:nvPr/>
        </p:nvSpPr>
        <p:spPr>
          <a:xfrm xmlns:a="http://schemas.openxmlformats.org/drawingml/2006/main">
            <a:off x="666750" y="40386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La simulación de 10 000 rutas produjo tres títulos. Se obtiene p̂=0.0003, diferente del producto analítico por variación Monte Carlo; no se deben exigir cifras idénticas. El intervalo exacto de esa frecuencia incluye el producto. Para este evento raro, el resultado analítico 0.000587369 es el estimador principal del modelo especificado.</a:t>
            </a:r>
          </a:p>
        </p:txBody>
      </p:sp>
    </p:spTree>
    <p:extLst>
      <p:ext uri="{BB962C8B-B14F-4D97-AF65-F5344CB8AC3E}">
        <p14:creationId xmlns:p14="http://schemas.microsoft.com/office/powerpoint/2010/main" val="2057216243"/>
      </p:ext>
    </p:extLst>
  </p:cSld>
  <p:transition spd="slow" advClick="1">
    <p:fade/>
  </p:transition>
</p:sld>
</file>

<file path=ppt/slides/slide82.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0023B66-72BE-47F6-A83D-BA2A7463444E}"/>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A3BD171C-BEAD-42A8-A7EA-AC9C8F37B4BD}"/>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Derivación de la ruta al título · desarrollo</a:t>
            </a:r>
          </a:p>
        </p:txBody>
      </p:sp>
      <p:sp>
        <p:nvSpPr>
          <p:cNvPr id="3" name="">
            <a:extLst xmlns:a="http://schemas.openxmlformats.org/drawingml/2006/main">
              <a:ext uri="{FF2B5EF4-FFF2-40B4-BE49-F238E27FC236}">
                <a16:creationId xmlns:a16="http://schemas.microsoft.com/office/drawing/2014/main" id="{55ED568F-EBDB-4873-A13B-A3E0C037BA94}"/>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84</a:t>
            </a:r>
          </a:p>
        </p:txBody>
      </p:sp>
      <p:sp>
        <p:nvSpPr>
          <p:cNvPr id="4" name="">
            <a:extLst xmlns:a="http://schemas.openxmlformats.org/drawingml/2006/main">
              <a:ext uri="{FF2B5EF4-FFF2-40B4-BE49-F238E27FC236}">
                <a16:creationId xmlns:a16="http://schemas.microsoft.com/office/drawing/2014/main" id="{4FCC6820-511D-4ADD-9525-AB797880DBCE}"/>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33D1C944-AD48-43FF-8209-819F948983F0}"/>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5f9f4c132ca460a"/>
          <a:stretch xmlns:a="http://schemas.openxmlformats.org/drawingml/2006/main"/>
        </p:blipFill>
        <p:spPr>
          <a:xfrm xmlns:a="http://schemas.openxmlformats.org/drawingml/2006/main">
            <a:off x="2327350" y="1847088"/>
            <a:ext cx="7480151" cy="87782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87A24BD-C09E-4B58-9D5C-BDD9D26FE5B3}"/>
              </a:ext>
            </a:extLst>
          </p:cNvPr>
          <p:cNvSpPr>
            <a:spLocks xmlns:a="http://schemas.openxmlformats.org/drawingml/2006/main" noGrp="1"/>
          </p:cNvSpPr>
          <p:nvPr/>
        </p:nvSpPr>
        <p:spPr>
          <a:xfrm xmlns:a="http://schemas.openxmlformats.org/drawingml/2006/main">
            <a:off x="666750" y="6096000"/>
            <a:ext cx="10668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Desarrollo del modelo · fundamentos: Goldsman, caps. 1, 4–6; Skellam: SciPy</a:t>
            </a:r>
          </a:p>
        </p:txBody>
      </p:sp>
      <p:sp>
        <p:nvSpPr>
          <p:cNvPr id="8" name="">
            <a:extLst xmlns:a="http://schemas.openxmlformats.org/drawingml/2006/main">
              <a:ext uri="{FF2B5EF4-FFF2-40B4-BE49-F238E27FC236}">
                <a16:creationId xmlns:a16="http://schemas.microsoft.com/office/drawing/2014/main" id="{E9A4E5EA-1A03-4F12-88BA-815C4865B98D}"/>
              </a:ext>
            </a:extLst>
          </p:cNvPr>
          <p:cNvSpPr>
            <a:spLocks xmlns:a="http://schemas.openxmlformats.org/drawingml/2006/main" noGrp="1"/>
          </p:cNvSpPr>
          <p:nvPr/>
        </p:nvSpPr>
        <p:spPr>
          <a:xfrm xmlns:a="http://schemas.openxmlformats.org/drawingml/2006/main">
            <a:off x="666750" y="30099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Incluir Argentina añade un factor 0.06943654 y produce 0.0000407849. Partir de la fase de grupos añade su probabilidad de avance; partir de la eliminatoria africana añade además su probabilidad de clasificación. Estas combinaciones conservan la ruta fija del ejercicio y requieren los supuestos de enlace entre etapas.</a:t>
            </a:r>
          </a:p>
        </p:txBody>
      </p:sp>
      <p:sp>
        <p:nvSpPr>
          <p:cNvPr id="9" name="">
            <a:extLst xmlns:a="http://schemas.openxmlformats.org/drawingml/2006/main">
              <a:ext uri="{FF2B5EF4-FFF2-40B4-BE49-F238E27FC236}">
                <a16:creationId xmlns:a16="http://schemas.microsoft.com/office/drawing/2014/main" id="{559FFDBE-6EB6-4331-BDD1-7CB8A749F214}"/>
              </a:ext>
            </a:extLst>
          </p:cNvPr>
          <p:cNvSpPr>
            <a:spLocks xmlns:a="http://schemas.openxmlformats.org/drawingml/2006/main" noGrp="1"/>
          </p:cNvSpPr>
          <p:nvPr/>
        </p:nvSpPr>
        <p:spPr>
          <a:xfrm xmlns:a="http://schemas.openxmlformats.org/drawingml/2006/main">
            <a:off x="666750" y="4610100"/>
            <a:ext cx="10763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42C"/>
                </a:solidFill>
                <a:latin typeface="Arial"/>
                <a:ea typeface="Arial"/>
                <a:cs typeface="Arial"/>
              </a:defRPr>
            </a:pPr>
            <a:r>
              <a:rPr sz="1950" b="0">
                <a:solidFill>
                  <a:srgbClr val="17242C"/>
                </a:solidFill>
                <a:latin typeface="Arial"/>
                <a:ea typeface="Arial"/>
                <a:cs typeface="Arial"/>
              </a:rPr>
              <a:t>Como contraste de la regla de penales, se puede reemplazar cada factor por wᵢ+0.5dᵢ, ignorando prórroga. Esta alternativa identifica el efecto del supuesto dentro del modelo, no estima la habilidad real de Cabo Verde para ejecutar penales.</a:t>
            </a:r>
          </a:p>
        </p:txBody>
      </p:sp>
    </p:spTree>
    <p:extLst>
      <p:ext uri="{BB962C8B-B14F-4D97-AF65-F5344CB8AC3E}">
        <p14:creationId xmlns:p14="http://schemas.microsoft.com/office/powerpoint/2010/main" val="255396391"/>
      </p:ext>
    </p:extLst>
  </p:cSld>
  <p:transition spd="slow" advClick="1">
    <p:fade/>
  </p:transition>
</p:sld>
</file>

<file path=ppt/slides/slide83.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6C99EC-7EE6-45E7-855C-BC3BB8729D86}"/>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CD0208CF-B8E7-4EA7-A0EF-06B3C1652D37}"/>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Eliminatoria: estimación con sus repeticiones</a:t>
            </a:r>
          </a:p>
        </p:txBody>
      </p:sp>
      <p:sp>
        <p:nvSpPr>
          <p:cNvPr id="3" name="">
            <a:extLst xmlns:a="http://schemas.openxmlformats.org/drawingml/2006/main">
              <a:ext uri="{FF2B5EF4-FFF2-40B4-BE49-F238E27FC236}">
                <a16:creationId xmlns:a16="http://schemas.microsoft.com/office/drawing/2014/main" id="{E2065FD7-BE1A-4B91-88B7-52037E6BC014}"/>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85</a:t>
            </a:r>
          </a:p>
        </p:txBody>
      </p:sp>
      <p:sp>
        <p:nvSpPr>
          <p:cNvPr id="4" name="">
            <a:extLst xmlns:a="http://schemas.openxmlformats.org/drawingml/2006/main">
              <a:ext uri="{FF2B5EF4-FFF2-40B4-BE49-F238E27FC236}">
                <a16:creationId xmlns:a16="http://schemas.microsoft.com/office/drawing/2014/main" id="{46A5DD11-B758-4BB0-BBBB-6505B3373690}"/>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503B5D2C-057A-44D6-8738-6B436CDB3F46}"/>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afd63b41d9b45e0"/>
          <a:stretch xmlns:a="http://schemas.openxmlformats.org/drawingml/2006/main"/>
        </p:blipFill>
        <p:spPr>
          <a:xfrm xmlns:a="http://schemas.openxmlformats.org/drawingml/2006/main">
            <a:off x="3824411" y="2183713"/>
            <a:ext cx="4447928" cy="433175"/>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4aa69468d6c4821"/>
          <a:stretch xmlns:a="http://schemas.openxmlformats.org/drawingml/2006/main"/>
        </p:blipFill>
        <p:spPr>
          <a:xfrm xmlns:a="http://schemas.openxmlformats.org/drawingml/2006/main">
            <a:off x="3547581" y="3402823"/>
            <a:ext cx="5001589" cy="357154"/>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A3BD0C6-1AD1-40C9-904D-037FC86736BB}"/>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Cabo Verde terminó primero en 1288 de los 10 000 grupos simulados. Se usaron Elo 1474 para Cabo Verde y 1625 para Camerún; al recibirlo, la diferencia es 1474 − 1625 + 100 = −51. El intervalo exacto se calcula con 1288 éxitos y 10 000 ensayos, no con el número de partidos.</a:t>
            </a:r>
          </a:p>
        </p:txBody>
      </p:sp>
    </p:spTree>
    <p:extLst>
      <p:ext uri="{BB962C8B-B14F-4D97-AF65-F5344CB8AC3E}">
        <p14:creationId xmlns:p14="http://schemas.microsoft.com/office/powerpoint/2010/main" val="1401169483"/>
      </p:ext>
    </p:extLst>
  </p:cSld>
  <p:transition spd="slow" advClick="1">
    <p:fade/>
  </p:transition>
</p:sld>
</file>

<file path=ppt/slides/slide84.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D8D317E-8E07-48E5-A816-3DDC1D7EAF91}"/>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64A5FD68-AD53-46AE-A730-6475EF26B82F}"/>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Grupo mundialista: dos denominadores</a:t>
            </a:r>
          </a:p>
        </p:txBody>
      </p:sp>
      <p:sp>
        <p:nvSpPr>
          <p:cNvPr id="3" name="">
            <a:extLst xmlns:a="http://schemas.openxmlformats.org/drawingml/2006/main">
              <a:ext uri="{FF2B5EF4-FFF2-40B4-BE49-F238E27FC236}">
                <a16:creationId xmlns:a16="http://schemas.microsoft.com/office/drawing/2014/main" id="{7A1E599C-6EA6-4381-B55D-EE2244D11C8F}"/>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86</a:t>
            </a:r>
          </a:p>
        </p:txBody>
      </p:sp>
      <p:sp>
        <p:nvSpPr>
          <p:cNvPr id="4" name="">
            <a:extLst xmlns:a="http://schemas.openxmlformats.org/drawingml/2006/main">
              <a:ext uri="{FF2B5EF4-FFF2-40B4-BE49-F238E27FC236}">
                <a16:creationId xmlns:a16="http://schemas.microsoft.com/office/drawing/2014/main" id="{33D6F52A-58CB-4208-92DF-ADF87CA936A2}"/>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BAF5C90C-E07C-440A-8905-E0F3F958067F}"/>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2f3b4c2eb3d44c2"/>
          <a:stretch xmlns:a="http://schemas.openxmlformats.org/drawingml/2006/main"/>
        </p:blipFill>
        <p:spPr>
          <a:xfrm xmlns:a="http://schemas.openxmlformats.org/drawingml/2006/main">
            <a:off x="3673087" y="2167218"/>
            <a:ext cx="4750577" cy="466165"/>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b68a34b3b914f07"/>
          <a:stretch xmlns:a="http://schemas.openxmlformats.org/drawingml/2006/main"/>
        </p:blipFill>
        <p:spPr>
          <a:xfrm xmlns:a="http://schemas.openxmlformats.org/drawingml/2006/main">
            <a:off x="3444307" y="3348318"/>
            <a:ext cx="5208136" cy="46616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A5A9EA8-7713-4C61-A7DB-41A387F5033B}"/>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A significa avanzar y T obtener tres empates. La primera fracción usa grupos sin imponer esos empates; la segunda, 10 000 repeticiones generadas bajo esa condición. No son 9531 clasificaciones dentro de los 2336 éxitos de la primera simulación.</a:t>
            </a:r>
          </a:p>
        </p:txBody>
      </p:sp>
    </p:spTree>
    <p:extLst>
      <p:ext uri="{BB962C8B-B14F-4D97-AF65-F5344CB8AC3E}">
        <p14:creationId xmlns:p14="http://schemas.microsoft.com/office/powerpoint/2010/main" val="304239261"/>
      </p:ext>
    </p:extLst>
  </p:cSld>
  <p:transition spd="slow" advClick="1">
    <p:fade/>
  </p:transition>
</p:sld>
</file>

<file path=ppt/slides/slide85.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9B8EC5-73B9-41E4-AE5D-9870488AD753}"/>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873E71DE-DCCD-457B-9812-0D8C75E65804}"/>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Obtener los tres empates: producto real</a:t>
            </a:r>
          </a:p>
        </p:txBody>
      </p:sp>
      <p:sp>
        <p:nvSpPr>
          <p:cNvPr id="3" name="">
            <a:extLst xmlns:a="http://schemas.openxmlformats.org/drawingml/2006/main">
              <a:ext uri="{FF2B5EF4-FFF2-40B4-BE49-F238E27FC236}">
                <a16:creationId xmlns:a16="http://schemas.microsoft.com/office/drawing/2014/main" id="{E87917A7-26BD-4D17-BB4B-113C81664C7A}"/>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87</a:t>
            </a:r>
          </a:p>
        </p:txBody>
      </p:sp>
      <p:sp>
        <p:nvSpPr>
          <p:cNvPr id="4" name="">
            <a:extLst xmlns:a="http://schemas.openxmlformats.org/drawingml/2006/main">
              <a:ext uri="{FF2B5EF4-FFF2-40B4-BE49-F238E27FC236}">
                <a16:creationId xmlns:a16="http://schemas.microsoft.com/office/drawing/2014/main" id="{EC55131F-0D11-4733-943C-6ABE966C2782}"/>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334D3BC3-7C38-4F38-BCD4-A29C9713E2C1}"/>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9f756729dd34a44"/>
          <a:stretch xmlns:a="http://schemas.openxmlformats.org/drawingml/2006/main"/>
        </p:blipFill>
        <p:spPr>
          <a:xfrm xmlns:a="http://schemas.openxmlformats.org/drawingml/2006/main">
            <a:off x="935624" y="2195188"/>
            <a:ext cx="10225502" cy="410225"/>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0c54224e3384b8c"/>
          <a:stretch xmlns:a="http://schemas.openxmlformats.org/drawingml/2006/main"/>
        </p:blipFill>
        <p:spPr>
          <a:xfrm xmlns:a="http://schemas.openxmlformats.org/drawingml/2006/main">
            <a:off x="1756074" y="3369116"/>
            <a:ext cx="8584602" cy="42456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D2E965A-451B-49B6-9F11-AC59BDF40659}"/>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Las probabilidades individuales corresponden a España, Uruguay y Arabia Saudita, con Elo de Cabo Verde igual a 1578 y localía neutral. El segundo cálculo combina la probabilidad de obtener los empates con la estimación condicional de avanzar después de ellos.</a:t>
            </a:r>
          </a:p>
        </p:txBody>
      </p:sp>
    </p:spTree>
    <p:extLst>
      <p:ext uri="{BB962C8B-B14F-4D97-AF65-F5344CB8AC3E}">
        <p14:creationId xmlns:p14="http://schemas.microsoft.com/office/powerpoint/2010/main" val="1235007759"/>
      </p:ext>
    </p:extLst>
  </p:cSld>
  <p:transition spd="slow" advClick="1">
    <p:fade/>
  </p:transition>
</p:sld>
</file>

<file path=ppt/slides/slide86.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1E59D5-34CE-403D-BFF9-376BE3036EA3}"/>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48E9FD1E-A249-4654-A061-3B3ABB59403F}"/>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Escenarios condicionados: conteos retenidos</a:t>
            </a:r>
          </a:p>
        </p:txBody>
      </p:sp>
      <p:sp>
        <p:nvSpPr>
          <p:cNvPr id="3" name="">
            <a:extLst xmlns:a="http://schemas.openxmlformats.org/drawingml/2006/main">
              <a:ext uri="{FF2B5EF4-FFF2-40B4-BE49-F238E27FC236}">
                <a16:creationId xmlns:a16="http://schemas.microsoft.com/office/drawing/2014/main" id="{68DFF494-88E0-419A-B3BF-D8FE38774D8A}"/>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88</a:t>
            </a:r>
          </a:p>
        </p:txBody>
      </p:sp>
      <p:sp>
        <p:nvSpPr>
          <p:cNvPr id="4" name="">
            <a:extLst xmlns:a="http://schemas.openxmlformats.org/drawingml/2006/main">
              <a:ext uri="{FF2B5EF4-FFF2-40B4-BE49-F238E27FC236}">
                <a16:creationId xmlns:a16="http://schemas.microsoft.com/office/drawing/2014/main" id="{80783D4A-5830-4B1A-A70C-A3D656F9A350}"/>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AB662428-4568-4D73-A080-7D41CA0BD251}"/>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364b27b34fd4701"/>
          <a:stretch xmlns:a="http://schemas.openxmlformats.org/drawingml/2006/main"/>
        </p:blipFill>
        <p:spPr>
          <a:xfrm xmlns:a="http://schemas.openxmlformats.org/drawingml/2006/main">
            <a:off x="3896846" y="2167218"/>
            <a:ext cx="4303059" cy="466165"/>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f3a02045ecc47e0"/>
          <a:stretch xmlns:a="http://schemas.openxmlformats.org/drawingml/2006/main"/>
        </p:blipFill>
        <p:spPr>
          <a:xfrm xmlns:a="http://schemas.openxmlformats.org/drawingml/2006/main">
            <a:off x="3465823" y="3348318"/>
            <a:ext cx="5165105" cy="46616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94CCA91-25AD-4053-B5E4-68B47113B006}"/>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U significa que Uruguay no pierde ante España. De las repeticiones con tres empates, 2576 cumplen U; 2414 de ellas clasifican. En el segundo escenario se retienen los 8679 terceros y 8352 avanzan. Los denominadores expresan qué condición se está evaluando.</a:t>
            </a:r>
          </a:p>
        </p:txBody>
      </p:sp>
    </p:spTree>
    <p:extLst>
      <p:ext uri="{BB962C8B-B14F-4D97-AF65-F5344CB8AC3E}">
        <p14:creationId xmlns:p14="http://schemas.microsoft.com/office/powerpoint/2010/main" val="906190043"/>
      </p:ext>
    </p:extLst>
  </p:cSld>
  <p:transition spd="slow" advClick="1">
    <p:fade/>
  </p:transition>
</p:sld>
</file>

<file path=ppt/slides/slide87.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558406F-5FBA-49AE-A3CC-F55095E744FC}"/>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0AAAD8A6-2DAD-4862-A3F0-E6C7EB9FBBC2}"/>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Ruta al título: cada rival aporta un factor</a:t>
            </a:r>
          </a:p>
        </p:txBody>
      </p:sp>
      <p:sp>
        <p:nvSpPr>
          <p:cNvPr id="3" name="">
            <a:extLst xmlns:a="http://schemas.openxmlformats.org/drawingml/2006/main">
              <a:ext uri="{FF2B5EF4-FFF2-40B4-BE49-F238E27FC236}">
                <a16:creationId xmlns:a16="http://schemas.microsoft.com/office/drawing/2014/main" id="{1AB42672-A3DD-4BEE-AB14-84324E494BF7}"/>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89</a:t>
            </a:r>
          </a:p>
        </p:txBody>
      </p:sp>
      <p:sp>
        <p:nvSpPr>
          <p:cNvPr id="4" name="">
            <a:extLst xmlns:a="http://schemas.openxmlformats.org/drawingml/2006/main">
              <a:ext uri="{FF2B5EF4-FFF2-40B4-BE49-F238E27FC236}">
                <a16:creationId xmlns:a16="http://schemas.microsoft.com/office/drawing/2014/main" id="{7D339D77-C843-4CB6-80AB-234C8D19B82B}"/>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DA390202-C4A4-41BC-A0A2-F0AB8F95FA7A}"/>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5d1543edfa844f9"/>
          <a:stretch xmlns:a="http://schemas.openxmlformats.org/drawingml/2006/main"/>
        </p:blipFill>
        <p:spPr>
          <a:xfrm xmlns:a="http://schemas.openxmlformats.org/drawingml/2006/main">
            <a:off x="3028345" y="2222440"/>
            <a:ext cx="6040060" cy="35572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f9aede85f4647de"/>
          <a:stretch xmlns:a="http://schemas.openxmlformats.org/drawingml/2006/main"/>
        </p:blipFill>
        <p:spPr>
          <a:xfrm xmlns:a="http://schemas.openxmlformats.org/drawingml/2006/main">
            <a:off x="993715" y="3403540"/>
            <a:ext cx="10109320" cy="35572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0A497B0-1CF9-459B-979C-42DE8505B055}"/>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Los factores corresponden a Egipto, Suiza, Inglaterra y España: victoria más empate, porque el ejercicio garantiza avanzar por penales. El producto equivale a 0.0587369 %, condicionado a haber superado a Argentina. Los valores internos no se redondean antes de multiplicar.</a:t>
            </a:r>
          </a:p>
        </p:txBody>
      </p:sp>
    </p:spTree>
    <p:extLst>
      <p:ext uri="{BB962C8B-B14F-4D97-AF65-F5344CB8AC3E}">
        <p14:creationId xmlns:p14="http://schemas.microsoft.com/office/powerpoint/2010/main" val="1546847302"/>
      </p:ext>
    </p:extLst>
  </p:cSld>
  <p:transition spd="slow" advClick="1">
    <p:fade/>
  </p:transition>
</p:sld>
</file>

<file path=ppt/slides/slide88.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240CF85-E331-4B08-B298-F95D5B9713E6}"/>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02AC5A6C-09C7-4D13-B80E-B632BAE4A50C}"/>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Cambiar el punto de partida: productos</a:t>
            </a:r>
          </a:p>
        </p:txBody>
      </p:sp>
      <p:sp>
        <p:nvSpPr>
          <p:cNvPr id="3" name="">
            <a:extLst xmlns:a="http://schemas.openxmlformats.org/drawingml/2006/main">
              <a:ext uri="{FF2B5EF4-FFF2-40B4-BE49-F238E27FC236}">
                <a16:creationId xmlns:a16="http://schemas.microsoft.com/office/drawing/2014/main" id="{A8F2DB7E-211F-46AC-B191-1B1DFC94D50C}"/>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90</a:t>
            </a:r>
          </a:p>
        </p:txBody>
      </p:sp>
      <p:sp>
        <p:nvSpPr>
          <p:cNvPr id="4" name="">
            <a:extLst xmlns:a="http://schemas.openxmlformats.org/drawingml/2006/main">
              <a:ext uri="{FF2B5EF4-FFF2-40B4-BE49-F238E27FC236}">
                <a16:creationId xmlns:a16="http://schemas.microsoft.com/office/drawing/2014/main" id="{BD321503-94C6-400D-B4C5-7F7D0A78D87F}"/>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BE859C7C-050B-4857-BA9D-8A6AFED43E27}"/>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a98b34c62a747d3"/>
          <a:stretch xmlns:a="http://schemas.openxmlformats.org/drawingml/2006/main"/>
        </p:blipFill>
        <p:spPr>
          <a:xfrm xmlns:a="http://schemas.openxmlformats.org/drawingml/2006/main">
            <a:off x="1454860" y="2196622"/>
            <a:ext cx="9187031" cy="407356"/>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09df701aa41442c"/>
          <a:stretch xmlns:a="http://schemas.openxmlformats.org/drawingml/2006/main"/>
        </p:blipFill>
        <p:spPr>
          <a:xfrm xmlns:a="http://schemas.openxmlformats.org/drawingml/2006/main">
            <a:off x="3026911" y="3367681"/>
            <a:ext cx="6042929" cy="427437"/>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1AAB4695-83F5-426B-9EC5-142F1951E0AC}"/>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Incluir Argentina agrega la probabilidad de victoria o empate contra esa selección. Empezar desde el grupo agrega el 23.36 % de avance estimado; empezar desde la eliminatoria agrega además 0.1288 y da aproximadamente 1.227123 × 10⁻⁶. Todos mantienen la ruta fija y los supuestos de independencia entre etapas.</a:t>
            </a:r>
          </a:p>
        </p:txBody>
      </p:sp>
    </p:spTree>
    <p:extLst>
      <p:ext uri="{BB962C8B-B14F-4D97-AF65-F5344CB8AC3E}">
        <p14:creationId xmlns:p14="http://schemas.microsoft.com/office/powerpoint/2010/main" val="1851714824"/>
      </p:ext>
    </p:extLst>
  </p:cSld>
  <p:transition spd="slow" advClick="1">
    <p:fade/>
  </p:transition>
</p:sld>
</file>

<file path=ppt/slides/slide89.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4C1129-1E1A-412A-9CDB-E374CF0790E0}"/>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CEB18E0D-2280-4C2A-98F5-1B95AD02951A}"/>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Derivación: condicionar un marcador a empate</a:t>
            </a:r>
          </a:p>
        </p:txBody>
      </p:sp>
      <p:sp>
        <p:nvSpPr>
          <p:cNvPr id="3" name="">
            <a:extLst xmlns:a="http://schemas.openxmlformats.org/drawingml/2006/main">
              <a:ext uri="{FF2B5EF4-FFF2-40B4-BE49-F238E27FC236}">
                <a16:creationId xmlns:a16="http://schemas.microsoft.com/office/drawing/2014/main" id="{755B4C69-F100-4990-AB6D-1CAFC8303D90}"/>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91</a:t>
            </a:r>
          </a:p>
        </p:txBody>
      </p:sp>
      <p:sp>
        <p:nvSpPr>
          <p:cNvPr id="4" name="">
            <a:extLst xmlns:a="http://schemas.openxmlformats.org/drawingml/2006/main">
              <a:ext uri="{FF2B5EF4-FFF2-40B4-BE49-F238E27FC236}">
                <a16:creationId xmlns:a16="http://schemas.microsoft.com/office/drawing/2014/main" id="{E38AF95D-BCE9-4D79-A50C-99F3962B215D}"/>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8E1C8B3C-468F-4C1F-AB75-C1C54893EDB8}"/>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5b1e223d110475d"/>
          <a:stretch xmlns:a="http://schemas.openxmlformats.org/drawingml/2006/main"/>
        </p:blipFill>
        <p:spPr>
          <a:xfrm xmlns:a="http://schemas.openxmlformats.org/drawingml/2006/main">
            <a:off x="2812475" y="1977883"/>
            <a:ext cx="6471800" cy="844834"/>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76a145bf9a24600"/>
          <a:stretch xmlns:a="http://schemas.openxmlformats.org/drawingml/2006/main"/>
        </p:blipFill>
        <p:spPr>
          <a:xfrm xmlns:a="http://schemas.openxmlformats.org/drawingml/2006/main">
            <a:off x="1345849" y="3401389"/>
            <a:ext cx="9405052" cy="360023"/>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DF4A0B0-5E51-478B-ACF8-E2110E028111}"/>
              </a:ext>
            </a:extLst>
          </p:cNvPr>
          <p:cNvSpPr>
            <a:spLocks xmlns:a="http://schemas.openxmlformats.org/drawingml/2006/main" noGrp="1"/>
          </p:cNvSpPr>
          <p:nvPr/>
        </p:nvSpPr>
        <p:spPr>
          <a:xfrm xmlns:a="http://schemas.openxmlformats.org/drawingml/2006/main">
            <a:off x="666750" y="439102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242C"/>
                </a:solidFill>
                <a:latin typeface="Arial"/>
                <a:ea typeface="Arial"/>
                <a:cs typeface="Arial"/>
              </a:defRPr>
            </a:pPr>
            <a:r>
              <a:rPr sz="1875" b="0">
                <a:solidFill>
                  <a:srgbClr val="17242C"/>
                </a:solidFill>
                <a:latin typeface="Arial"/>
                <a:ea typeface="Arial"/>
                <a:cs typeface="Arial"/>
              </a:rPr>
              <a:t>La definición de probabilidad condicional divide la probabilidad conjunta por la del evento condicionante. La independencia de goles permite factorizar el numerador. El denominador suma todos los empates posibles: 0–0, 1–1 y los demás; por eso forzar tres empates no equivale a fijarlos todos en cero.</a:t>
            </a:r>
          </a:p>
        </p:txBody>
      </p:sp>
    </p:spTree>
    <p:extLst>
      <p:ext uri="{BB962C8B-B14F-4D97-AF65-F5344CB8AC3E}">
        <p14:creationId xmlns:p14="http://schemas.microsoft.com/office/powerpoint/2010/main" val="1678560171"/>
      </p:ext>
    </p:extLst>
  </p:cSld>
  <p:transition spd="slow" advClick="1">
    <p:fade/>
  </p:transition>
</p:sld>
</file>

<file path=ppt/slides/slide90.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00E82A-5D19-4A40-A17E-CA0779679276}"/>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PARTE II  /  CABO VERDE</a:t>
            </a:r>
          </a:p>
        </p:txBody>
      </p:sp>
      <p:sp>
        <p:nvSpPr>
          <p:cNvPr id="2" name="">
            <a:extLst xmlns:a="http://schemas.openxmlformats.org/drawingml/2006/main">
              <a:ext uri="{FF2B5EF4-FFF2-40B4-BE49-F238E27FC236}">
                <a16:creationId xmlns:a16="http://schemas.microsoft.com/office/drawing/2014/main" id="{0597BD33-A86D-448E-959B-13C69A242982}"/>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Conclusión estadística: Cabo Verde</a:t>
            </a:r>
          </a:p>
        </p:txBody>
      </p:sp>
      <p:sp>
        <p:nvSpPr>
          <p:cNvPr id="3" name="">
            <a:extLst xmlns:a="http://schemas.openxmlformats.org/drawingml/2006/main">
              <a:ext uri="{FF2B5EF4-FFF2-40B4-BE49-F238E27FC236}">
                <a16:creationId xmlns:a16="http://schemas.microsoft.com/office/drawing/2014/main" id="{7D4C0431-734F-4501-9042-8A178A95E253}"/>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92</a:t>
            </a:r>
          </a:p>
        </p:txBody>
      </p:sp>
      <p:sp>
        <p:nvSpPr>
          <p:cNvPr id="4" name="">
            <a:extLst xmlns:a="http://schemas.openxmlformats.org/drawingml/2006/main">
              <a:ext uri="{FF2B5EF4-FFF2-40B4-BE49-F238E27FC236}">
                <a16:creationId xmlns:a16="http://schemas.microsoft.com/office/drawing/2014/main" id="{26CB5255-2958-4AC0-B970-179C4E314D9B}"/>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85C828B1-7DF4-4EDF-8EA2-62E121321155}"/>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36F22B0E-BEC9-4494-B079-287932455BF6}"/>
              </a:ext>
            </a:extLst>
          </p:cNvPr>
          <p:cNvSpPr>
            <a:spLocks xmlns:a="http://schemas.openxmlformats.org/drawingml/2006/main" noGrp="1"/>
          </p:cNvSpPr>
          <p:nvPr/>
        </p:nvSpPr>
        <p:spPr>
          <a:xfrm xmlns:a="http://schemas.openxmlformats.org/drawingml/2006/main">
            <a:off x="666750" y="2019300"/>
            <a:ext cx="107632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42C"/>
                </a:solidFill>
                <a:latin typeface="Arial"/>
                <a:ea typeface="Arial"/>
                <a:cs typeface="Arial"/>
              </a:defRPr>
            </a:pPr>
            <a:r>
              <a:rPr sz="2100" b="0">
                <a:solidFill>
                  <a:srgbClr val="17242C"/>
                </a:solidFill>
                <a:latin typeface="Arial"/>
                <a:ea typeface="Arial"/>
                <a:cs typeface="Arial"/>
              </a:rPr>
              <a:t>Se concluye que Cabo Verde tenía una posibilidad minoritaria, pero apreciable, de clasificación directa bajo el modelo: 12.88 %, con un intervalo Monte Carlo del 95 % de 12.23 % a 13.55 %. En el grupo mundialista, la estimación de avance es 23.36 % y aumenta a 95.31 % al condicionar los tres empates; esto describe situaciones distintas y no implica que conseguir esos empates sea fácil. La probabilidad de superar la ruta desde Egipto hasta España es aproximadamente 0.05874 %, incluso garantizando el avance en los empates, por lo que el título resulta muy poco probable en ese escenario. Estadísticamente, estas cifras cuantifican la dificultad de las etapas bajo fuerzas Elo, tasas de goles y rivales fijados; no constituyen una probabilidad general de ganar el Mundial. Los intervalos miden únicamente error de simulación y no incorporan incertidumbre de parámetros ni posibles errores del modelo.</a:t>
            </a:r>
          </a:p>
        </p:txBody>
      </p:sp>
    </p:spTree>
    <p:extLst>
      <p:ext uri="{BB962C8B-B14F-4D97-AF65-F5344CB8AC3E}">
        <p14:creationId xmlns:p14="http://schemas.microsoft.com/office/powerpoint/2010/main" val="1373594806"/>
      </p:ext>
    </p:extLst>
  </p:cSld>
  <p:transition spd="slow" advClick="1">
    <p:fade/>
  </p:transition>
</p:sld>
</file>

<file path=ppt/slides/slide91.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9943064-A16F-4DB8-8C0C-135D6581419D}"/>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CONCLUSIONES Y REFERENCIAS</a:t>
            </a:r>
          </a:p>
        </p:txBody>
      </p:sp>
      <p:sp>
        <p:nvSpPr>
          <p:cNvPr id="2" name="">
            <a:extLst xmlns:a="http://schemas.openxmlformats.org/drawingml/2006/main">
              <a:ext uri="{FF2B5EF4-FFF2-40B4-BE49-F238E27FC236}">
                <a16:creationId xmlns:a16="http://schemas.microsoft.com/office/drawing/2014/main" id="{447BA9CD-1DF9-4240-8F01-5D944E4F3810}"/>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El sistema de valoración Elo</a:t>
            </a:r>
          </a:p>
        </p:txBody>
      </p:sp>
      <p:sp>
        <p:nvSpPr>
          <p:cNvPr id="3" name="">
            <a:extLst xmlns:a="http://schemas.openxmlformats.org/drawingml/2006/main">
              <a:ext uri="{FF2B5EF4-FFF2-40B4-BE49-F238E27FC236}">
                <a16:creationId xmlns:a16="http://schemas.microsoft.com/office/drawing/2014/main" id="{8781253A-F4D1-4923-BA2C-F514BBCA5B75}"/>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93</a:t>
            </a:r>
          </a:p>
        </p:txBody>
      </p:sp>
      <p:sp>
        <p:nvSpPr>
          <p:cNvPr id="4" name="">
            <a:extLst xmlns:a="http://schemas.openxmlformats.org/drawingml/2006/main">
              <a:ext uri="{FF2B5EF4-FFF2-40B4-BE49-F238E27FC236}">
                <a16:creationId xmlns:a16="http://schemas.microsoft.com/office/drawing/2014/main" id="{C2F467CA-D786-483A-99AE-61F24553934D}"/>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CCD0C4B6-0FC0-4E22-9829-263DDB2B1F3C}"/>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78C1B7B3-42F2-48A8-BFF5-7FA8F61FEFF4}"/>
              </a:ext>
            </a:extLst>
          </p:cNvPr>
          <p:cNvSpPr>
            <a:spLocks xmlns:a="http://schemas.openxmlformats.org/drawingml/2006/main" noGrp="1"/>
          </p:cNvSpPr>
          <p:nvPr/>
        </p:nvSpPr>
        <p:spPr>
          <a:xfrm xmlns:a="http://schemas.openxmlformats.org/drawingml/2006/main">
            <a:off x="666750" y="20002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9A"/>
                </a:solidFill>
                <a:latin typeface="Arial"/>
                <a:ea typeface="Arial"/>
                <a:cs typeface="Arial"/>
              </a:defRPr>
            </a:pPr>
            <a:r>
              <a:rPr sz="2175" b="1">
                <a:solidFill>
                  <a:srgbClr val="176B9A"/>
                </a:solidFill>
                <a:latin typeface="Arial"/>
                <a:ea typeface="Arial"/>
                <a:cs typeface="Arial"/>
                <a:hlinkClick xmlns:ns0="http://schemas.openxmlformats.org/officeDocument/2006/relationships" ns0:id="rIdLink3"/>
              </a:rPr>
              <a:t>ClubElo · explicación del sistema</a:t>
            </a:r>
          </a:p>
        </p:txBody>
      </p:sp>
      <p:sp>
        <p:nvSpPr>
          <p:cNvPr id="7" name="">
            <a:extLst xmlns:a="http://schemas.openxmlformats.org/drawingml/2006/main">
              <a:ext uri="{FF2B5EF4-FFF2-40B4-BE49-F238E27FC236}">
                <a16:creationId xmlns:a16="http://schemas.microsoft.com/office/drawing/2014/main" id="{094EB395-880A-4F8A-9511-DBB923ECA10C}"/>
              </a:ext>
            </a:extLst>
          </p:cNvPr>
          <p:cNvSpPr>
            <a:spLocks xmlns:a="http://schemas.openxmlformats.org/drawingml/2006/main" noGrp="1"/>
          </p:cNvSpPr>
          <p:nvPr/>
        </p:nvSpPr>
        <p:spPr>
          <a:xfrm xmlns:a="http://schemas.openxmlformats.org/drawingml/2006/main">
            <a:off x="666750" y="2495550"/>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42C"/>
                </a:solidFill>
                <a:latin typeface="Arial"/>
                <a:ea typeface="Arial"/>
                <a:cs typeface="Arial"/>
              </a:defRPr>
            </a:pPr>
            <a:r>
              <a:rPr sz="1425" b="0">
                <a:solidFill>
                  <a:srgbClr val="17242C"/>
                </a:solidFill>
                <a:latin typeface="Arial"/>
                <a:ea typeface="Arial"/>
                <a:cs typeface="Arial"/>
                <a:hlinkClick xmlns:ns1="http://schemas.openxmlformats.org/officeDocument/2006/relationships" ns1:id="rIdLink4"/>
              </a:rPr>
              <a:t>https://clubelo.com/System</a:t>
            </a:r>
          </a:p>
        </p:txBody>
      </p:sp>
      <p:sp>
        <p:nvSpPr>
          <p:cNvPr id="8" name="">
            <a:extLst xmlns:a="http://schemas.openxmlformats.org/drawingml/2006/main">
              <a:ext uri="{FF2B5EF4-FFF2-40B4-BE49-F238E27FC236}">
                <a16:creationId xmlns:a16="http://schemas.microsoft.com/office/drawing/2014/main" id="{12017C23-7C0A-4734-86E4-ECD9C3AC7283}"/>
              </a:ext>
            </a:extLst>
          </p:cNvPr>
          <p:cNvSpPr>
            <a:spLocks xmlns:a="http://schemas.openxmlformats.org/drawingml/2006/main" noGrp="1"/>
          </p:cNvSpPr>
          <p:nvPr/>
        </p:nvSpPr>
        <p:spPr>
          <a:xfrm xmlns:a="http://schemas.openxmlformats.org/drawingml/2006/main">
            <a:off x="666750" y="326707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9A"/>
                </a:solidFill>
                <a:latin typeface="Arial"/>
                <a:ea typeface="Arial"/>
                <a:cs typeface="Arial"/>
              </a:defRPr>
            </a:pPr>
            <a:r>
              <a:rPr sz="2175" b="1">
                <a:solidFill>
                  <a:srgbClr val="176B9A"/>
                </a:solidFill>
                <a:latin typeface="Arial"/>
                <a:ea typeface="Arial"/>
                <a:cs typeface="Arial"/>
                <a:hlinkClick xmlns:ns2="http://schemas.openxmlformats.org/officeDocument/2006/relationships" ns2:id="rIdLink5"/>
              </a:rPr>
              <a:t>Arpad Elo · The Rating of Chessplayers</a:t>
            </a:r>
          </a:p>
        </p:txBody>
      </p:sp>
      <p:sp>
        <p:nvSpPr>
          <p:cNvPr id="9" name="">
            <a:extLst xmlns:a="http://schemas.openxmlformats.org/drawingml/2006/main">
              <a:ext uri="{FF2B5EF4-FFF2-40B4-BE49-F238E27FC236}">
                <a16:creationId xmlns:a16="http://schemas.microsoft.com/office/drawing/2014/main" id="{15DBE63F-958F-4A79-AA57-967B282ABAB6}"/>
              </a:ext>
            </a:extLst>
          </p:cNvPr>
          <p:cNvSpPr>
            <a:spLocks xmlns:a="http://schemas.openxmlformats.org/drawingml/2006/main" noGrp="1"/>
          </p:cNvSpPr>
          <p:nvPr/>
        </p:nvSpPr>
        <p:spPr>
          <a:xfrm xmlns:a="http://schemas.openxmlformats.org/drawingml/2006/main">
            <a:off x="666750" y="3762375"/>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42C"/>
                </a:solidFill>
                <a:latin typeface="Arial"/>
                <a:ea typeface="Arial"/>
                <a:cs typeface="Arial"/>
              </a:defRPr>
            </a:pPr>
            <a:r>
              <a:rPr sz="1425" b="0">
                <a:solidFill>
                  <a:srgbClr val="17242C"/>
                </a:solidFill>
                <a:latin typeface="Arial"/>
                <a:ea typeface="Arial"/>
                <a:cs typeface="Arial"/>
                <a:hlinkClick xmlns:ns3="http://schemas.openxmlformats.org/officeDocument/2006/relationships" ns3:id="rIdLink6"/>
              </a:rPr>
              <a:t>https://gwern.net/doc/statistics/order/comparison/1978-elo-theratingofchessplayerspastandpresent.pdf</a:t>
            </a:r>
          </a:p>
        </p:txBody>
      </p:sp>
    </p:spTree>
    <p:extLst>
      <p:ext uri="{BB962C8B-B14F-4D97-AF65-F5344CB8AC3E}">
        <p14:creationId xmlns:p14="http://schemas.microsoft.com/office/powerpoint/2010/main" val="901626880"/>
      </p:ext>
    </p:extLst>
  </p:cSld>
  <p:transition spd="slow" advClick="1">
    <p:fade/>
  </p:transition>
</p:sld>
</file>

<file path=ppt/slides/slide92.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3718951-ED1E-4C8E-AA41-110B33AF7730}"/>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CONCLUSIONES Y REFERENCIAS</a:t>
            </a:r>
          </a:p>
        </p:txBody>
      </p:sp>
      <p:sp>
        <p:nvSpPr>
          <p:cNvPr id="2" name="">
            <a:extLst xmlns:a="http://schemas.openxmlformats.org/drawingml/2006/main">
              <a:ext uri="{FF2B5EF4-FFF2-40B4-BE49-F238E27FC236}">
                <a16:creationId xmlns:a16="http://schemas.microsoft.com/office/drawing/2014/main" id="{606CE91A-C741-4099-84B5-71B4937825F3}"/>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Datos de clubes y partidos</a:t>
            </a:r>
          </a:p>
        </p:txBody>
      </p:sp>
      <p:sp>
        <p:nvSpPr>
          <p:cNvPr id="3" name="">
            <a:extLst xmlns:a="http://schemas.openxmlformats.org/drawingml/2006/main">
              <a:ext uri="{FF2B5EF4-FFF2-40B4-BE49-F238E27FC236}">
                <a16:creationId xmlns:a16="http://schemas.microsoft.com/office/drawing/2014/main" id="{66350467-C7B5-48AF-9345-DA493A878268}"/>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94</a:t>
            </a:r>
          </a:p>
        </p:txBody>
      </p:sp>
      <p:sp>
        <p:nvSpPr>
          <p:cNvPr id="4" name="">
            <a:extLst xmlns:a="http://schemas.openxmlformats.org/drawingml/2006/main">
              <a:ext uri="{FF2B5EF4-FFF2-40B4-BE49-F238E27FC236}">
                <a16:creationId xmlns:a16="http://schemas.microsoft.com/office/drawing/2014/main" id="{6087CE03-9355-4BB2-9ABC-E6B4FA385EBB}"/>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7FB13378-54E1-4D8A-AB29-A7120A66097D}"/>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B23206E4-F9DC-48BA-9B75-5307150C4298}"/>
              </a:ext>
            </a:extLst>
          </p:cNvPr>
          <p:cNvSpPr>
            <a:spLocks xmlns:a="http://schemas.openxmlformats.org/drawingml/2006/main" noGrp="1"/>
          </p:cNvSpPr>
          <p:nvPr/>
        </p:nvSpPr>
        <p:spPr>
          <a:xfrm xmlns:a="http://schemas.openxmlformats.org/drawingml/2006/main">
            <a:off x="666750" y="20002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9A"/>
                </a:solidFill>
                <a:latin typeface="Arial"/>
                <a:ea typeface="Arial"/>
                <a:cs typeface="Arial"/>
              </a:defRPr>
            </a:pPr>
            <a:r>
              <a:rPr sz="2175" b="1">
                <a:solidFill>
                  <a:srgbClr val="176B9A"/>
                </a:solidFill>
                <a:latin typeface="Arial"/>
                <a:ea typeface="Arial"/>
                <a:cs typeface="Arial"/>
                <a:hlinkClick xmlns:ns0="http://schemas.openxmlformats.org/officeDocument/2006/relationships" ns0:id="rIdLink3"/>
              </a:rPr>
              <a:t>Curley · resultados históricos</a:t>
            </a:r>
          </a:p>
        </p:txBody>
      </p:sp>
      <p:sp>
        <p:nvSpPr>
          <p:cNvPr id="7" name="">
            <a:extLst xmlns:a="http://schemas.openxmlformats.org/drawingml/2006/main">
              <a:ext uri="{FF2B5EF4-FFF2-40B4-BE49-F238E27FC236}">
                <a16:creationId xmlns:a16="http://schemas.microsoft.com/office/drawing/2014/main" id="{CD5B8032-9253-486B-9872-CC95C0DDF39D}"/>
              </a:ext>
            </a:extLst>
          </p:cNvPr>
          <p:cNvSpPr>
            <a:spLocks xmlns:a="http://schemas.openxmlformats.org/drawingml/2006/main" noGrp="1"/>
          </p:cNvSpPr>
          <p:nvPr/>
        </p:nvSpPr>
        <p:spPr>
          <a:xfrm xmlns:a="http://schemas.openxmlformats.org/drawingml/2006/main">
            <a:off x="666750" y="2495550"/>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42C"/>
                </a:solidFill>
                <a:latin typeface="Arial"/>
                <a:ea typeface="Arial"/>
                <a:cs typeface="Arial"/>
              </a:defRPr>
            </a:pPr>
            <a:r>
              <a:rPr sz="1425" b="0">
                <a:solidFill>
                  <a:srgbClr val="17242C"/>
                </a:solidFill>
                <a:latin typeface="Arial"/>
                <a:ea typeface="Arial"/>
                <a:cs typeface="Arial"/>
                <a:hlinkClick xmlns:ns1="http://schemas.openxmlformats.org/officeDocument/2006/relationships" ns1:id="rIdLink4"/>
              </a:rPr>
              <a:t>https://github.com/jalapic/engsoccerdata</a:t>
            </a:r>
          </a:p>
        </p:txBody>
      </p:sp>
      <p:sp>
        <p:nvSpPr>
          <p:cNvPr id="8" name="">
            <a:extLst xmlns:a="http://schemas.openxmlformats.org/drawingml/2006/main">
              <a:ext uri="{FF2B5EF4-FFF2-40B4-BE49-F238E27FC236}">
                <a16:creationId xmlns:a16="http://schemas.microsoft.com/office/drawing/2014/main" id="{3A525832-B4F2-4A85-801F-DFC6F2301D71}"/>
              </a:ext>
            </a:extLst>
          </p:cNvPr>
          <p:cNvSpPr>
            <a:spLocks xmlns:a="http://schemas.openxmlformats.org/drawingml/2006/main" noGrp="1"/>
          </p:cNvSpPr>
          <p:nvPr/>
        </p:nvSpPr>
        <p:spPr>
          <a:xfrm xmlns:a="http://schemas.openxmlformats.org/drawingml/2006/main">
            <a:off x="666750" y="326707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9A"/>
                </a:solidFill>
                <a:latin typeface="Arial"/>
                <a:ea typeface="Arial"/>
                <a:cs typeface="Arial"/>
              </a:defRPr>
            </a:pPr>
            <a:r>
              <a:rPr sz="2175" b="1">
                <a:solidFill>
                  <a:srgbClr val="176B9A"/>
                </a:solidFill>
                <a:latin typeface="Arial"/>
                <a:ea typeface="Arial"/>
                <a:cs typeface="Arial"/>
                <a:hlinkClick xmlns:ns2="http://schemas.openxmlformats.org/officeDocument/2006/relationships" ns2:id="rIdLink5"/>
              </a:rPr>
              <a:t>ClubElo · archivo de valoraciones</a:t>
            </a:r>
          </a:p>
        </p:txBody>
      </p:sp>
      <p:sp>
        <p:nvSpPr>
          <p:cNvPr id="9" name="">
            <a:extLst xmlns:a="http://schemas.openxmlformats.org/drawingml/2006/main">
              <a:ext uri="{FF2B5EF4-FFF2-40B4-BE49-F238E27FC236}">
                <a16:creationId xmlns:a16="http://schemas.microsoft.com/office/drawing/2014/main" id="{D0C54043-1252-407B-93B6-8AC5CCF75DE9}"/>
              </a:ext>
            </a:extLst>
          </p:cNvPr>
          <p:cNvSpPr>
            <a:spLocks xmlns:a="http://schemas.openxmlformats.org/drawingml/2006/main" noGrp="1"/>
          </p:cNvSpPr>
          <p:nvPr/>
        </p:nvSpPr>
        <p:spPr>
          <a:xfrm xmlns:a="http://schemas.openxmlformats.org/drawingml/2006/main">
            <a:off x="666750" y="3762375"/>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42C"/>
                </a:solidFill>
                <a:latin typeface="Arial"/>
                <a:ea typeface="Arial"/>
                <a:cs typeface="Arial"/>
              </a:defRPr>
            </a:pPr>
            <a:r>
              <a:rPr sz="1425" b="0">
                <a:solidFill>
                  <a:srgbClr val="17242C"/>
                </a:solidFill>
                <a:latin typeface="Arial"/>
                <a:ea typeface="Arial"/>
                <a:cs typeface="Arial"/>
                <a:hlinkClick xmlns:ns3="http://schemas.openxmlformats.org/officeDocument/2006/relationships" ns3:id="rIdLink6"/>
              </a:rPr>
              <a:t>https://github.com/xgabora/Club-Football-Match-Data/blob/main/data/EloRatings.csv</a:t>
            </a:r>
          </a:p>
        </p:txBody>
      </p:sp>
      <p:sp>
        <p:nvSpPr>
          <p:cNvPr id="10" name="">
            <a:extLst xmlns:a="http://schemas.openxmlformats.org/drawingml/2006/main">
              <a:ext uri="{FF2B5EF4-FFF2-40B4-BE49-F238E27FC236}">
                <a16:creationId xmlns:a16="http://schemas.microsoft.com/office/drawing/2014/main" id="{F365A202-046E-48D3-9522-BE8DB6D20ECA}"/>
              </a:ext>
            </a:extLst>
          </p:cNvPr>
          <p:cNvSpPr>
            <a:spLocks xmlns:a="http://schemas.openxmlformats.org/drawingml/2006/main" noGrp="1"/>
          </p:cNvSpPr>
          <p:nvPr/>
        </p:nvSpPr>
        <p:spPr>
          <a:xfrm xmlns:a="http://schemas.openxmlformats.org/drawingml/2006/main">
            <a:off x="666750" y="45339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9A"/>
                </a:solidFill>
                <a:latin typeface="Arial"/>
                <a:ea typeface="Arial"/>
                <a:cs typeface="Arial"/>
              </a:defRPr>
            </a:pPr>
            <a:r>
              <a:rPr sz="2175" b="1">
                <a:solidFill>
                  <a:srgbClr val="176B9A"/>
                </a:solidFill>
                <a:latin typeface="Arial"/>
                <a:ea typeface="Arial"/>
                <a:cs typeface="Arial"/>
                <a:hlinkClick xmlns:ns4="http://schemas.openxmlformats.org/officeDocument/2006/relationships" ns4:id="rIdLink7"/>
              </a:rPr>
              <a:t>StatsBomb · eventos de los partidos</a:t>
            </a:r>
          </a:p>
        </p:txBody>
      </p:sp>
      <p:sp>
        <p:nvSpPr>
          <p:cNvPr id="11" name="">
            <a:extLst xmlns:a="http://schemas.openxmlformats.org/drawingml/2006/main">
              <a:ext uri="{FF2B5EF4-FFF2-40B4-BE49-F238E27FC236}">
                <a16:creationId xmlns:a16="http://schemas.microsoft.com/office/drawing/2014/main" id="{109A6E2F-6AAE-4E95-B2F2-8DF189468FC3}"/>
              </a:ext>
            </a:extLst>
          </p:cNvPr>
          <p:cNvSpPr>
            <a:spLocks xmlns:a="http://schemas.openxmlformats.org/drawingml/2006/main" noGrp="1"/>
          </p:cNvSpPr>
          <p:nvPr/>
        </p:nvSpPr>
        <p:spPr>
          <a:xfrm xmlns:a="http://schemas.openxmlformats.org/drawingml/2006/main">
            <a:off x="666750" y="5029200"/>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42C"/>
                </a:solidFill>
                <a:latin typeface="Arial"/>
                <a:ea typeface="Arial"/>
                <a:cs typeface="Arial"/>
              </a:defRPr>
            </a:pPr>
            <a:r>
              <a:rPr sz="1425" b="0">
                <a:solidFill>
                  <a:srgbClr val="17242C"/>
                </a:solidFill>
                <a:latin typeface="Arial"/>
                <a:ea typeface="Arial"/>
                <a:cs typeface="Arial"/>
                <a:hlinkClick xmlns:ns5="http://schemas.openxmlformats.org/officeDocument/2006/relationships" ns5:id="rIdLink8"/>
              </a:rPr>
              <a:t>https://github.com/statsbomb/open-data</a:t>
            </a:r>
          </a:p>
        </p:txBody>
      </p:sp>
    </p:spTree>
    <p:extLst>
      <p:ext uri="{BB962C8B-B14F-4D97-AF65-F5344CB8AC3E}">
        <p14:creationId xmlns:p14="http://schemas.microsoft.com/office/powerpoint/2010/main" val="2026434872"/>
      </p:ext>
    </p:extLst>
  </p:cSld>
  <p:transition spd="slow" advClick="1">
    <p:fade/>
  </p:transition>
</p:sld>
</file>

<file path=ppt/slides/slide93.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45FB76A-4BA8-45BB-9793-FF827A41E7F9}"/>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CONCLUSIONES Y REFERENCIAS</a:t>
            </a:r>
          </a:p>
        </p:txBody>
      </p:sp>
      <p:sp>
        <p:nvSpPr>
          <p:cNvPr id="2" name="">
            <a:extLst xmlns:a="http://schemas.openxmlformats.org/drawingml/2006/main">
              <a:ext uri="{FF2B5EF4-FFF2-40B4-BE49-F238E27FC236}">
                <a16:creationId xmlns:a16="http://schemas.microsoft.com/office/drawing/2014/main" id="{7E6C965A-CB1B-4EFB-9381-E56620E7AE2E}"/>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Selecciones y reglas de clasificación</a:t>
            </a:r>
          </a:p>
        </p:txBody>
      </p:sp>
      <p:sp>
        <p:nvSpPr>
          <p:cNvPr id="3" name="">
            <a:extLst xmlns:a="http://schemas.openxmlformats.org/drawingml/2006/main">
              <a:ext uri="{FF2B5EF4-FFF2-40B4-BE49-F238E27FC236}">
                <a16:creationId xmlns:a16="http://schemas.microsoft.com/office/drawing/2014/main" id="{785F45A9-CFA9-4F46-8D46-D301B91A94E7}"/>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95</a:t>
            </a:r>
          </a:p>
        </p:txBody>
      </p:sp>
      <p:sp>
        <p:nvSpPr>
          <p:cNvPr id="4" name="">
            <a:extLst xmlns:a="http://schemas.openxmlformats.org/drawingml/2006/main">
              <a:ext uri="{FF2B5EF4-FFF2-40B4-BE49-F238E27FC236}">
                <a16:creationId xmlns:a16="http://schemas.microsoft.com/office/drawing/2014/main" id="{2CA81466-7915-4A06-9717-61018056941E}"/>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013F25B9-7221-4B11-B4F9-6C2A91BFBE71}"/>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7D330D69-185B-42A0-B277-40EE536347B0}"/>
              </a:ext>
            </a:extLst>
          </p:cNvPr>
          <p:cNvSpPr>
            <a:spLocks xmlns:a="http://schemas.openxmlformats.org/drawingml/2006/main" noGrp="1"/>
          </p:cNvSpPr>
          <p:nvPr/>
        </p:nvSpPr>
        <p:spPr>
          <a:xfrm xmlns:a="http://schemas.openxmlformats.org/drawingml/2006/main">
            <a:off x="666750" y="20002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9A"/>
                </a:solidFill>
                <a:latin typeface="Arial"/>
                <a:ea typeface="Arial"/>
                <a:cs typeface="Arial"/>
              </a:defRPr>
            </a:pPr>
            <a:r>
              <a:rPr sz="2175" b="1">
                <a:solidFill>
                  <a:srgbClr val="176B9A"/>
                </a:solidFill>
                <a:latin typeface="Arial"/>
                <a:ea typeface="Arial"/>
                <a:cs typeface="Arial"/>
                <a:hlinkClick xmlns:ns0="http://schemas.openxmlformats.org/officeDocument/2006/relationships" ns0:id="rIdLink3"/>
              </a:rPr>
              <a:t>World Football Elo Ratings · historiales</a:t>
            </a:r>
          </a:p>
        </p:txBody>
      </p:sp>
      <p:sp>
        <p:nvSpPr>
          <p:cNvPr id="7" name="">
            <a:extLst xmlns:a="http://schemas.openxmlformats.org/drawingml/2006/main">
              <a:ext uri="{FF2B5EF4-FFF2-40B4-BE49-F238E27FC236}">
                <a16:creationId xmlns:a16="http://schemas.microsoft.com/office/drawing/2014/main" id="{CFBB5725-91AD-440A-97CC-49ECFB6211BE}"/>
              </a:ext>
            </a:extLst>
          </p:cNvPr>
          <p:cNvSpPr>
            <a:spLocks xmlns:a="http://schemas.openxmlformats.org/drawingml/2006/main" noGrp="1"/>
          </p:cNvSpPr>
          <p:nvPr/>
        </p:nvSpPr>
        <p:spPr>
          <a:xfrm xmlns:a="http://schemas.openxmlformats.org/drawingml/2006/main">
            <a:off x="666750" y="2495550"/>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42C"/>
                </a:solidFill>
                <a:latin typeface="Arial"/>
                <a:ea typeface="Arial"/>
                <a:cs typeface="Arial"/>
              </a:defRPr>
            </a:pPr>
            <a:r>
              <a:rPr sz="1425" b="0">
                <a:solidFill>
                  <a:srgbClr val="17242C"/>
                </a:solidFill>
                <a:latin typeface="Arial"/>
                <a:ea typeface="Arial"/>
                <a:cs typeface="Arial"/>
                <a:hlinkClick xmlns:ns1="http://schemas.openxmlformats.org/officeDocument/2006/relationships" ns1:id="rIdLink4"/>
              </a:rPr>
              <a:t>https://www.eloratings.net/</a:t>
            </a:r>
          </a:p>
        </p:txBody>
      </p:sp>
      <p:sp>
        <p:nvSpPr>
          <p:cNvPr id="8" name="">
            <a:extLst xmlns:a="http://schemas.openxmlformats.org/drawingml/2006/main">
              <a:ext uri="{FF2B5EF4-FFF2-40B4-BE49-F238E27FC236}">
                <a16:creationId xmlns:a16="http://schemas.microsoft.com/office/drawing/2014/main" id="{80E40AFA-0D10-4099-B329-ACA72C631FD9}"/>
              </a:ext>
            </a:extLst>
          </p:cNvPr>
          <p:cNvSpPr>
            <a:spLocks xmlns:a="http://schemas.openxmlformats.org/drawingml/2006/main" noGrp="1"/>
          </p:cNvSpPr>
          <p:nvPr/>
        </p:nvSpPr>
        <p:spPr>
          <a:xfrm xmlns:a="http://schemas.openxmlformats.org/drawingml/2006/main">
            <a:off x="666750" y="326707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9A"/>
                </a:solidFill>
                <a:latin typeface="Arial"/>
                <a:ea typeface="Arial"/>
                <a:cs typeface="Arial"/>
              </a:defRPr>
            </a:pPr>
            <a:r>
              <a:rPr sz="2175" b="1">
                <a:solidFill>
                  <a:srgbClr val="176B9A"/>
                </a:solidFill>
                <a:latin typeface="Arial"/>
                <a:ea typeface="Arial"/>
                <a:cs typeface="Arial"/>
                <a:hlinkClick xmlns:ns2="http://schemas.openxmlformats.org/officeDocument/2006/relationships" ns2:id="rIdLink5"/>
              </a:rPr>
              <a:t>CAF · eliminatoria africana</a:t>
            </a:r>
          </a:p>
        </p:txBody>
      </p:sp>
      <p:sp>
        <p:nvSpPr>
          <p:cNvPr id="9" name="">
            <a:extLst xmlns:a="http://schemas.openxmlformats.org/drawingml/2006/main">
              <a:ext uri="{FF2B5EF4-FFF2-40B4-BE49-F238E27FC236}">
                <a16:creationId xmlns:a16="http://schemas.microsoft.com/office/drawing/2014/main" id="{7C428937-380E-4506-BC50-E47F8B09D7F3}"/>
              </a:ext>
            </a:extLst>
          </p:cNvPr>
          <p:cNvSpPr>
            <a:spLocks xmlns:a="http://schemas.openxmlformats.org/drawingml/2006/main" noGrp="1"/>
          </p:cNvSpPr>
          <p:nvPr/>
        </p:nvSpPr>
        <p:spPr>
          <a:xfrm xmlns:a="http://schemas.openxmlformats.org/drawingml/2006/main">
            <a:off x="666750" y="3762375"/>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42C"/>
                </a:solidFill>
                <a:latin typeface="Arial"/>
                <a:ea typeface="Arial"/>
                <a:cs typeface="Arial"/>
              </a:defRPr>
            </a:pPr>
            <a:r>
              <a:rPr sz="1425" b="0">
                <a:solidFill>
                  <a:srgbClr val="17242C"/>
                </a:solidFill>
                <a:latin typeface="Arial"/>
                <a:ea typeface="Arial"/>
                <a:cs typeface="Arial"/>
                <a:hlinkClick xmlns:ns3="http://schemas.openxmlformats.org/officeDocument/2006/relationships" ns3:id="rIdLink6"/>
              </a:rPr>
              <a:t>https://www.cafonline.com/news/everything-you-need-to-know-about-2026-world-cup-qualifying-for-africa/</a:t>
            </a:r>
          </a:p>
        </p:txBody>
      </p:sp>
      <p:sp>
        <p:nvSpPr>
          <p:cNvPr id="10" name="">
            <a:extLst xmlns:a="http://schemas.openxmlformats.org/drawingml/2006/main">
              <a:ext uri="{FF2B5EF4-FFF2-40B4-BE49-F238E27FC236}">
                <a16:creationId xmlns:a16="http://schemas.microsoft.com/office/drawing/2014/main" id="{DBE877C3-5DB5-4739-82C6-0105EA869FD9}"/>
              </a:ext>
            </a:extLst>
          </p:cNvPr>
          <p:cNvSpPr>
            <a:spLocks xmlns:a="http://schemas.openxmlformats.org/drawingml/2006/main" noGrp="1"/>
          </p:cNvSpPr>
          <p:nvPr/>
        </p:nvSpPr>
        <p:spPr>
          <a:xfrm xmlns:a="http://schemas.openxmlformats.org/drawingml/2006/main">
            <a:off x="666750" y="45339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9A"/>
                </a:solidFill>
                <a:latin typeface="Arial"/>
                <a:ea typeface="Arial"/>
                <a:cs typeface="Arial"/>
              </a:defRPr>
            </a:pPr>
            <a:r>
              <a:rPr sz="2175" b="1">
                <a:solidFill>
                  <a:srgbClr val="176B9A"/>
                </a:solidFill>
                <a:latin typeface="Arial"/>
                <a:ea typeface="Arial"/>
                <a:cs typeface="Arial"/>
                <a:hlinkClick xmlns:ns4="http://schemas.openxmlformats.org/officeDocument/2006/relationships" ns4:id="rIdLink7"/>
              </a:rPr>
              <a:t>FIFA · clasificación y desempates</a:t>
            </a:r>
          </a:p>
        </p:txBody>
      </p:sp>
      <p:sp>
        <p:nvSpPr>
          <p:cNvPr id="11" name="">
            <a:extLst xmlns:a="http://schemas.openxmlformats.org/drawingml/2006/main">
              <a:ext uri="{FF2B5EF4-FFF2-40B4-BE49-F238E27FC236}">
                <a16:creationId xmlns:a16="http://schemas.microsoft.com/office/drawing/2014/main" id="{9E81C92C-DF13-4B27-9C6C-72AC89989398}"/>
              </a:ext>
            </a:extLst>
          </p:cNvPr>
          <p:cNvSpPr>
            <a:spLocks xmlns:a="http://schemas.openxmlformats.org/drawingml/2006/main" noGrp="1"/>
          </p:cNvSpPr>
          <p:nvPr/>
        </p:nvSpPr>
        <p:spPr>
          <a:xfrm xmlns:a="http://schemas.openxmlformats.org/drawingml/2006/main">
            <a:off x="666750" y="5029200"/>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42C"/>
                </a:solidFill>
                <a:latin typeface="Arial"/>
                <a:ea typeface="Arial"/>
                <a:cs typeface="Arial"/>
              </a:defRPr>
            </a:pPr>
            <a:r>
              <a:rPr sz="1425" b="0">
                <a:solidFill>
                  <a:srgbClr val="17242C"/>
                </a:solidFill>
                <a:latin typeface="Arial"/>
                <a:ea typeface="Arial"/>
                <a:cs typeface="Arial"/>
                <a:hlinkClick xmlns:ns5="http://schemas.openxmlformats.org/officeDocument/2006/relationships" ns5:id="rIdLink8"/>
              </a:rPr>
              <a:t>https://www.fifa.com/es/tournaments/mens/worldcup/canadamexicousa2026/articles/grupos-como-funcionan-clasificacion-criterios-desempate</a:t>
            </a:r>
          </a:p>
        </p:txBody>
      </p:sp>
    </p:spTree>
    <p:extLst>
      <p:ext uri="{BB962C8B-B14F-4D97-AF65-F5344CB8AC3E}">
        <p14:creationId xmlns:p14="http://schemas.microsoft.com/office/powerpoint/2010/main" val="462266541"/>
      </p:ext>
    </p:extLst>
  </p:cSld>
  <p:transition spd="slow" advClick="1">
    <p:fade/>
  </p:transition>
</p:sld>
</file>

<file path=ppt/slides/slide94.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0F8AC7-A1AC-478E-970E-28FDF00E3D0F}"/>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CONCLUSIONES Y REFERENCIAS</a:t>
            </a:r>
          </a:p>
        </p:txBody>
      </p:sp>
      <p:sp>
        <p:nvSpPr>
          <p:cNvPr id="2" name="">
            <a:extLst xmlns:a="http://schemas.openxmlformats.org/drawingml/2006/main">
              <a:ext uri="{FF2B5EF4-FFF2-40B4-BE49-F238E27FC236}">
                <a16:creationId xmlns:a16="http://schemas.microsoft.com/office/drawing/2014/main" id="{1D4CFE43-2BA5-457C-A058-4B307CC83293}"/>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Fundamentos y contraste histórico</a:t>
            </a:r>
          </a:p>
        </p:txBody>
      </p:sp>
      <p:sp>
        <p:nvSpPr>
          <p:cNvPr id="3" name="">
            <a:extLst xmlns:a="http://schemas.openxmlformats.org/drawingml/2006/main">
              <a:ext uri="{FF2B5EF4-FFF2-40B4-BE49-F238E27FC236}">
                <a16:creationId xmlns:a16="http://schemas.microsoft.com/office/drawing/2014/main" id="{DBF48339-1086-4294-86B5-202DDD59D668}"/>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96</a:t>
            </a:r>
          </a:p>
        </p:txBody>
      </p:sp>
      <p:sp>
        <p:nvSpPr>
          <p:cNvPr id="4" name="">
            <a:extLst xmlns:a="http://schemas.openxmlformats.org/drawingml/2006/main">
              <a:ext uri="{FF2B5EF4-FFF2-40B4-BE49-F238E27FC236}">
                <a16:creationId xmlns:a16="http://schemas.microsoft.com/office/drawing/2014/main" id="{2EA047D5-537E-490F-AB73-015359007278}"/>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E368865C-54F2-4B39-9FD3-86B2558EDCB8}"/>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DF2B98CF-00ED-4E98-A0DD-D0510023F79E}"/>
              </a:ext>
            </a:extLst>
          </p:cNvPr>
          <p:cNvSpPr>
            <a:spLocks xmlns:a="http://schemas.openxmlformats.org/drawingml/2006/main" noGrp="1"/>
          </p:cNvSpPr>
          <p:nvPr/>
        </p:nvSpPr>
        <p:spPr>
          <a:xfrm xmlns:a="http://schemas.openxmlformats.org/drawingml/2006/main">
            <a:off x="666750" y="20002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9A"/>
                </a:solidFill>
                <a:latin typeface="Arial"/>
                <a:ea typeface="Arial"/>
                <a:cs typeface="Arial"/>
              </a:defRPr>
            </a:pPr>
            <a:r>
              <a:rPr sz="2175" b="1">
                <a:solidFill>
                  <a:srgbClr val="176B9A"/>
                </a:solidFill>
                <a:latin typeface="Arial"/>
                <a:ea typeface="Arial"/>
                <a:cs typeface="Arial"/>
                <a:hlinkClick xmlns:ns0="http://schemas.openxmlformats.org/officeDocument/2006/relationships" ns0:id="rIdLink3"/>
              </a:rPr>
              <a:t>SciPy · distribución Skellam</a:t>
            </a:r>
          </a:p>
        </p:txBody>
      </p:sp>
      <p:sp>
        <p:nvSpPr>
          <p:cNvPr id="7" name="">
            <a:extLst xmlns:a="http://schemas.openxmlformats.org/drawingml/2006/main">
              <a:ext uri="{FF2B5EF4-FFF2-40B4-BE49-F238E27FC236}">
                <a16:creationId xmlns:a16="http://schemas.microsoft.com/office/drawing/2014/main" id="{DE275B31-04F4-41B3-9C1F-E2C830896175}"/>
              </a:ext>
            </a:extLst>
          </p:cNvPr>
          <p:cNvSpPr>
            <a:spLocks xmlns:a="http://schemas.openxmlformats.org/drawingml/2006/main" noGrp="1"/>
          </p:cNvSpPr>
          <p:nvPr/>
        </p:nvSpPr>
        <p:spPr>
          <a:xfrm xmlns:a="http://schemas.openxmlformats.org/drawingml/2006/main">
            <a:off x="666750" y="2495550"/>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42C"/>
                </a:solidFill>
                <a:latin typeface="Arial"/>
                <a:ea typeface="Arial"/>
                <a:cs typeface="Arial"/>
              </a:defRPr>
            </a:pPr>
            <a:r>
              <a:rPr sz="1425" b="0">
                <a:solidFill>
                  <a:srgbClr val="17242C"/>
                </a:solidFill>
                <a:latin typeface="Arial"/>
                <a:ea typeface="Arial"/>
                <a:cs typeface="Arial"/>
                <a:hlinkClick xmlns:ns1="http://schemas.openxmlformats.org/officeDocument/2006/relationships" ns1:id="rIdLink4"/>
              </a:rPr>
              <a:t>https://docs.scipy.org/doc/scipy/reference/generated/scipy.stats.skellam.html</a:t>
            </a:r>
          </a:p>
        </p:txBody>
      </p:sp>
      <p:sp>
        <p:nvSpPr>
          <p:cNvPr id="8" name="">
            <a:extLst xmlns:a="http://schemas.openxmlformats.org/drawingml/2006/main">
              <a:ext uri="{FF2B5EF4-FFF2-40B4-BE49-F238E27FC236}">
                <a16:creationId xmlns:a16="http://schemas.microsoft.com/office/drawing/2014/main" id="{1DD11FF6-F819-48C0-A400-938597D2548E}"/>
              </a:ext>
            </a:extLst>
          </p:cNvPr>
          <p:cNvSpPr>
            <a:spLocks xmlns:a="http://schemas.openxmlformats.org/drawingml/2006/main" noGrp="1"/>
          </p:cNvSpPr>
          <p:nvPr/>
        </p:nvSpPr>
        <p:spPr>
          <a:xfrm xmlns:a="http://schemas.openxmlformats.org/drawingml/2006/main">
            <a:off x="666750" y="3267075"/>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9A"/>
                </a:solidFill>
                <a:latin typeface="Arial"/>
                <a:ea typeface="Arial"/>
                <a:cs typeface="Arial"/>
              </a:defRPr>
            </a:pPr>
            <a:r>
              <a:rPr sz="2175" b="1">
                <a:solidFill>
                  <a:srgbClr val="176B9A"/>
                </a:solidFill>
                <a:latin typeface="Arial"/>
                <a:ea typeface="Arial"/>
                <a:cs typeface="Arial"/>
                <a:hlinkClick xmlns:ns2="http://schemas.openxmlformats.org/officeDocument/2006/relationships" ns2:id="rIdLink5"/>
              </a:rPr>
              <a:t>SciPy · distribución Poisson</a:t>
            </a:r>
          </a:p>
        </p:txBody>
      </p:sp>
      <p:sp>
        <p:nvSpPr>
          <p:cNvPr id="9" name="">
            <a:extLst xmlns:a="http://schemas.openxmlformats.org/drawingml/2006/main">
              <a:ext uri="{FF2B5EF4-FFF2-40B4-BE49-F238E27FC236}">
                <a16:creationId xmlns:a16="http://schemas.microsoft.com/office/drawing/2014/main" id="{F7F5E688-EDB3-4CE1-94B1-6F889C26EE5E}"/>
              </a:ext>
            </a:extLst>
          </p:cNvPr>
          <p:cNvSpPr>
            <a:spLocks xmlns:a="http://schemas.openxmlformats.org/drawingml/2006/main" noGrp="1"/>
          </p:cNvSpPr>
          <p:nvPr/>
        </p:nvSpPr>
        <p:spPr>
          <a:xfrm xmlns:a="http://schemas.openxmlformats.org/drawingml/2006/main">
            <a:off x="666750" y="3762375"/>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42C"/>
                </a:solidFill>
                <a:latin typeface="Arial"/>
                <a:ea typeface="Arial"/>
                <a:cs typeface="Arial"/>
              </a:defRPr>
            </a:pPr>
            <a:r>
              <a:rPr sz="1425" b="0">
                <a:solidFill>
                  <a:srgbClr val="17242C"/>
                </a:solidFill>
                <a:latin typeface="Arial"/>
                <a:ea typeface="Arial"/>
                <a:cs typeface="Arial"/>
                <a:hlinkClick xmlns:ns3="http://schemas.openxmlformats.org/officeDocument/2006/relationships" ns3:id="rIdLink6"/>
              </a:rPr>
              <a:t>https://docs.scipy.org/doc/scipy/reference/generated/scipy.stats.poisson.html</a:t>
            </a:r>
          </a:p>
        </p:txBody>
      </p:sp>
      <p:sp>
        <p:nvSpPr>
          <p:cNvPr id="10" name="">
            <a:extLst xmlns:a="http://schemas.openxmlformats.org/drawingml/2006/main">
              <a:ext uri="{FF2B5EF4-FFF2-40B4-BE49-F238E27FC236}">
                <a16:creationId xmlns:a16="http://schemas.microsoft.com/office/drawing/2014/main" id="{D9FA24EA-437E-4562-847E-ECED5D24C025}"/>
              </a:ext>
            </a:extLst>
          </p:cNvPr>
          <p:cNvSpPr>
            <a:spLocks xmlns:a="http://schemas.openxmlformats.org/drawingml/2006/main" noGrp="1"/>
          </p:cNvSpPr>
          <p:nvPr/>
        </p:nvSpPr>
        <p:spPr>
          <a:xfrm xmlns:a="http://schemas.openxmlformats.org/drawingml/2006/main">
            <a:off x="666750" y="45339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6B9A"/>
                </a:solidFill>
                <a:latin typeface="Arial"/>
                <a:ea typeface="Arial"/>
                <a:cs typeface="Arial"/>
              </a:defRPr>
            </a:pPr>
            <a:r>
              <a:rPr sz="2175" b="1">
                <a:solidFill>
                  <a:srgbClr val="176B9A"/>
                </a:solidFill>
                <a:latin typeface="Arial"/>
                <a:ea typeface="Arial"/>
                <a:cs typeface="Arial"/>
                <a:hlinkClick xmlns:ns4="http://schemas.openxmlformats.org/officeDocument/2006/relationships" ns4:id="rIdLink7"/>
              </a:rPr>
              <a:t>DSFS · tablas históricas de Bundesliga</a:t>
            </a:r>
          </a:p>
        </p:txBody>
      </p:sp>
      <p:sp>
        <p:nvSpPr>
          <p:cNvPr id="11" name="">
            <a:extLst xmlns:a="http://schemas.openxmlformats.org/drawingml/2006/main">
              <a:ext uri="{FF2B5EF4-FFF2-40B4-BE49-F238E27FC236}">
                <a16:creationId xmlns:a16="http://schemas.microsoft.com/office/drawing/2014/main" id="{A41E113D-8F82-4FF1-9B6F-5B59F246707D}"/>
              </a:ext>
            </a:extLst>
          </p:cNvPr>
          <p:cNvSpPr>
            <a:spLocks xmlns:a="http://schemas.openxmlformats.org/drawingml/2006/main" noGrp="1"/>
          </p:cNvSpPr>
          <p:nvPr/>
        </p:nvSpPr>
        <p:spPr>
          <a:xfrm xmlns:a="http://schemas.openxmlformats.org/drawingml/2006/main">
            <a:off x="666750" y="5029200"/>
            <a:ext cx="10715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42C"/>
                </a:solidFill>
                <a:latin typeface="Arial"/>
                <a:ea typeface="Arial"/>
                <a:cs typeface="Arial"/>
              </a:defRPr>
            </a:pPr>
            <a:r>
              <a:rPr sz="1425" b="0">
                <a:solidFill>
                  <a:srgbClr val="17242C"/>
                </a:solidFill>
                <a:latin typeface="Arial"/>
                <a:ea typeface="Arial"/>
                <a:cs typeface="Arial"/>
                <a:hlinkClick xmlns:ns5="http://schemas.openxmlformats.org/officeDocument/2006/relationships" ns5:id="rIdLink8"/>
              </a:rPr>
              <a:t>https://www.dsfs.de/wp-content/uploads/2024/01/Bundesliga_Geschichte_Tabellen.pdf</a:t>
            </a:r>
          </a:p>
        </p:txBody>
      </p:sp>
    </p:spTree>
    <p:extLst>
      <p:ext uri="{BB962C8B-B14F-4D97-AF65-F5344CB8AC3E}">
        <p14:creationId xmlns:p14="http://schemas.microsoft.com/office/powerpoint/2010/main" val="771770522"/>
      </p:ext>
    </p:extLst>
  </p:cSld>
  <p:transition spd="slow" advClick="1">
    <p:fade/>
  </p:transition>
</p:sld>
</file>

<file path=ppt/slides/slide95.xml><?xml version="1.0" encoding="utf-8"?>
<p:sld xmlns:p="http://schemas.openxmlformats.org/presentationml/2006/main">
  <p:cSld>
    <p:bg>
      <p:bgPr>
        <a:solidFill xmlns:a="http://schemas.openxmlformats.org/drawingml/2006/main">
          <a:srgbClr val="F3F7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8DBAE4D-1A78-43BA-B16B-91E312B33D8D}"/>
              </a:ext>
            </a:extLst>
          </p:cNvPr>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76B9A"/>
                </a:solidFill>
                <a:latin typeface="Arial"/>
                <a:ea typeface="Arial"/>
                <a:cs typeface="Arial"/>
              </a:defRPr>
            </a:pPr>
            <a:r>
              <a:rPr sz="1275" b="1">
                <a:solidFill>
                  <a:srgbClr val="176B9A"/>
                </a:solidFill>
                <a:latin typeface="Arial"/>
                <a:ea typeface="Arial"/>
                <a:cs typeface="Arial"/>
              </a:rPr>
              <a:t>CONCLUSIONES Y REFERENCIAS</a:t>
            </a:r>
          </a:p>
        </p:txBody>
      </p:sp>
      <p:sp>
        <p:nvSpPr>
          <p:cNvPr id="2" name="">
            <a:extLst xmlns:a="http://schemas.openxmlformats.org/drawingml/2006/main">
              <a:ext uri="{FF2B5EF4-FFF2-40B4-BE49-F238E27FC236}">
                <a16:creationId xmlns:a16="http://schemas.microsoft.com/office/drawing/2014/main" id="{0ADF088A-B556-4BCC-9EA1-EF6F2D6E7E98}"/>
              </a:ext>
            </a:extLst>
          </p:cNvPr>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Referencia del curso</a:t>
            </a:r>
          </a:p>
        </p:txBody>
      </p:sp>
      <p:sp>
        <p:nvSpPr>
          <p:cNvPr id="3" name="">
            <a:extLst xmlns:a="http://schemas.openxmlformats.org/drawingml/2006/main">
              <a:ext uri="{FF2B5EF4-FFF2-40B4-BE49-F238E27FC236}">
                <a16:creationId xmlns:a16="http://schemas.microsoft.com/office/drawing/2014/main" id="{082B8C3C-8248-4E2E-A45C-41E19DDE0860}"/>
              </a:ext>
            </a:extLst>
          </p:cNvPr>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6B9A"/>
                </a:solidFill>
                <a:latin typeface="Arial"/>
                <a:ea typeface="Arial"/>
                <a:cs typeface="Arial"/>
              </a:defRPr>
            </a:pPr>
            <a:r>
              <a:rPr sz="1875" b="1">
                <a:solidFill>
                  <a:srgbClr val="176B9A"/>
                </a:solidFill>
                <a:latin typeface="Arial"/>
                <a:ea typeface="Arial"/>
                <a:cs typeface="Arial"/>
              </a:rPr>
              <a:t>97</a:t>
            </a:r>
          </a:p>
        </p:txBody>
      </p:sp>
      <p:sp>
        <p:nvSpPr>
          <p:cNvPr id="4" name="">
            <a:extLst xmlns:a="http://schemas.openxmlformats.org/drawingml/2006/main">
              <a:ext uri="{FF2B5EF4-FFF2-40B4-BE49-F238E27FC236}">
                <a16:creationId xmlns:a16="http://schemas.microsoft.com/office/drawing/2014/main" id="{F1917F1C-BEFE-4C03-9E4B-D38DF67C23F6}"/>
              </a:ext>
            </a:extLst>
          </p:cNvPr>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UNIVERSIDAD DEL ISTMO</a:t>
            </a:r>
          </a:p>
        </p:txBody>
      </p:sp>
      <p:sp>
        <p:nvSpPr>
          <p:cNvPr id="5" name="">
            <a:extLst xmlns:a="http://schemas.openxmlformats.org/drawingml/2006/main">
              <a:ext uri="{FF2B5EF4-FFF2-40B4-BE49-F238E27FC236}">
                <a16:creationId xmlns:a16="http://schemas.microsoft.com/office/drawing/2014/main" id="{DA128D78-D84F-4813-83C3-D29581A51E92}"/>
              </a:ext>
            </a:extLst>
          </p:cNvPr>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87780"/>
                </a:solidFill>
                <a:latin typeface="Arial"/>
                <a:ea typeface="Arial"/>
                <a:cs typeface="Arial"/>
              </a:defRPr>
            </a:pPr>
            <a:r>
              <a:rPr sz="1125" b="0">
                <a:solidFill>
                  <a:srgbClr val="687780"/>
                </a:solidFill>
                <a:latin typeface="Arial"/>
                <a:ea typeface="Arial"/>
                <a:cs typeface="Arial"/>
              </a:rPr>
              <a:t>ANÁLISIS DE DATOS</a:t>
            </a:r>
          </a:p>
        </p:txBody>
      </p:sp>
      <p:sp>
        <p:nvSpPr>
          <p:cNvPr id="6" name="">
            <a:extLst xmlns:a="http://schemas.openxmlformats.org/drawingml/2006/main">
              <a:ext uri="{FF2B5EF4-FFF2-40B4-BE49-F238E27FC236}">
                <a16:creationId xmlns:a16="http://schemas.microsoft.com/office/drawing/2014/main" id="{AD9104A1-6D74-4EA0-AA1A-94F8621A1019}"/>
              </a:ext>
            </a:extLst>
          </p:cNvPr>
          <p:cNvSpPr>
            <a:spLocks xmlns:a="http://schemas.openxmlformats.org/drawingml/2006/main" noGrp="1"/>
          </p:cNvSpPr>
          <p:nvPr/>
        </p:nvSpPr>
        <p:spPr>
          <a:xfrm xmlns:a="http://schemas.openxmlformats.org/drawingml/2006/main">
            <a:off x="666750" y="201930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David Goldsman y Paul Goldsman. A First Course in Probability. Versión del libro proporcionada para el curso: fundamentos de probabilidad, variables aleatorias y distribuciones discretas.</a:t>
            </a:r>
          </a:p>
        </p:txBody>
      </p:sp>
      <p:sp>
        <p:nvSpPr>
          <p:cNvPr id="7" name="">
            <a:extLst xmlns:a="http://schemas.openxmlformats.org/drawingml/2006/main">
              <a:ext uri="{FF2B5EF4-FFF2-40B4-BE49-F238E27FC236}">
                <a16:creationId xmlns:a16="http://schemas.microsoft.com/office/drawing/2014/main" id="{F5C23E62-AF34-4747-BB6B-C2502F14DA9E}"/>
              </a:ext>
            </a:extLst>
          </p:cNvPr>
          <p:cNvSpPr>
            <a:spLocks xmlns:a="http://schemas.openxmlformats.org/drawingml/2006/main" noGrp="1"/>
          </p:cNvSpPr>
          <p:nvPr/>
        </p:nvSpPr>
        <p:spPr>
          <a:xfrm xmlns:a="http://schemas.openxmlformats.org/drawingml/2006/main">
            <a:off x="666750" y="4019550"/>
            <a:ext cx="10763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42C"/>
                </a:solidFill>
                <a:latin typeface="Arial"/>
                <a:ea typeface="Arial"/>
                <a:cs typeface="Arial"/>
              </a:defRPr>
            </a:pPr>
            <a:r>
              <a:rPr sz="2025" b="0">
                <a:solidFill>
                  <a:srgbClr val="17242C"/>
                </a:solidFill>
                <a:latin typeface="Arial"/>
                <a:ea typeface="Arial"/>
                <a:cs typeface="Arial"/>
              </a:rPr>
              <a:t>Capítulos 1 y 4–6. Las capturas de las fórmulas binomial y Poisson corresponden a las páginas impresas 118 y 124. Las ecuaciones del enlace Elo–Poisson y los productos de eventos desarrollan el modelo utilizado en este estudio.</a:t>
            </a:r>
          </a:p>
        </p:txBody>
      </p:sp>
    </p:spTree>
    <p:extLst>
      <p:ext uri="{BB962C8B-B14F-4D97-AF65-F5344CB8AC3E}">
        <p14:creationId xmlns:p14="http://schemas.microsoft.com/office/powerpoint/2010/main" val="1278240498"/>
      </p:ext>
    </p:extLst>
  </p:cSld>
  <p:transition spd="slow" advClick="1">
    <p:fade/>
  </p:transition>
</p:sld>
</file>

<file path=ppt/slides/slide96.xml><?xml version="1.0" encoding="utf-8"?>
<p:sld xmlns:p="http://schemas.openxmlformats.org/presentationml/2006/main">
  <p:cSld>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643641c2727e43b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BE0210C-671D-47C2-B349-3A10843BB90A}"/>
              </a:ext>
            </a:extLst>
          </p:cNvPr>
          <p:cNvSpPr>
            <a:spLocks xmlns:a="http://schemas.openxmlformats.org/drawingml/2006/main" noGrp="1"/>
          </p:cNvSpPr>
          <p:nvPr/>
        </p:nvSpPr>
        <p:spPr>
          <a:xfrm xmlns:a="http://schemas.openxmlformats.org/drawingml/2006/main">
            <a:off x="666750" y="18097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Gracias</a:t>
            </a:r>
          </a:p>
        </p:txBody>
      </p:sp>
      <p:sp>
        <p:nvSpPr>
          <p:cNvPr id="3" name="">
            <a:extLst xmlns:a="http://schemas.openxmlformats.org/drawingml/2006/main">
              <a:ext uri="{FF2B5EF4-FFF2-40B4-BE49-F238E27FC236}">
                <a16:creationId xmlns:a16="http://schemas.microsoft.com/office/drawing/2014/main" id="{067DE223-85B4-46CE-A0EB-723BAE5EA052}"/>
              </a:ext>
            </a:extLst>
          </p:cNvPr>
          <p:cNvSpPr>
            <a:spLocks xmlns:a="http://schemas.openxmlformats.org/drawingml/2006/main" noGrp="1"/>
          </p:cNvSpPr>
          <p:nvPr/>
        </p:nvSpPr>
        <p:spPr>
          <a:xfrm xmlns:a="http://schemas.openxmlformats.org/drawingml/2006/main">
            <a:off x="714375" y="31623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FFFFFF"/>
                </a:solidFill>
                <a:latin typeface="Arial"/>
                <a:ea typeface="Arial"/>
                <a:cs typeface="Arial"/>
              </a:defRPr>
            </a:pPr>
            <a:r>
              <a:rPr sz="2775" b="0">
                <a:solidFill>
                  <a:srgbClr val="FFFFFF"/>
                </a:solidFill>
                <a:latin typeface="Arial"/>
                <a:ea typeface="Arial"/>
                <a:cs typeface="Arial"/>
              </a:rPr>
              <a:t>Preguntas y discusión</a:t>
            </a:r>
          </a:p>
        </p:txBody>
      </p:sp>
      <p:sp>
        <p:nvSpPr>
          <p:cNvPr id="4" name="">
            <a:extLst xmlns:a="http://schemas.openxmlformats.org/drawingml/2006/main">
              <a:ext uri="{FF2B5EF4-FFF2-40B4-BE49-F238E27FC236}">
                <a16:creationId xmlns:a16="http://schemas.microsoft.com/office/drawing/2014/main" id="{995CCC1E-BA89-445E-8DA4-3304993BA2AE}"/>
              </a:ext>
            </a:extLst>
          </p:cNvPr>
          <p:cNvSpPr>
            <a:spLocks xmlns:a="http://schemas.openxmlformats.org/drawingml/2006/main" noGrp="1"/>
          </p:cNvSpPr>
          <p:nvPr/>
        </p:nvSpPr>
        <p:spPr>
          <a:xfrm xmlns:a="http://schemas.openxmlformats.org/drawingml/2006/main">
            <a:off x="714375" y="50006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Leverkusen y Cabo Verde</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Universidad del Istmo</a:t>
            </a:r>
          </a:p>
        </p:txBody>
      </p:sp>
    </p:spTree>
    <p:extLst>
      <p:ext uri="{BB962C8B-B14F-4D97-AF65-F5344CB8AC3E}">
        <p14:creationId xmlns:p14="http://schemas.microsoft.com/office/powerpoint/2010/main" val="866547618"/>
      </p:ext>
    </p:extLst>
  </p:cSld>
  <p:transition spd="slow" advClick="1">
    <p:fade/>
  </p:transition>
</p:sld>
</file>

<file path=ppt/slides/slide97.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Títulos de Bundesliga por club, 1964 a 2023</a:t>
            </a:r>
          </a:p>
        </p:txBody>
      </p:sp>
      <p:sp>
        <p:nvSpPr>
          <p:cNvPr id="3" name=""/>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06</a:t>
            </a:r>
          </a:p>
        </p:txBody>
      </p:sp>
      <p:sp>
        <p:nvSpPr>
          <p:cNvPr id="4" name=""/>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687780"/>
                </a:solidFill>
                <a:latin typeface="Arial"/>
                <a:ea typeface="Arial"/>
                <a:cs typeface="Arial"/>
              </a:defRPr>
            </a:pPr>
            <a:r>
              <a:rPr sz="1125">
                <a:solidFill>
                  <a:srgbClr val="687780"/>
                </a:solidFill>
                <a:latin typeface="Arial"/>
                <a:ea typeface="Arial"/>
                <a:cs typeface="Arial"/>
              </a:rPr>
              <a:t>UNIVERSIDAD DEL ISTMO</a:t>
            </a:r>
          </a:p>
        </p:txBody>
      </p:sp>
      <p:sp>
        <p:nvSpPr>
          <p:cNvPr id="5" name=""/>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687780"/>
                </a:solidFill>
                <a:latin typeface="Arial"/>
                <a:ea typeface="Arial"/>
                <a:cs typeface="Arial"/>
              </a:defRPr>
            </a:pPr>
            <a:r>
              <a:rPr sz="1125">
                <a:solidFill>
                  <a:srgbClr val="687780"/>
                </a:solidFill>
                <a:latin typeface="Arial"/>
                <a:ea typeface="Arial"/>
                <a:cs typeface="Arial"/>
              </a:rPr>
              <a:t>ANÁLISIS DE DATOS</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chart00img"/>
          <a:stretch xmlns:a="http://schemas.openxmlformats.org/drawingml/2006/main"/>
        </p:blipFill>
        <p:spPr>
          <a:xfrm xmlns:a="http://schemas.openxmlformats.org/drawingml/2006/main">
            <a:off x="2622061" y="1905000"/>
            <a:ext cx="6947876" cy="3810000"/>
          </a:xfrm>
          <a:prstGeom xmlns:a="http://schemas.openxmlformats.org/drawingml/2006/main" prst="rect">
            <a:avLst/>
          </a:prstGeom>
        </p:spPr>
      </p:pic>
      <p:sp>
        <p:nvSpPr>
          <p:cNvPr id="6" name=""/>
          <p:cNvSpPr>
            <a:spLocks xmlns:a="http://schemas.openxmlformats.org/drawingml/2006/main" noGrp="1"/>
          </p:cNvSpPr>
          <p:nvPr/>
        </p:nvSpPr>
        <p:spPr>
          <a:xfrm xmlns:a="http://schemas.openxmlformats.org/drawingml/2006/main">
            <a:off x="619125" y="58864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a:solidFill>
                  <a:srgbClr val="687780"/>
                </a:solidFill>
                <a:latin typeface="Arial"/>
                <a:ea typeface="Arial"/>
                <a:cs typeface="Arial"/>
              </a:defRPr>
            </a:pPr>
            <a:r>
              <a:rPr sz="1500">
                <a:solidFill>
                  <a:srgbClr val="687780"/>
                </a:solidFill>
                <a:latin typeface="Arial"/>
                <a:ea typeface="Arial"/>
                <a:cs typeface="Arial"/>
              </a:rPr>
              <a:t>Bayern Múnich acumula 32 de los 60 títulos. El resto se reparte entre once clubes.</a:t>
            </a:r>
          </a:p>
        </p:txBody>
      </p:sp>
    </p:spTree>
  </p:cSld>
  <p:transition spd="slow" advClick="1">
    <p:fade/>
  </p:transition>
</p:sld>
</file>

<file path=ppt/slides/slide98.xml><?xml version="1.0" encoding="utf-8"?>
<p:sld xmlns:p="http://schemas.openxmlformats.org/presentationml/2006/main">
  <p:cSld>
    <p:bg>
      <p:bgPr>
        <a:solidFill xmlns:a="http://schemas.openxmlformats.org/drawingml/2006/main">
          <a:srgbClr val="FAF7F1"/>
        </a:solidFill>
      </p:bgPr>
    </p:bg>
    <p:spTree>
      <p:nvGrpSpPr>
        <p:cNvPr id="1" name=""/>
        <p:cNvGrpSpPr/>
        <p:nvPr/>
      </p:nvGrpSpPr>
      <p:grpSpPr>
        <a:xfrm xmlns:a="http://schemas.openxmlformats.org/drawingml/2006/main"/>
      </p:grpSpPr>
      <p:sp>
        <p:nvSpPr>
          <p:cNvPr id="9" name=""/>
          <p:cNvSpPr>
            <a:spLocks xmlns:a="http://schemas.openxmlformats.org/drawingml/2006/main" noGrp="1"/>
          </p:cNvSpPr>
          <p:nvPr/>
        </p:nvSpPr>
        <p:spPr>
          <a:xfrm xmlns:a="http://schemas.openxmlformats.org/drawingml/2006/main">
            <a:off x="628650" y="24765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62835"/>
                </a:solidFill>
                <a:latin typeface="Arial"/>
                <a:ea typeface="Arial"/>
                <a:cs typeface="Arial"/>
              </a:defRPr>
            </a:pPr>
            <a:r>
              <a:rPr sz="1275" b="1">
                <a:solidFill>
                  <a:srgbClr val="B62835"/>
                </a:solidFill>
                <a:latin typeface="Arial"/>
                <a:ea typeface="Arial"/>
                <a:cs typeface="Arial"/>
              </a:rPr>
              <a:t>PARTE I  /  LEVERKUSEN</a:t>
            </a:r>
          </a:p>
        </p:txBody>
      </p:sp>
      <p:sp>
        <p:nvSpPr>
          <p:cNvPr id="2" name=""/>
          <p:cNvSpPr>
            <a:spLocks xmlns:a="http://schemas.openxmlformats.org/drawingml/2006/main" noGrp="1"/>
          </p:cNvSpPr>
          <p:nvPr/>
        </p:nvSpPr>
        <p:spPr>
          <a:xfrm xmlns:a="http://schemas.openxmlformats.org/drawingml/2006/main">
            <a:off x="609600" y="7239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242C"/>
                </a:solidFill>
                <a:latin typeface="Arial"/>
                <a:ea typeface="Arial"/>
                <a:cs typeface="Arial"/>
              </a:defRPr>
            </a:pPr>
            <a:r>
              <a:rPr sz="3300" b="1">
                <a:solidFill>
                  <a:srgbClr val="17242C"/>
                </a:solidFill>
                <a:latin typeface="Arial"/>
                <a:ea typeface="Arial"/>
                <a:cs typeface="Arial"/>
              </a:rPr>
              <a:t>Sesenta temporadas, campeón por campeón</a:t>
            </a:r>
          </a:p>
        </p:txBody>
      </p:sp>
      <p:sp>
        <p:nvSpPr>
          <p:cNvPr id="3" name=""/>
          <p:cNvSpPr>
            <a:spLocks xmlns:a="http://schemas.openxmlformats.org/drawingml/2006/main" noGrp="1"/>
          </p:cNvSpPr>
          <p:nvPr/>
        </p:nvSpPr>
        <p:spPr>
          <a:xfrm xmlns:a="http://schemas.openxmlformats.org/drawingml/2006/main">
            <a:off x="11068050" y="247650"/>
            <a:ext cx="57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62835"/>
                </a:solidFill>
                <a:latin typeface="Arial"/>
                <a:ea typeface="Arial"/>
                <a:cs typeface="Arial"/>
              </a:defRPr>
            </a:pPr>
            <a:r>
              <a:rPr sz="1875" b="1">
                <a:solidFill>
                  <a:srgbClr val="B62835"/>
                </a:solidFill>
                <a:latin typeface="Arial"/>
                <a:ea typeface="Arial"/>
                <a:cs typeface="Arial"/>
              </a:rPr>
              <a:t>07</a:t>
            </a:r>
          </a:p>
        </p:txBody>
      </p:sp>
      <p:sp>
        <p:nvSpPr>
          <p:cNvPr id="4" name=""/>
          <p:cNvSpPr>
            <a:spLocks xmlns:a="http://schemas.openxmlformats.org/drawingml/2006/main" noGrp="1"/>
          </p:cNvSpPr>
          <p:nvPr/>
        </p:nvSpPr>
        <p:spPr>
          <a:xfrm xmlns:a="http://schemas.openxmlformats.org/drawingml/2006/main">
            <a:off x="628650" y="6362700"/>
            <a:ext cx="704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687780"/>
                </a:solidFill>
                <a:latin typeface="Arial"/>
                <a:ea typeface="Arial"/>
                <a:cs typeface="Arial"/>
              </a:defRPr>
            </a:pPr>
            <a:r>
              <a:rPr sz="1125">
                <a:solidFill>
                  <a:srgbClr val="687780"/>
                </a:solidFill>
                <a:latin typeface="Arial"/>
                <a:ea typeface="Arial"/>
                <a:cs typeface="Arial"/>
              </a:rPr>
              <a:t>UNIVERSIDAD DEL ISTMO</a:t>
            </a:r>
          </a:p>
        </p:txBody>
      </p:sp>
      <p:sp>
        <p:nvSpPr>
          <p:cNvPr id="5" name=""/>
          <p:cNvSpPr>
            <a:spLocks xmlns:a="http://schemas.openxmlformats.org/drawingml/2006/main" noGrp="1"/>
          </p:cNvSpPr>
          <p:nvPr/>
        </p:nvSpPr>
        <p:spPr>
          <a:xfrm xmlns:a="http://schemas.openxmlformats.org/drawingml/2006/main">
            <a:off x="8915400" y="6362700"/>
            <a:ext cx="2724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687780"/>
                </a:solidFill>
                <a:latin typeface="Arial"/>
                <a:ea typeface="Arial"/>
                <a:cs typeface="Arial"/>
              </a:defRPr>
            </a:pPr>
            <a:r>
              <a:rPr sz="1125">
                <a:solidFill>
                  <a:srgbClr val="687780"/>
                </a:solidFill>
                <a:latin typeface="Arial"/>
                <a:ea typeface="Arial"/>
                <a:cs typeface="Arial"/>
              </a:rPr>
              <a:t>ANÁLISIS DE DATOS</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chart01img"/>
          <a:stretch xmlns:a="http://schemas.openxmlformats.org/drawingml/2006/main"/>
        </p:blipFill>
        <p:spPr>
          <a:xfrm xmlns:a="http://schemas.openxmlformats.org/drawingml/2006/main">
            <a:off x="609600" y="2031713"/>
            <a:ext cx="10972800" cy="3556572"/>
          </a:xfrm>
          <a:prstGeom xmlns:a="http://schemas.openxmlformats.org/drawingml/2006/main" prst="rect">
            <a:avLst/>
          </a:prstGeom>
        </p:spPr>
      </p:pic>
      <p:sp>
        <p:nvSpPr>
          <p:cNvPr id="6" name=""/>
          <p:cNvSpPr>
            <a:spLocks xmlns:a="http://schemas.openxmlformats.org/drawingml/2006/main" noGrp="1"/>
          </p:cNvSpPr>
          <p:nvPr/>
        </p:nvSpPr>
        <p:spPr>
          <a:xfrm xmlns:a="http://schemas.openxmlformats.org/drawingml/2006/main">
            <a:off x="619125" y="5886450"/>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a:solidFill>
                  <a:srgbClr val="687780"/>
                </a:solidFill>
                <a:latin typeface="Arial"/>
                <a:ea typeface="Arial"/>
                <a:cs typeface="Arial"/>
              </a:defRPr>
            </a:pPr>
            <a:r>
              <a:rPr sz="1500">
                <a:solidFill>
                  <a:srgbClr val="687780"/>
                </a:solidFill>
                <a:latin typeface="Arial"/>
                <a:ea typeface="Arial"/>
                <a:cs typeface="Arial"/>
              </a:rPr>
              <a:t>Rojo: Bayern Múnich. Azul: cualquier otro campeón.</a:t>
            </a:r>
          </a:p>
        </p:txBody>
      </p:sp>
    </p:spTree>
  </p:cSld>
  <p:transition spd="slow"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2026-09-14T19:30:35.4270000Z</dcterms:created>
  <dcterms:modified xsi:type="dcterms:W3CDTF">2026-09-14T19:30:35.4270000Z</dcterms:modified>
</coreProperties>
</file>